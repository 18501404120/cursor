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25"/>
  </p:handoutMasterIdLst>
  <p:sldIdLst>
    <p:sldId id="298" r:id="rId3"/>
    <p:sldId id="276" r:id="rId4"/>
    <p:sldId id="257" r:id="rId6"/>
    <p:sldId id="271" r:id="rId7"/>
    <p:sldId id="258" r:id="rId8"/>
    <p:sldId id="259" r:id="rId9"/>
    <p:sldId id="260" r:id="rId10"/>
    <p:sldId id="318" r:id="rId11"/>
    <p:sldId id="319" r:id="rId12"/>
    <p:sldId id="320" r:id="rId13"/>
    <p:sldId id="277" r:id="rId14"/>
    <p:sldId id="263" r:id="rId15"/>
    <p:sldId id="317" r:id="rId16"/>
    <p:sldId id="321" r:id="rId17"/>
    <p:sldId id="278" r:id="rId18"/>
    <p:sldId id="330" r:id="rId19"/>
    <p:sldId id="322" r:id="rId20"/>
    <p:sldId id="265" r:id="rId21"/>
    <p:sldId id="262" r:id="rId22"/>
    <p:sldId id="336" r:id="rId23"/>
    <p:sldId id="280" r:id="rId24"/>
  </p:sldIdLst>
  <p:sldSz cx="12192000" cy="6858000"/>
  <p:notesSz cx="6858000" cy="9144000"/>
  <p:embeddedFontLst>
    <p:embeddedFont>
      <p:font typeface="Montserrat" panose="00000500000000000000" charset="0"/>
      <p:regular r:id="rId29"/>
    </p:embeddedFont>
  </p:embeddedFontLst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24" userDrawn="1">
          <p15:clr>
            <a:srgbClr val="A4A3A4"/>
          </p15:clr>
        </p15:guide>
        <p15:guide id="4" pos="381" userDrawn="1">
          <p15:clr>
            <a:srgbClr val="A4A3A4"/>
          </p15:clr>
        </p15:guide>
        <p15:guide id="5" orient="horz" pos="3807" userDrawn="1">
          <p15:clr>
            <a:srgbClr val="A4A3A4"/>
          </p15:clr>
        </p15:guide>
        <p15:guide id="6" orient="horz" pos="475" userDrawn="1">
          <p15:clr>
            <a:srgbClr val="A4A3A4"/>
          </p15:clr>
        </p15:guide>
        <p15:guide id="7" orient="horz" pos="7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73B"/>
    <a:srgbClr val="53585F"/>
    <a:srgbClr val="6360E3"/>
    <a:srgbClr val="FDD656"/>
    <a:srgbClr val="EBE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852" y="744"/>
      </p:cViewPr>
      <p:guideLst>
        <p:guide orient="horz" pos="2074"/>
        <p:guide pos="3840"/>
        <p:guide pos="7224"/>
        <p:guide pos="381"/>
        <p:guide orient="horz" pos="3807"/>
        <p:guide orient="horz" pos="475"/>
        <p:guide orient="horz" pos="79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0" Type="http://schemas.openxmlformats.org/officeDocument/2006/relationships/tags" Target="tags/tag9.xml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Light" panose="00000400000000000000" charset="-122"/>
              <a:ea typeface="MiSans Light" panose="0000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Light" panose="00000400000000000000" charset="-122"/>
                <a:ea typeface="MiSans Light" panose="00000400000000000000" charset="-122"/>
              </a:rPr>
            </a:fld>
            <a:endParaRPr lang="zh-CN" altLang="en-US">
              <a:latin typeface="MiSans Light" panose="00000400000000000000" charset="-122"/>
              <a:ea typeface="MiSans Light" panose="0000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Light" panose="00000400000000000000" charset="-122"/>
              <a:ea typeface="MiSans Light" panose="0000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Light" panose="00000400000000000000" charset="-122"/>
                <a:ea typeface="MiSans Light" panose="00000400000000000000" charset="-122"/>
              </a:rPr>
            </a:fld>
            <a:endParaRPr lang="zh-CN" altLang="en-US">
              <a:latin typeface="MiSans Light" panose="00000400000000000000" charset="-122"/>
              <a:ea typeface="MiSans Light" panose="0000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Light" panose="00000400000000000000" charset="-122"/>
                <a:ea typeface="MiSans Light" panose="0000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Light" panose="00000400000000000000" charset="-122"/>
                <a:ea typeface="MiSans Light" panose="00000400000000000000" charset="-122"/>
              </a:defRPr>
            </a:lvl1pPr>
          </a:lstStyle>
          <a:p>
            <a:fld id="{F91B20D9-FD63-4120-969D-94F5D0CB4B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Light" panose="00000400000000000000" charset="-122"/>
                <a:ea typeface="MiSans Light" panose="0000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Light" panose="00000400000000000000" charset="-122"/>
                <a:ea typeface="MiSans Light" panose="00000400000000000000" charset="-122"/>
              </a:defRPr>
            </a:lvl1pPr>
          </a:lstStyle>
          <a:p>
            <a:fld id="{B15C40F7-2562-411C-B2EF-E57920FB535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C40F7-2562-411C-B2EF-E57920FB53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C40F7-2562-411C-B2EF-E57920FB53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C40F7-2562-411C-B2EF-E57920FB53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C40F7-2562-411C-B2EF-E57920FB53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C40F7-2562-411C-B2EF-E57920FB53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C40F7-2562-411C-B2EF-E57920FB53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7489-D0FF-4830-8A0E-BA62E16BDB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29DE-85F2-41AA-BD0C-5AD8F3FF76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7489-D0FF-4830-8A0E-BA62E16BDB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29DE-85F2-41AA-BD0C-5AD8F3FF76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7489-D0FF-4830-8A0E-BA62E16BDB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29DE-85F2-41AA-BD0C-5AD8F3FF76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7489-D0FF-4830-8A0E-BA62E16BDB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29DE-85F2-41AA-BD0C-5AD8F3FF76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7489-D0FF-4830-8A0E-BA62E16BDB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29DE-85F2-41AA-BD0C-5AD8F3FF76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7489-D0FF-4830-8A0E-BA62E16BDB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29DE-85F2-41AA-BD0C-5AD8F3FF76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7489-D0FF-4830-8A0E-BA62E16BDB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29DE-85F2-41AA-BD0C-5AD8F3FF76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7489-D0FF-4830-8A0E-BA62E16BDB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29DE-85F2-41AA-BD0C-5AD8F3FF76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7489-D0FF-4830-8A0E-BA62E16BDB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29DE-85F2-41AA-BD0C-5AD8F3FF76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7489-D0FF-4830-8A0E-BA62E16BDB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29DE-85F2-41AA-BD0C-5AD8F3FF76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7489-D0FF-4830-8A0E-BA62E16BDB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29DE-85F2-41AA-BD0C-5AD8F3FF76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B7489-D0FF-4830-8A0E-BA62E16BDB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529DE-85F2-41AA-BD0C-5AD8F3FF76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jpeg"/><Relationship Id="rId3" Type="http://schemas.openxmlformats.org/officeDocument/2006/relationships/tags" Target="../tags/tag2.xml"/><Relationship Id="rId2" Type="http://schemas.openxmlformats.org/officeDocument/2006/relationships/image" Target="../media/image1.jpe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1.xml"/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themeOverride" Target="../theme/themeOverride5.xml"/><Relationship Id="rId4" Type="http://schemas.openxmlformats.org/officeDocument/2006/relationships/tags" Target="../tags/tag7.xml"/><Relationship Id="rId3" Type="http://schemas.openxmlformats.org/officeDocument/2006/relationships/image" Target="../media/image3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hemeOverride" Target="../theme/themeOverride6.xml"/><Relationship Id="rId3" Type="http://schemas.openxmlformats.org/officeDocument/2006/relationships/image" Target="../media/image3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jpe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1.jpe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e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7.xml"/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.png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tags" Target="../tags/tag8.xml"/><Relationship Id="rId7" Type="http://schemas.openxmlformats.org/officeDocument/2006/relationships/image" Target="../media/image3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1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8.xml"/><Relationship Id="rId2" Type="http://schemas.openxmlformats.org/officeDocument/2006/relationships/image" Target="../media/image44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: 形状 54"/>
          <p:cNvSpPr/>
          <p:nvPr/>
        </p:nvSpPr>
        <p:spPr>
          <a:xfrm rot="1800000">
            <a:off x="2630789" y="-2279070"/>
            <a:ext cx="7531944" cy="5912827"/>
          </a:xfrm>
          <a:custGeom>
            <a:avLst/>
            <a:gdLst>
              <a:gd name="connsiteX0" fmla="*/ 0 w 7531944"/>
              <a:gd name="connsiteY0" fmla="*/ 4348570 h 5912827"/>
              <a:gd name="connsiteX1" fmla="*/ 7531944 w 7531944"/>
              <a:gd name="connsiteY1" fmla="*/ 0 h 5912827"/>
              <a:gd name="connsiteX2" fmla="*/ 7531944 w 7531944"/>
              <a:gd name="connsiteY2" fmla="*/ 4657478 h 5912827"/>
              <a:gd name="connsiteX3" fmla="*/ 6276595 w 7531944"/>
              <a:gd name="connsiteY3" fmla="*/ 5912827 h 5912827"/>
              <a:gd name="connsiteX4" fmla="*/ 1255349 w 7531944"/>
              <a:gd name="connsiteY4" fmla="*/ 5912827 h 5912827"/>
              <a:gd name="connsiteX5" fmla="*/ 0 w 7531944"/>
              <a:gd name="connsiteY5" fmla="*/ 4657478 h 5912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31944" h="5912827">
                <a:moveTo>
                  <a:pt x="0" y="4348570"/>
                </a:moveTo>
                <a:lnTo>
                  <a:pt x="7531944" y="0"/>
                </a:lnTo>
                <a:lnTo>
                  <a:pt x="7531944" y="4657478"/>
                </a:lnTo>
                <a:cubicBezTo>
                  <a:pt x="7531944" y="5350788"/>
                  <a:pt x="6969905" y="5912827"/>
                  <a:pt x="6276595" y="5912827"/>
                </a:cubicBezTo>
                <a:lnTo>
                  <a:pt x="1255349" y="5912827"/>
                </a:lnTo>
                <a:cubicBezTo>
                  <a:pt x="562039" y="5912827"/>
                  <a:pt x="0" y="5350788"/>
                  <a:pt x="0" y="4657478"/>
                </a:cubicBezTo>
                <a:close/>
              </a:path>
            </a:pathLst>
          </a:custGeom>
          <a:solidFill>
            <a:srgbClr val="EBE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任意多边形: 形状 50"/>
          <p:cNvSpPr/>
          <p:nvPr/>
        </p:nvSpPr>
        <p:spPr>
          <a:xfrm rot="20837810" flipH="1">
            <a:off x="10096034" y="5278894"/>
            <a:ext cx="2356470" cy="1772048"/>
          </a:xfrm>
          <a:custGeom>
            <a:avLst/>
            <a:gdLst>
              <a:gd name="connsiteX0" fmla="*/ 0 w 2356470"/>
              <a:gd name="connsiteY0" fmla="*/ 0 h 1772048"/>
              <a:gd name="connsiteX1" fmla="*/ 121145 w 2356470"/>
              <a:gd name="connsiteY1" fmla="*/ 27252 h 1772048"/>
              <a:gd name="connsiteX2" fmla="*/ 2276686 w 2356470"/>
              <a:gd name="connsiteY2" fmla="*/ 1199704 h 1772048"/>
              <a:gd name="connsiteX3" fmla="*/ 2356470 w 2356470"/>
              <a:gd name="connsiteY3" fmla="*/ 1330901 h 1772048"/>
              <a:gd name="connsiteX4" fmla="*/ 399451 w 2356470"/>
              <a:gd name="connsiteY4" fmla="*/ 1772048 h 177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6470" h="1772048">
                <a:moveTo>
                  <a:pt x="0" y="0"/>
                </a:moveTo>
                <a:lnTo>
                  <a:pt x="121145" y="27252"/>
                </a:lnTo>
                <a:cubicBezTo>
                  <a:pt x="914771" y="216979"/>
                  <a:pt x="1804374" y="540811"/>
                  <a:pt x="2276686" y="1199704"/>
                </a:cubicBezTo>
                <a:lnTo>
                  <a:pt x="2356470" y="1330901"/>
                </a:lnTo>
                <a:lnTo>
                  <a:pt x="399451" y="1772048"/>
                </a:ln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778607" y="753489"/>
            <a:ext cx="476865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课前作业</a:t>
            </a:r>
            <a:r>
              <a:rPr kumimoji="0" lang="en-US" altLang="zh-CN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预习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0" y="753489"/>
            <a:ext cx="1595764" cy="830997"/>
          </a:xfrm>
          <a:custGeom>
            <a:avLst/>
            <a:gdLst>
              <a:gd name="connsiteX0" fmla="*/ 0 w 1595764"/>
              <a:gd name="connsiteY0" fmla="*/ 0 h 1602174"/>
              <a:gd name="connsiteX1" fmla="*/ 1448492 w 1595764"/>
              <a:gd name="connsiteY1" fmla="*/ 0 h 1602174"/>
              <a:gd name="connsiteX2" fmla="*/ 1595764 w 1595764"/>
              <a:gd name="connsiteY2" fmla="*/ 147272 h 1602174"/>
              <a:gd name="connsiteX3" fmla="*/ 1595764 w 1595764"/>
              <a:gd name="connsiteY3" fmla="*/ 1454902 h 1602174"/>
              <a:gd name="connsiteX4" fmla="*/ 1448492 w 1595764"/>
              <a:gd name="connsiteY4" fmla="*/ 1602174 h 1602174"/>
              <a:gd name="connsiteX5" fmla="*/ 0 w 1595764"/>
              <a:gd name="connsiteY5" fmla="*/ 1602174 h 16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95764" h="1602174">
                <a:moveTo>
                  <a:pt x="0" y="0"/>
                </a:moveTo>
                <a:lnTo>
                  <a:pt x="1448492" y="0"/>
                </a:lnTo>
                <a:cubicBezTo>
                  <a:pt x="1529828" y="0"/>
                  <a:pt x="1595764" y="65936"/>
                  <a:pt x="1595764" y="147272"/>
                </a:cubicBezTo>
                <a:lnTo>
                  <a:pt x="1595764" y="1454902"/>
                </a:lnTo>
                <a:cubicBezTo>
                  <a:pt x="1595764" y="1536238"/>
                  <a:pt x="1529828" y="1602174"/>
                  <a:pt x="1448492" y="1602174"/>
                </a:cubicBezTo>
                <a:lnTo>
                  <a:pt x="0" y="1602174"/>
                </a:ln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pic>
        <p:nvPicPr>
          <p:cNvPr id="60" name="图片 59" descr="图片包含 人, 男人, 户外, 黑暗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" r="1194"/>
          <a:stretch>
            <a:fillRect/>
          </a:stretch>
        </p:blipFill>
        <p:spPr>
          <a:xfrm>
            <a:off x="1963712" y="1878094"/>
            <a:ext cx="3000270" cy="2049056"/>
          </a:xfrm>
          <a:custGeom>
            <a:avLst/>
            <a:gdLst>
              <a:gd name="connsiteX0" fmla="*/ 258529 w 3000270"/>
              <a:gd name="connsiteY0" fmla="*/ 0 h 2049056"/>
              <a:gd name="connsiteX1" fmla="*/ 2741741 w 3000270"/>
              <a:gd name="connsiteY1" fmla="*/ 0 h 2049056"/>
              <a:gd name="connsiteX2" fmla="*/ 3000270 w 3000270"/>
              <a:gd name="connsiteY2" fmla="*/ 258529 h 2049056"/>
              <a:gd name="connsiteX3" fmla="*/ 3000270 w 3000270"/>
              <a:gd name="connsiteY3" fmla="*/ 1790527 h 2049056"/>
              <a:gd name="connsiteX4" fmla="*/ 2741741 w 3000270"/>
              <a:gd name="connsiteY4" fmla="*/ 2049056 h 2049056"/>
              <a:gd name="connsiteX5" fmla="*/ 258529 w 3000270"/>
              <a:gd name="connsiteY5" fmla="*/ 2049056 h 2049056"/>
              <a:gd name="connsiteX6" fmla="*/ 0 w 3000270"/>
              <a:gd name="connsiteY6" fmla="*/ 1790527 h 2049056"/>
              <a:gd name="connsiteX7" fmla="*/ 0 w 3000270"/>
              <a:gd name="connsiteY7" fmla="*/ 258529 h 2049056"/>
              <a:gd name="connsiteX8" fmla="*/ 258529 w 3000270"/>
              <a:gd name="connsiteY8" fmla="*/ 0 h 2049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00270" h="2049056">
                <a:moveTo>
                  <a:pt x="258529" y="0"/>
                </a:moveTo>
                <a:lnTo>
                  <a:pt x="2741741" y="0"/>
                </a:lnTo>
                <a:cubicBezTo>
                  <a:pt x="2884523" y="0"/>
                  <a:pt x="3000270" y="115747"/>
                  <a:pt x="3000270" y="258529"/>
                </a:cubicBezTo>
                <a:lnTo>
                  <a:pt x="3000270" y="1790527"/>
                </a:lnTo>
                <a:cubicBezTo>
                  <a:pt x="3000270" y="1933309"/>
                  <a:pt x="2884523" y="2049056"/>
                  <a:pt x="2741741" y="2049056"/>
                </a:cubicBezTo>
                <a:lnTo>
                  <a:pt x="258529" y="2049056"/>
                </a:lnTo>
                <a:cubicBezTo>
                  <a:pt x="115747" y="2049056"/>
                  <a:pt x="0" y="1933309"/>
                  <a:pt x="0" y="1790527"/>
                </a:cubicBezTo>
                <a:lnTo>
                  <a:pt x="0" y="258529"/>
                </a:lnTo>
                <a:cubicBezTo>
                  <a:pt x="0" y="115747"/>
                  <a:pt x="115747" y="0"/>
                  <a:pt x="258529" y="0"/>
                </a:cubicBezTo>
                <a:close/>
              </a:path>
            </a:pathLst>
          </a:custGeom>
          <a:solidFill>
            <a:srgbClr val="EBECF5"/>
          </a:solidFill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</p:pic>
      <p:pic>
        <p:nvPicPr>
          <p:cNvPr id="59" name="图片 58" descr="图片包含 人, 男人, 穿着, 棒球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" r="1194"/>
          <a:stretch>
            <a:fillRect/>
          </a:stretch>
        </p:blipFill>
        <p:spPr>
          <a:xfrm>
            <a:off x="5946000" y="1878094"/>
            <a:ext cx="3000270" cy="2049056"/>
          </a:xfrm>
          <a:custGeom>
            <a:avLst/>
            <a:gdLst>
              <a:gd name="connsiteX0" fmla="*/ 258529 w 3000270"/>
              <a:gd name="connsiteY0" fmla="*/ 0 h 2049056"/>
              <a:gd name="connsiteX1" fmla="*/ 2741741 w 3000270"/>
              <a:gd name="connsiteY1" fmla="*/ 0 h 2049056"/>
              <a:gd name="connsiteX2" fmla="*/ 3000270 w 3000270"/>
              <a:gd name="connsiteY2" fmla="*/ 258529 h 2049056"/>
              <a:gd name="connsiteX3" fmla="*/ 3000270 w 3000270"/>
              <a:gd name="connsiteY3" fmla="*/ 1790527 h 2049056"/>
              <a:gd name="connsiteX4" fmla="*/ 2741741 w 3000270"/>
              <a:gd name="connsiteY4" fmla="*/ 2049056 h 2049056"/>
              <a:gd name="connsiteX5" fmla="*/ 258529 w 3000270"/>
              <a:gd name="connsiteY5" fmla="*/ 2049056 h 2049056"/>
              <a:gd name="connsiteX6" fmla="*/ 0 w 3000270"/>
              <a:gd name="connsiteY6" fmla="*/ 1790527 h 2049056"/>
              <a:gd name="connsiteX7" fmla="*/ 0 w 3000270"/>
              <a:gd name="connsiteY7" fmla="*/ 258529 h 2049056"/>
              <a:gd name="connsiteX8" fmla="*/ 258529 w 3000270"/>
              <a:gd name="connsiteY8" fmla="*/ 0 h 2049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00270" h="2049056">
                <a:moveTo>
                  <a:pt x="258529" y="0"/>
                </a:moveTo>
                <a:lnTo>
                  <a:pt x="2741741" y="0"/>
                </a:lnTo>
                <a:cubicBezTo>
                  <a:pt x="2884523" y="0"/>
                  <a:pt x="3000270" y="115747"/>
                  <a:pt x="3000270" y="258529"/>
                </a:cubicBezTo>
                <a:lnTo>
                  <a:pt x="3000270" y="1790527"/>
                </a:lnTo>
                <a:cubicBezTo>
                  <a:pt x="3000270" y="1933309"/>
                  <a:pt x="2884523" y="2049056"/>
                  <a:pt x="2741741" y="2049056"/>
                </a:cubicBezTo>
                <a:lnTo>
                  <a:pt x="258529" y="2049056"/>
                </a:lnTo>
                <a:cubicBezTo>
                  <a:pt x="115747" y="2049056"/>
                  <a:pt x="0" y="1933309"/>
                  <a:pt x="0" y="1790527"/>
                </a:cubicBezTo>
                <a:lnTo>
                  <a:pt x="0" y="258529"/>
                </a:lnTo>
                <a:cubicBezTo>
                  <a:pt x="0" y="115747"/>
                  <a:pt x="115747" y="0"/>
                  <a:pt x="258529" y="0"/>
                </a:cubicBezTo>
                <a:close/>
              </a:path>
            </a:pathLst>
          </a:custGeom>
          <a:solidFill>
            <a:srgbClr val="EBECF5"/>
          </a:solidFill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</p:pic>
      <p:grpSp>
        <p:nvGrpSpPr>
          <p:cNvPr id="6" name="组合 5"/>
          <p:cNvGrpSpPr/>
          <p:nvPr/>
        </p:nvGrpSpPr>
        <p:grpSpPr>
          <a:xfrm>
            <a:off x="1073150" y="4580255"/>
            <a:ext cx="1922780" cy="461010"/>
            <a:chOff x="2105" y="5093"/>
            <a:chExt cx="3028" cy="726"/>
          </a:xfrm>
        </p:grpSpPr>
        <p:sp>
          <p:nvSpPr>
            <p:cNvPr id="13" name="任意多边形: 形状 12"/>
            <p:cNvSpPr/>
            <p:nvPr>
              <p:custDataLst>
                <p:tags r:id="rId5"/>
              </p:custDataLst>
            </p:nvPr>
          </p:nvSpPr>
          <p:spPr>
            <a:xfrm>
              <a:off x="2105" y="5093"/>
              <a:ext cx="3029" cy="727"/>
            </a:xfrm>
            <a:custGeom>
              <a:avLst/>
              <a:gdLst>
                <a:gd name="connsiteX0" fmla="*/ 0 w 1945531"/>
                <a:gd name="connsiteY0" fmla="*/ 233463 h 466928"/>
                <a:gd name="connsiteX1" fmla="*/ 0 w 1945531"/>
                <a:gd name="connsiteY1" fmla="*/ 233464 h 466928"/>
                <a:gd name="connsiteX2" fmla="*/ 0 w 1945531"/>
                <a:gd name="connsiteY2" fmla="*/ 233464 h 466928"/>
                <a:gd name="connsiteX3" fmla="*/ 233464 w 1945531"/>
                <a:gd name="connsiteY3" fmla="*/ 0 h 466928"/>
                <a:gd name="connsiteX4" fmla="*/ 1044791 w 1945531"/>
                <a:gd name="connsiteY4" fmla="*/ 0 h 466928"/>
                <a:gd name="connsiteX5" fmla="*/ 1124269 w 1945531"/>
                <a:gd name="connsiteY5" fmla="*/ 0 h 466928"/>
                <a:gd name="connsiteX6" fmla="*/ 1945531 w 1945531"/>
                <a:gd name="connsiteY6" fmla="*/ 0 h 466928"/>
                <a:gd name="connsiteX7" fmla="*/ 1945531 w 1945531"/>
                <a:gd name="connsiteY7" fmla="*/ 233464 h 466928"/>
                <a:gd name="connsiteX8" fmla="*/ 1712067 w 1945531"/>
                <a:gd name="connsiteY8" fmla="*/ 466928 h 466928"/>
                <a:gd name="connsiteX9" fmla="*/ 1124275 w 1945531"/>
                <a:gd name="connsiteY9" fmla="*/ 466928 h 466928"/>
                <a:gd name="connsiteX10" fmla="*/ 1124268 w 1945531"/>
                <a:gd name="connsiteY10" fmla="*/ 466928 h 466928"/>
                <a:gd name="connsiteX11" fmla="*/ 233464 w 1945531"/>
                <a:gd name="connsiteY11" fmla="*/ 466927 h 466928"/>
                <a:gd name="connsiteX12" fmla="*/ 18347 w 1945531"/>
                <a:gd name="connsiteY12" fmla="*/ 324338 h 466928"/>
                <a:gd name="connsiteX13" fmla="*/ 0 w 1945531"/>
                <a:gd name="connsiteY13" fmla="*/ 233464 h 466928"/>
                <a:gd name="connsiteX14" fmla="*/ 18347 w 1945531"/>
                <a:gd name="connsiteY14" fmla="*/ 142589 h 466928"/>
                <a:gd name="connsiteX15" fmla="*/ 233464 w 1945531"/>
                <a:gd name="connsiteY15" fmla="*/ 0 h 4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45531" h="466928">
                  <a:moveTo>
                    <a:pt x="0" y="233463"/>
                  </a:moveTo>
                  <a:lnTo>
                    <a:pt x="0" y="233464"/>
                  </a:lnTo>
                  <a:lnTo>
                    <a:pt x="0" y="233464"/>
                  </a:lnTo>
                  <a:close/>
                  <a:moveTo>
                    <a:pt x="233464" y="0"/>
                  </a:moveTo>
                  <a:lnTo>
                    <a:pt x="1044791" y="0"/>
                  </a:lnTo>
                  <a:lnTo>
                    <a:pt x="1124269" y="0"/>
                  </a:lnTo>
                  <a:lnTo>
                    <a:pt x="1945531" y="0"/>
                  </a:lnTo>
                  <a:lnTo>
                    <a:pt x="1945531" y="233464"/>
                  </a:lnTo>
                  <a:cubicBezTo>
                    <a:pt x="1945531" y="362403"/>
                    <a:pt x="1841006" y="466928"/>
                    <a:pt x="1712067" y="466928"/>
                  </a:cubicBezTo>
                  <a:lnTo>
                    <a:pt x="1124275" y="466928"/>
                  </a:lnTo>
                  <a:lnTo>
                    <a:pt x="1124268" y="466928"/>
                  </a:lnTo>
                  <a:lnTo>
                    <a:pt x="233464" y="466927"/>
                  </a:lnTo>
                  <a:cubicBezTo>
                    <a:pt x="136760" y="466927"/>
                    <a:pt x="53788" y="408132"/>
                    <a:pt x="18347" y="324338"/>
                  </a:cubicBezTo>
                  <a:lnTo>
                    <a:pt x="0" y="233464"/>
                  </a:lnTo>
                  <a:lnTo>
                    <a:pt x="18347" y="142589"/>
                  </a:lnTo>
                  <a:cubicBezTo>
                    <a:pt x="53788" y="58796"/>
                    <a:pt x="136760" y="0"/>
                    <a:pt x="2334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olid"/>
            </a:ln>
            <a:effectLst>
              <a:outerShdw blurRad="330200" dist="50800" dir="5400000" algn="t" rotWithShape="0">
                <a:srgbClr val="6360E3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/>
            <p:cNvSpPr txBox="1"/>
            <p:nvPr>
              <p:custDataLst>
                <p:tags r:id="rId6"/>
              </p:custDataLst>
            </p:nvPr>
          </p:nvSpPr>
          <p:spPr>
            <a:xfrm>
              <a:off x="2243" y="5185"/>
              <a:ext cx="2891" cy="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2000" b="0" i="0" u="none" strike="noStrike">
                  <a:solidFill>
                    <a:srgbClr val="000000"/>
                  </a:solidFill>
                  <a:effectLst/>
                  <a:latin typeface="+mj-lt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b="1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什么是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GTM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岗位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？</a:t>
              </a:r>
              <a:endParaRPr lang="en-US" altLang="zh-CN" sz="16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</p:grpSp>
      <p:pic>
        <p:nvPicPr>
          <p:cNvPr id="12" name="图片 11" descr="govee_blu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5769610" y="4580890"/>
            <a:ext cx="2278380" cy="461010"/>
            <a:chOff x="8589" y="5093"/>
            <a:chExt cx="3588" cy="726"/>
          </a:xfrm>
        </p:grpSpPr>
        <p:sp>
          <p:nvSpPr>
            <p:cNvPr id="15" name="任意多边形: 形状 14"/>
            <p:cNvSpPr/>
            <p:nvPr>
              <p:custDataLst>
                <p:tags r:id="rId8"/>
              </p:custDataLst>
            </p:nvPr>
          </p:nvSpPr>
          <p:spPr>
            <a:xfrm>
              <a:off x="8589" y="5093"/>
              <a:ext cx="3029" cy="727"/>
            </a:xfrm>
            <a:custGeom>
              <a:avLst/>
              <a:gdLst>
                <a:gd name="connsiteX0" fmla="*/ 0 w 1945531"/>
                <a:gd name="connsiteY0" fmla="*/ 233463 h 466928"/>
                <a:gd name="connsiteX1" fmla="*/ 0 w 1945531"/>
                <a:gd name="connsiteY1" fmla="*/ 233464 h 466928"/>
                <a:gd name="connsiteX2" fmla="*/ 0 w 1945531"/>
                <a:gd name="connsiteY2" fmla="*/ 233464 h 466928"/>
                <a:gd name="connsiteX3" fmla="*/ 233464 w 1945531"/>
                <a:gd name="connsiteY3" fmla="*/ 0 h 466928"/>
                <a:gd name="connsiteX4" fmla="*/ 1044791 w 1945531"/>
                <a:gd name="connsiteY4" fmla="*/ 0 h 466928"/>
                <a:gd name="connsiteX5" fmla="*/ 1124269 w 1945531"/>
                <a:gd name="connsiteY5" fmla="*/ 0 h 466928"/>
                <a:gd name="connsiteX6" fmla="*/ 1945531 w 1945531"/>
                <a:gd name="connsiteY6" fmla="*/ 0 h 466928"/>
                <a:gd name="connsiteX7" fmla="*/ 1945531 w 1945531"/>
                <a:gd name="connsiteY7" fmla="*/ 233464 h 466928"/>
                <a:gd name="connsiteX8" fmla="*/ 1712067 w 1945531"/>
                <a:gd name="connsiteY8" fmla="*/ 466928 h 466928"/>
                <a:gd name="connsiteX9" fmla="*/ 1124275 w 1945531"/>
                <a:gd name="connsiteY9" fmla="*/ 466928 h 466928"/>
                <a:gd name="connsiteX10" fmla="*/ 1124268 w 1945531"/>
                <a:gd name="connsiteY10" fmla="*/ 466928 h 466928"/>
                <a:gd name="connsiteX11" fmla="*/ 233464 w 1945531"/>
                <a:gd name="connsiteY11" fmla="*/ 466927 h 466928"/>
                <a:gd name="connsiteX12" fmla="*/ 18347 w 1945531"/>
                <a:gd name="connsiteY12" fmla="*/ 324338 h 466928"/>
                <a:gd name="connsiteX13" fmla="*/ 0 w 1945531"/>
                <a:gd name="connsiteY13" fmla="*/ 233464 h 466928"/>
                <a:gd name="connsiteX14" fmla="*/ 18347 w 1945531"/>
                <a:gd name="connsiteY14" fmla="*/ 142589 h 466928"/>
                <a:gd name="connsiteX15" fmla="*/ 233464 w 1945531"/>
                <a:gd name="connsiteY15" fmla="*/ 0 h 4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45531" h="466928">
                  <a:moveTo>
                    <a:pt x="0" y="233463"/>
                  </a:moveTo>
                  <a:lnTo>
                    <a:pt x="0" y="233464"/>
                  </a:lnTo>
                  <a:lnTo>
                    <a:pt x="0" y="233464"/>
                  </a:lnTo>
                  <a:close/>
                  <a:moveTo>
                    <a:pt x="233464" y="0"/>
                  </a:moveTo>
                  <a:lnTo>
                    <a:pt x="1044791" y="0"/>
                  </a:lnTo>
                  <a:lnTo>
                    <a:pt x="1124269" y="0"/>
                  </a:lnTo>
                  <a:lnTo>
                    <a:pt x="1945531" y="0"/>
                  </a:lnTo>
                  <a:lnTo>
                    <a:pt x="1945531" y="233464"/>
                  </a:lnTo>
                  <a:cubicBezTo>
                    <a:pt x="1945531" y="362403"/>
                    <a:pt x="1841006" y="466928"/>
                    <a:pt x="1712067" y="466928"/>
                  </a:cubicBezTo>
                  <a:lnTo>
                    <a:pt x="1124275" y="466928"/>
                  </a:lnTo>
                  <a:lnTo>
                    <a:pt x="1124268" y="466928"/>
                  </a:lnTo>
                  <a:lnTo>
                    <a:pt x="233464" y="466927"/>
                  </a:lnTo>
                  <a:cubicBezTo>
                    <a:pt x="136760" y="466927"/>
                    <a:pt x="53788" y="408132"/>
                    <a:pt x="18347" y="324338"/>
                  </a:cubicBezTo>
                  <a:lnTo>
                    <a:pt x="0" y="233464"/>
                  </a:lnTo>
                  <a:lnTo>
                    <a:pt x="18347" y="142589"/>
                  </a:lnTo>
                  <a:cubicBezTo>
                    <a:pt x="53788" y="58796"/>
                    <a:pt x="136760" y="0"/>
                    <a:pt x="2334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olid"/>
            </a:ln>
            <a:effectLst>
              <a:outerShdw blurRad="330200" dist="50800" dir="5400000" algn="t" rotWithShape="0">
                <a:srgbClr val="6360E3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" name="文本框 1"/>
            <p:cNvSpPr txBox="1"/>
            <p:nvPr>
              <p:custDataLst>
                <p:tags r:id="rId9"/>
              </p:custDataLst>
            </p:nvPr>
          </p:nvSpPr>
          <p:spPr>
            <a:xfrm>
              <a:off x="8701" y="5185"/>
              <a:ext cx="3477" cy="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2000" b="0" i="0" u="none" strike="noStrike">
                  <a:solidFill>
                    <a:srgbClr val="000000"/>
                  </a:solidFill>
                  <a:effectLst/>
                  <a:latin typeface="+mj-lt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b="1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什么是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GTM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流程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？</a:t>
              </a:r>
              <a:endParaRPr lang="en-US" altLang="zh-CN" sz="16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>
          <a:xfrm rot="7342752">
            <a:off x="7576820" y="-200660"/>
            <a:ext cx="5457190" cy="5692775"/>
          </a:xfrm>
          <a:custGeom>
            <a:avLst/>
            <a:gdLst>
              <a:gd name="connsiteX0" fmla="*/ 0 w 6393983"/>
              <a:gd name="connsiteY0" fmla="*/ 2342623 h 6361846"/>
              <a:gd name="connsiteX1" fmla="*/ 3694347 w 6393983"/>
              <a:gd name="connsiteY1" fmla="*/ 0 h 6361846"/>
              <a:gd name="connsiteX2" fmla="*/ 4168430 w 6393983"/>
              <a:gd name="connsiteY2" fmla="*/ 114134 h 6361846"/>
              <a:gd name="connsiteX3" fmla="*/ 6393983 w 6393983"/>
              <a:gd name="connsiteY3" fmla="*/ 2312824 h 6361846"/>
              <a:gd name="connsiteX4" fmla="*/ 3186549 w 6393983"/>
              <a:gd name="connsiteY4" fmla="*/ 5520258 h 6361846"/>
              <a:gd name="connsiteX5" fmla="*/ 16784 w 6393983"/>
              <a:gd name="connsiteY5" fmla="*/ 2356470 h 6361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3983" h="6361846">
                <a:moveTo>
                  <a:pt x="0" y="2342623"/>
                </a:moveTo>
                <a:lnTo>
                  <a:pt x="3694347" y="0"/>
                </a:lnTo>
                <a:lnTo>
                  <a:pt x="4168430" y="114134"/>
                </a:lnTo>
                <a:cubicBezTo>
                  <a:pt x="5246587" y="410146"/>
                  <a:pt x="6393983" y="984261"/>
                  <a:pt x="6393983" y="2312824"/>
                </a:cubicBezTo>
                <a:cubicBezTo>
                  <a:pt x="6393983" y="4084241"/>
                  <a:pt x="4508912" y="8101679"/>
                  <a:pt x="3186549" y="5520258"/>
                </a:cubicBezTo>
                <a:cubicBezTo>
                  <a:pt x="2360072" y="3906870"/>
                  <a:pt x="919965" y="3082957"/>
                  <a:pt x="16784" y="2356470"/>
                </a:cubicBezTo>
                <a:close/>
              </a:path>
            </a:pathLst>
          </a:custGeom>
          <a:solidFill>
            <a:srgbClr val="6360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20115" y="1873885"/>
            <a:ext cx="541020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zh-CN" sz="6000" b="0" i="0" u="none" strike="noStrike" dirty="0">
                <a:solidFill>
                  <a:srgbClr val="000000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2025</a:t>
            </a:r>
            <a:r>
              <a:rPr lang="zh-CN" altLang="en-US" sz="6000" b="0" i="0" u="none" strike="noStrike" dirty="0">
                <a:solidFill>
                  <a:srgbClr val="000000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起航营</a:t>
            </a:r>
            <a:endParaRPr lang="zh-CN" altLang="en-US" sz="6000" b="0" i="0" u="none" strike="noStrike" dirty="0">
              <a:solidFill>
                <a:srgbClr val="000000"/>
              </a:solidFill>
              <a:effectLst/>
              <a:latin typeface="微软雅黑" charset="0"/>
              <a:ea typeface="微软雅黑" charset="0"/>
              <a:cs typeface="微软雅黑" charset="0"/>
            </a:endParaRPr>
          </a:p>
          <a:p>
            <a:pPr fontAlgn="ctr"/>
            <a:r>
              <a:rPr lang="en-US" altLang="zh-CN" sz="8000" b="0" i="0" u="none" strike="noStrike" dirty="0">
                <a:solidFill>
                  <a:srgbClr val="6360E3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lang="zh-CN" altLang="en-US" sz="8000" b="0" i="0" u="none" strike="noStrike" dirty="0">
                <a:solidFill>
                  <a:srgbClr val="6360E3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课程</a:t>
            </a:r>
            <a:endParaRPr lang="zh-CN" altLang="en-US" sz="8000" b="0" i="0" u="none" strike="noStrike" dirty="0">
              <a:solidFill>
                <a:srgbClr val="6360E3"/>
              </a:solidFill>
              <a:effectLst/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0115" y="1335405"/>
            <a:ext cx="63773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zh-CN" altLang="en-US" sz="2400" b="1" i="0" u="none" strike="noStrike" spc="600" dirty="0">
                <a:solidFill>
                  <a:srgbClr val="FDD656"/>
                </a:solidFill>
                <a:effectLst/>
                <a:latin typeface="微软雅黑" charset="0"/>
                <a:ea typeface="微软雅黑" charset="0"/>
                <a:cs typeface="微软雅黑" panose="020B0503020204020204" pitchFamily="34" charset="-122"/>
              </a:rPr>
              <a:t>亚马逊运营培养系列课程</a:t>
            </a:r>
            <a:endParaRPr lang="zh-CN" altLang="en-US" sz="2400" b="1" i="0" u="none" strike="noStrike" spc="600" dirty="0">
              <a:solidFill>
                <a:srgbClr val="FDD656"/>
              </a:solidFill>
              <a:effectLst/>
              <a:latin typeface="微软雅黑" charset="0"/>
              <a:ea typeface="微软雅黑" charset="0"/>
              <a:cs typeface="微软雅黑" panose="020B0503020204020204" pitchFamily="34" charset="-122"/>
            </a:endParaRPr>
          </a:p>
        </p:txBody>
      </p:sp>
      <p:pic>
        <p:nvPicPr>
          <p:cNvPr id="10" name="VCG21127293694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88710" y="1701800"/>
            <a:ext cx="5721350" cy="3339465"/>
          </a:xfrm>
          <a:prstGeom prst="rect">
            <a:avLst/>
          </a:prstGeom>
          <a:effectLst/>
        </p:spPr>
      </p:pic>
      <p:sp>
        <p:nvSpPr>
          <p:cNvPr id="28" name="任意多边形: 形状 27"/>
          <p:cNvSpPr/>
          <p:nvPr/>
        </p:nvSpPr>
        <p:spPr>
          <a:xfrm rot="762190">
            <a:off x="-223677" y="5278894"/>
            <a:ext cx="2356470" cy="1772048"/>
          </a:xfrm>
          <a:custGeom>
            <a:avLst/>
            <a:gdLst>
              <a:gd name="connsiteX0" fmla="*/ 0 w 2356470"/>
              <a:gd name="connsiteY0" fmla="*/ 0 h 1772048"/>
              <a:gd name="connsiteX1" fmla="*/ 121145 w 2356470"/>
              <a:gd name="connsiteY1" fmla="*/ 27252 h 1772048"/>
              <a:gd name="connsiteX2" fmla="*/ 2276686 w 2356470"/>
              <a:gd name="connsiteY2" fmla="*/ 1199704 h 1772048"/>
              <a:gd name="connsiteX3" fmla="*/ 2356470 w 2356470"/>
              <a:gd name="connsiteY3" fmla="*/ 1330901 h 1772048"/>
              <a:gd name="connsiteX4" fmla="*/ 399451 w 2356470"/>
              <a:gd name="connsiteY4" fmla="*/ 1772048 h 177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6470" h="1772048">
                <a:moveTo>
                  <a:pt x="0" y="0"/>
                </a:moveTo>
                <a:lnTo>
                  <a:pt x="121145" y="27252"/>
                </a:lnTo>
                <a:cubicBezTo>
                  <a:pt x="914771" y="216979"/>
                  <a:pt x="1804374" y="540811"/>
                  <a:pt x="2276686" y="1199704"/>
                </a:cubicBezTo>
                <a:lnTo>
                  <a:pt x="2356470" y="1330901"/>
                </a:lnTo>
                <a:lnTo>
                  <a:pt x="399451" y="1772048"/>
                </a:ln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/>
        </p:nvSpPr>
        <p:spPr>
          <a:xfrm>
            <a:off x="949190" y="5063669"/>
            <a:ext cx="1945523" cy="466926"/>
          </a:xfrm>
          <a:custGeom>
            <a:avLst/>
            <a:gdLst>
              <a:gd name="connsiteX0" fmla="*/ 0 w 1945531"/>
              <a:gd name="connsiteY0" fmla="*/ 233463 h 466928"/>
              <a:gd name="connsiteX1" fmla="*/ 0 w 1945531"/>
              <a:gd name="connsiteY1" fmla="*/ 233464 h 466928"/>
              <a:gd name="connsiteX2" fmla="*/ 0 w 1945531"/>
              <a:gd name="connsiteY2" fmla="*/ 233464 h 466928"/>
              <a:gd name="connsiteX3" fmla="*/ 233464 w 1945531"/>
              <a:gd name="connsiteY3" fmla="*/ 0 h 466928"/>
              <a:gd name="connsiteX4" fmla="*/ 1044791 w 1945531"/>
              <a:gd name="connsiteY4" fmla="*/ 0 h 466928"/>
              <a:gd name="connsiteX5" fmla="*/ 1124269 w 1945531"/>
              <a:gd name="connsiteY5" fmla="*/ 0 h 466928"/>
              <a:gd name="connsiteX6" fmla="*/ 1945531 w 1945531"/>
              <a:gd name="connsiteY6" fmla="*/ 0 h 466928"/>
              <a:gd name="connsiteX7" fmla="*/ 1945531 w 1945531"/>
              <a:gd name="connsiteY7" fmla="*/ 233464 h 466928"/>
              <a:gd name="connsiteX8" fmla="*/ 1712067 w 1945531"/>
              <a:gd name="connsiteY8" fmla="*/ 466928 h 466928"/>
              <a:gd name="connsiteX9" fmla="*/ 1124275 w 1945531"/>
              <a:gd name="connsiteY9" fmla="*/ 466928 h 466928"/>
              <a:gd name="connsiteX10" fmla="*/ 1124268 w 1945531"/>
              <a:gd name="connsiteY10" fmla="*/ 466928 h 466928"/>
              <a:gd name="connsiteX11" fmla="*/ 233464 w 1945531"/>
              <a:gd name="connsiteY11" fmla="*/ 466927 h 466928"/>
              <a:gd name="connsiteX12" fmla="*/ 18347 w 1945531"/>
              <a:gd name="connsiteY12" fmla="*/ 324338 h 466928"/>
              <a:gd name="connsiteX13" fmla="*/ 0 w 1945531"/>
              <a:gd name="connsiteY13" fmla="*/ 233464 h 466928"/>
              <a:gd name="connsiteX14" fmla="*/ 18347 w 1945531"/>
              <a:gd name="connsiteY14" fmla="*/ 142589 h 466928"/>
              <a:gd name="connsiteX15" fmla="*/ 233464 w 1945531"/>
              <a:gd name="connsiteY15" fmla="*/ 0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45531" h="466928">
                <a:moveTo>
                  <a:pt x="0" y="233463"/>
                </a:moveTo>
                <a:lnTo>
                  <a:pt x="0" y="233464"/>
                </a:lnTo>
                <a:lnTo>
                  <a:pt x="0" y="233464"/>
                </a:lnTo>
                <a:close/>
                <a:moveTo>
                  <a:pt x="233464" y="0"/>
                </a:moveTo>
                <a:lnTo>
                  <a:pt x="1044791" y="0"/>
                </a:lnTo>
                <a:lnTo>
                  <a:pt x="1124269" y="0"/>
                </a:lnTo>
                <a:lnTo>
                  <a:pt x="1945531" y="0"/>
                </a:lnTo>
                <a:lnTo>
                  <a:pt x="1945531" y="233464"/>
                </a:lnTo>
                <a:cubicBezTo>
                  <a:pt x="1945531" y="362403"/>
                  <a:pt x="1841006" y="466928"/>
                  <a:pt x="1712067" y="466928"/>
                </a:cubicBezTo>
                <a:lnTo>
                  <a:pt x="1124275" y="466928"/>
                </a:lnTo>
                <a:lnTo>
                  <a:pt x="1124268" y="466928"/>
                </a:lnTo>
                <a:lnTo>
                  <a:pt x="233464" y="466927"/>
                </a:lnTo>
                <a:cubicBezTo>
                  <a:pt x="136760" y="466927"/>
                  <a:pt x="53788" y="408132"/>
                  <a:pt x="18347" y="324338"/>
                </a:cubicBezTo>
                <a:lnTo>
                  <a:pt x="0" y="233464"/>
                </a:lnTo>
                <a:lnTo>
                  <a:pt x="18347" y="142589"/>
                </a:lnTo>
                <a:cubicBezTo>
                  <a:pt x="53788" y="58796"/>
                  <a:pt x="136760" y="0"/>
                  <a:pt x="233464" y="0"/>
                </a:cubicBezTo>
                <a:close/>
              </a:path>
            </a:pathLst>
          </a:custGeom>
          <a:solidFill>
            <a:srgbClr val="6360E3"/>
          </a:solidFill>
          <a:ln>
            <a:noFill/>
            <a:prstDash val="solid"/>
          </a:ln>
          <a:effectLst>
            <a:outerShdw blurRad="330200" dist="50800" dir="5400000" algn="t" rotWithShape="0">
              <a:srgbClr val="6360E3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116965" y="5115560"/>
            <a:ext cx="194627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2000" b="0" i="0" u="none" strike="noStrike">
                <a:solidFill>
                  <a:srgbClr val="000000"/>
                </a:solidFill>
                <a:effectLst/>
                <a:latin typeface="+mj-lt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讲师：</a:t>
            </a:r>
            <a:r>
              <a:rPr lang="zh-CN" altLang="en-US" sz="18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陈智渊</a:t>
            </a:r>
            <a:endParaRPr lang="zh-CN" altLang="en-US" sz="180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6" name="任意多边形: 形状 35"/>
          <p:cNvSpPr/>
          <p:nvPr/>
        </p:nvSpPr>
        <p:spPr>
          <a:xfrm rot="7762083">
            <a:off x="3134989" y="-1472905"/>
            <a:ext cx="2546473" cy="3007072"/>
          </a:xfrm>
          <a:custGeom>
            <a:avLst/>
            <a:gdLst>
              <a:gd name="connsiteX0" fmla="*/ 2467229 w 2546473"/>
              <a:gd name="connsiteY0" fmla="*/ 3007072 h 3007072"/>
              <a:gd name="connsiteX1" fmla="*/ 0 w 2546473"/>
              <a:gd name="connsiteY1" fmla="*/ 0 h 3007072"/>
              <a:gd name="connsiteX2" fmla="*/ 53528 w 2546473"/>
              <a:gd name="connsiteY2" fmla="*/ 12041 h 3007072"/>
              <a:gd name="connsiteX3" fmla="*/ 2546473 w 2546473"/>
              <a:gd name="connsiteY3" fmla="*/ 2279216 h 3007072"/>
              <a:gd name="connsiteX4" fmla="*/ 2498786 w 2546473"/>
              <a:gd name="connsiteY4" fmla="*/ 2829360 h 300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6473" h="3007072">
                <a:moveTo>
                  <a:pt x="2467229" y="3007072"/>
                </a:moveTo>
                <a:lnTo>
                  <a:pt x="0" y="0"/>
                </a:lnTo>
                <a:lnTo>
                  <a:pt x="53528" y="12041"/>
                </a:lnTo>
                <a:cubicBezTo>
                  <a:pt x="1199877" y="286091"/>
                  <a:pt x="2546473" y="839939"/>
                  <a:pt x="2546473" y="2279216"/>
                </a:cubicBezTo>
                <a:cubicBezTo>
                  <a:pt x="2546473" y="2445286"/>
                  <a:pt x="2529905" y="2631097"/>
                  <a:pt x="2498786" y="2829360"/>
                </a:cubicBezTo>
                <a:close/>
              </a:path>
            </a:pathLst>
          </a:custGeom>
          <a:solidFill>
            <a:srgbClr val="FDA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任意多边形: 形状 45"/>
          <p:cNvSpPr/>
          <p:nvPr/>
        </p:nvSpPr>
        <p:spPr>
          <a:xfrm>
            <a:off x="10138839" y="5609017"/>
            <a:ext cx="119674" cy="114397"/>
          </a:xfrm>
          <a:custGeom>
            <a:avLst/>
            <a:gdLst>
              <a:gd name="connsiteX0" fmla="*/ 59837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7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7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7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7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7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48" name="任意多边形: 形状 47"/>
          <p:cNvSpPr/>
          <p:nvPr/>
        </p:nvSpPr>
        <p:spPr>
          <a:xfrm>
            <a:off x="9976886" y="5609017"/>
            <a:ext cx="119674" cy="114397"/>
          </a:xfrm>
          <a:custGeom>
            <a:avLst/>
            <a:gdLst>
              <a:gd name="connsiteX0" fmla="*/ 59838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8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8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8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8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8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50" name="任意多边形: 形状 49"/>
          <p:cNvSpPr/>
          <p:nvPr/>
        </p:nvSpPr>
        <p:spPr>
          <a:xfrm>
            <a:off x="10300791" y="5609017"/>
            <a:ext cx="119674" cy="114397"/>
          </a:xfrm>
          <a:custGeom>
            <a:avLst/>
            <a:gdLst>
              <a:gd name="connsiteX0" fmla="*/ 59837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7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7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7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7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7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52" name="任意多边形: 形状 51"/>
          <p:cNvSpPr/>
          <p:nvPr/>
        </p:nvSpPr>
        <p:spPr>
          <a:xfrm>
            <a:off x="10462744" y="5609017"/>
            <a:ext cx="119674" cy="114397"/>
          </a:xfrm>
          <a:custGeom>
            <a:avLst/>
            <a:gdLst>
              <a:gd name="connsiteX0" fmla="*/ 59838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8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8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8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8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8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54" name="任意多边形: 形状 53"/>
          <p:cNvSpPr/>
          <p:nvPr/>
        </p:nvSpPr>
        <p:spPr>
          <a:xfrm>
            <a:off x="10624696" y="5609017"/>
            <a:ext cx="119674" cy="114397"/>
          </a:xfrm>
          <a:custGeom>
            <a:avLst/>
            <a:gdLst>
              <a:gd name="connsiteX0" fmla="*/ 59838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8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8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8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8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8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pic>
        <p:nvPicPr>
          <p:cNvPr id="3" name="图片 2" descr="govee_b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7505"/>
            <a:ext cx="1800225" cy="11995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任意多边形: 形状 79"/>
          <p:cNvSpPr/>
          <p:nvPr/>
        </p:nvSpPr>
        <p:spPr>
          <a:xfrm rot="12019411">
            <a:off x="8050084" y="-615150"/>
            <a:ext cx="4589130" cy="2080844"/>
          </a:xfrm>
          <a:custGeom>
            <a:avLst/>
            <a:gdLst>
              <a:gd name="connsiteX0" fmla="*/ 4589130 w 4589130"/>
              <a:gd name="connsiteY0" fmla="*/ 644071 h 2080844"/>
              <a:gd name="connsiteX1" fmla="*/ 709924 w 4589130"/>
              <a:gd name="connsiteY1" fmla="*/ 2080844 h 2080844"/>
              <a:gd name="connsiteX2" fmla="*/ 0 w 4589130"/>
              <a:gd name="connsiteY2" fmla="*/ 164088 h 2080844"/>
              <a:gd name="connsiteX3" fmla="*/ 104369 w 4589130"/>
              <a:gd name="connsiteY3" fmla="*/ 134103 h 2080844"/>
              <a:gd name="connsiteX4" fmla="*/ 2724217 w 4589130"/>
              <a:gd name="connsiteY4" fmla="*/ 115788 h 2080844"/>
              <a:gd name="connsiteX5" fmla="*/ 4536823 w 4589130"/>
              <a:gd name="connsiteY5" fmla="*/ 618337 h 2080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89130" h="2080844">
                <a:moveTo>
                  <a:pt x="4589130" y="644071"/>
                </a:moveTo>
                <a:lnTo>
                  <a:pt x="709924" y="2080844"/>
                </a:lnTo>
                <a:lnTo>
                  <a:pt x="0" y="164088"/>
                </a:lnTo>
                <a:lnTo>
                  <a:pt x="104369" y="134103"/>
                </a:lnTo>
                <a:cubicBezTo>
                  <a:pt x="968008" y="-74620"/>
                  <a:pt x="2051606" y="-6865"/>
                  <a:pt x="2724217" y="115788"/>
                </a:cubicBezTo>
                <a:cubicBezTo>
                  <a:pt x="3247360" y="211184"/>
                  <a:pt x="3932060" y="347183"/>
                  <a:pt x="4536823" y="618337"/>
                </a:cubicBez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35000" y="1104808"/>
            <a:ext cx="6797876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zh-CN" sz="8000" b="0" i="0" u="none" strike="noStrike" dirty="0">
                <a:solidFill>
                  <a:srgbClr val="6360E3"/>
                </a:solidFill>
                <a:effectLst/>
                <a:latin typeface="微软雅黑" charset="0"/>
                <a:ea typeface="微软雅黑" charset="0"/>
              </a:rPr>
              <a:t>CONTENTS</a:t>
            </a:r>
            <a:endParaRPr lang="en-US" altLang="zh-CN" sz="8000" b="0" i="0" u="none" strike="noStrike" dirty="0">
              <a:solidFill>
                <a:srgbClr val="6360E3"/>
              </a:solidFill>
              <a:effectLst/>
              <a:latin typeface="微软雅黑" charset="0"/>
              <a:ea typeface="微软雅黑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2082846" y="2663537"/>
            <a:ext cx="4768654" cy="1602174"/>
          </a:xfrm>
          <a:prstGeom prst="roundRect">
            <a:avLst>
              <a:gd name="adj" fmla="val 919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64646" y="3106762"/>
            <a:ext cx="173713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kumimoji="0" lang="zh-CN" altLang="en-US" sz="2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介绍</a:t>
            </a:r>
            <a:endParaRPr kumimoji="0" lang="zh-CN" altLang="en-US" sz="2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222274" y="2931437"/>
            <a:ext cx="739036" cy="739036"/>
          </a:xfrm>
          <a:prstGeom prst="ellipse">
            <a:avLst/>
          </a:prstGeom>
          <a:solidFill>
            <a:srgbClr val="FDD656"/>
          </a:solidFill>
          <a:ln>
            <a:noFill/>
          </a:ln>
          <a:effectLst>
            <a:outerShdw blurRad="50800" dist="50800" dir="2700000" algn="tl" rotWithShape="0">
              <a:srgbClr val="FDD656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328533" y="3093978"/>
            <a:ext cx="632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charset="0"/>
                <a:ea typeface="微软雅黑" charset="0"/>
              </a:rPr>
              <a:t>01.</a:t>
            </a:r>
            <a:endParaRPr lang="en-US" altLang="zh-CN" sz="2000" dirty="0">
              <a:latin typeface="微软雅黑" charset="0"/>
              <a:ea typeface="微软雅黑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6896575" y="2629501"/>
            <a:ext cx="4768654" cy="1602174"/>
          </a:xfrm>
          <a:prstGeom prst="roundRect">
            <a:avLst>
              <a:gd name="adj" fmla="val 919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288655" y="3093720"/>
            <a:ext cx="19875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kumimoji="0" lang="zh-CN" altLang="en-US" sz="2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核心职能</a:t>
            </a:r>
            <a:endParaRPr kumimoji="0" lang="zh-CN" altLang="en-US" sz="2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7270159" y="2942867"/>
            <a:ext cx="739036" cy="739036"/>
          </a:xfrm>
          <a:prstGeom prst="ellipse">
            <a:avLst/>
          </a:prstGeom>
          <a:solidFill>
            <a:srgbClr val="FDA73B"/>
          </a:solidFill>
          <a:ln>
            <a:noFill/>
          </a:ln>
          <a:effectLst>
            <a:outerShdw blurRad="50800" dist="76200" dir="2700000" algn="tl" rotWithShape="0">
              <a:srgbClr val="FDA73B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376418" y="3105408"/>
            <a:ext cx="632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charset="0"/>
                <a:ea typeface="微软雅黑" charset="0"/>
              </a:rPr>
              <a:t>02.</a:t>
            </a:r>
            <a:endParaRPr lang="en-US" altLang="zh-CN" sz="2000" dirty="0">
              <a:latin typeface="微软雅黑" charset="0"/>
              <a:ea typeface="微软雅黑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3711284" y="4466965"/>
            <a:ext cx="4768654" cy="1602174"/>
          </a:xfrm>
          <a:prstGeom prst="roundRect">
            <a:avLst>
              <a:gd name="adj" fmla="val 919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103440" y="4825481"/>
            <a:ext cx="316094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kumimoji="0" lang="zh-CN" altLang="en-US" sz="2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流程</a:t>
            </a:r>
            <a:endParaRPr kumimoji="0" lang="zh-CN" altLang="en-US" sz="2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4084868" y="4732512"/>
            <a:ext cx="739036" cy="739036"/>
          </a:xfrm>
          <a:prstGeom prst="ellipse">
            <a:avLst/>
          </a:prstGeom>
          <a:solidFill>
            <a:srgbClr val="FDA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191127" y="4895053"/>
            <a:ext cx="632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charset="0"/>
                <a:ea typeface="微软雅黑" charset="0"/>
              </a:rPr>
              <a:t>03.</a:t>
            </a:r>
            <a:endParaRPr lang="en-US" altLang="zh-CN" sz="2000" dirty="0">
              <a:latin typeface="微软雅黑" charset="0"/>
              <a:ea typeface="微软雅黑" charset="0"/>
            </a:endParaRPr>
          </a:p>
        </p:txBody>
      </p:sp>
      <p:sp>
        <p:nvSpPr>
          <p:cNvPr id="74" name="任意多边形: 形状 73"/>
          <p:cNvSpPr/>
          <p:nvPr/>
        </p:nvSpPr>
        <p:spPr>
          <a:xfrm>
            <a:off x="10745040" y="4427821"/>
            <a:ext cx="1446960" cy="1602174"/>
          </a:xfrm>
          <a:custGeom>
            <a:avLst/>
            <a:gdLst>
              <a:gd name="connsiteX0" fmla="*/ 147272 w 1446960"/>
              <a:gd name="connsiteY0" fmla="*/ 0 h 1602174"/>
              <a:gd name="connsiteX1" fmla="*/ 1446960 w 1446960"/>
              <a:gd name="connsiteY1" fmla="*/ 0 h 1602174"/>
              <a:gd name="connsiteX2" fmla="*/ 1446960 w 1446960"/>
              <a:gd name="connsiteY2" fmla="*/ 1602174 h 1602174"/>
              <a:gd name="connsiteX3" fmla="*/ 147272 w 1446960"/>
              <a:gd name="connsiteY3" fmla="*/ 1602174 h 1602174"/>
              <a:gd name="connsiteX4" fmla="*/ 0 w 1446960"/>
              <a:gd name="connsiteY4" fmla="*/ 1454902 h 1602174"/>
              <a:gd name="connsiteX5" fmla="*/ 0 w 1446960"/>
              <a:gd name="connsiteY5" fmla="*/ 147272 h 1602174"/>
              <a:gd name="connsiteX6" fmla="*/ 147272 w 1446960"/>
              <a:gd name="connsiteY6" fmla="*/ 0 h 16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6960" h="1602174">
                <a:moveTo>
                  <a:pt x="147272" y="0"/>
                </a:moveTo>
                <a:lnTo>
                  <a:pt x="1446960" y="0"/>
                </a:lnTo>
                <a:lnTo>
                  <a:pt x="1446960" y="1602174"/>
                </a:lnTo>
                <a:lnTo>
                  <a:pt x="147272" y="1602174"/>
                </a:lnTo>
                <a:cubicBezTo>
                  <a:pt x="65936" y="1602174"/>
                  <a:pt x="0" y="1536238"/>
                  <a:pt x="0" y="1454902"/>
                </a:cubicBezTo>
                <a:lnTo>
                  <a:pt x="0" y="147272"/>
                </a:lnTo>
                <a:cubicBezTo>
                  <a:pt x="0" y="65936"/>
                  <a:pt x="65936" y="0"/>
                  <a:pt x="147272" y="0"/>
                </a:cubicBezTo>
                <a:close/>
              </a:path>
            </a:pathLst>
          </a:custGeom>
          <a:solidFill>
            <a:srgbClr val="FDA73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76" name="任意多边形: 形状 75"/>
          <p:cNvSpPr/>
          <p:nvPr/>
        </p:nvSpPr>
        <p:spPr>
          <a:xfrm>
            <a:off x="0" y="2629501"/>
            <a:ext cx="1595764" cy="1602174"/>
          </a:xfrm>
          <a:custGeom>
            <a:avLst/>
            <a:gdLst>
              <a:gd name="connsiteX0" fmla="*/ 0 w 1595764"/>
              <a:gd name="connsiteY0" fmla="*/ 0 h 1602174"/>
              <a:gd name="connsiteX1" fmla="*/ 1448492 w 1595764"/>
              <a:gd name="connsiteY1" fmla="*/ 0 h 1602174"/>
              <a:gd name="connsiteX2" fmla="*/ 1595764 w 1595764"/>
              <a:gd name="connsiteY2" fmla="*/ 147272 h 1602174"/>
              <a:gd name="connsiteX3" fmla="*/ 1595764 w 1595764"/>
              <a:gd name="connsiteY3" fmla="*/ 1454902 h 1602174"/>
              <a:gd name="connsiteX4" fmla="*/ 1448492 w 1595764"/>
              <a:gd name="connsiteY4" fmla="*/ 1602174 h 1602174"/>
              <a:gd name="connsiteX5" fmla="*/ 0 w 1595764"/>
              <a:gd name="connsiteY5" fmla="*/ 1602174 h 16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95764" h="1602174">
                <a:moveTo>
                  <a:pt x="0" y="0"/>
                </a:moveTo>
                <a:lnTo>
                  <a:pt x="1448492" y="0"/>
                </a:lnTo>
                <a:cubicBezTo>
                  <a:pt x="1529828" y="0"/>
                  <a:pt x="1595764" y="65936"/>
                  <a:pt x="1595764" y="147272"/>
                </a:cubicBezTo>
                <a:lnTo>
                  <a:pt x="1595764" y="1454902"/>
                </a:lnTo>
                <a:cubicBezTo>
                  <a:pt x="1595764" y="1536238"/>
                  <a:pt x="1529828" y="1602174"/>
                  <a:pt x="1448492" y="1602174"/>
                </a:cubicBezTo>
                <a:lnTo>
                  <a:pt x="0" y="1602174"/>
                </a:ln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pic>
        <p:nvPicPr>
          <p:cNvPr id="12" name="图片 11" descr="govee_bl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76169" y="3428876"/>
            <a:ext cx="3023971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171450" indent="-1714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什么是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GTM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全生命周期管理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全渠道拓展战略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03394" y="5149726"/>
            <a:ext cx="3023971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171450" indent="-1714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意义和价值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GTM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流程交付件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171450" indent="-1714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GTM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流程泳道图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64424" y="3428876"/>
            <a:ext cx="3023971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171450" indent="-1714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团队介绍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171450" indent="-1714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责权边界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171450" indent="-1714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日常工作对接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>
          <a:xfrm rot="7342752">
            <a:off x="6765925" y="-424180"/>
            <a:ext cx="6145530" cy="6362065"/>
          </a:xfrm>
          <a:custGeom>
            <a:avLst/>
            <a:gdLst>
              <a:gd name="connsiteX0" fmla="*/ 0 w 6393983"/>
              <a:gd name="connsiteY0" fmla="*/ 2342623 h 6361846"/>
              <a:gd name="connsiteX1" fmla="*/ 3694347 w 6393983"/>
              <a:gd name="connsiteY1" fmla="*/ 0 h 6361846"/>
              <a:gd name="connsiteX2" fmla="*/ 4168430 w 6393983"/>
              <a:gd name="connsiteY2" fmla="*/ 114134 h 6361846"/>
              <a:gd name="connsiteX3" fmla="*/ 6393983 w 6393983"/>
              <a:gd name="connsiteY3" fmla="*/ 2312824 h 6361846"/>
              <a:gd name="connsiteX4" fmla="*/ 3186549 w 6393983"/>
              <a:gd name="connsiteY4" fmla="*/ 5520258 h 6361846"/>
              <a:gd name="connsiteX5" fmla="*/ 16784 w 6393983"/>
              <a:gd name="connsiteY5" fmla="*/ 2356470 h 6361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3983" h="6361846">
                <a:moveTo>
                  <a:pt x="0" y="2342623"/>
                </a:moveTo>
                <a:lnTo>
                  <a:pt x="3694347" y="0"/>
                </a:lnTo>
                <a:lnTo>
                  <a:pt x="4168430" y="114134"/>
                </a:lnTo>
                <a:cubicBezTo>
                  <a:pt x="5246587" y="410146"/>
                  <a:pt x="6393983" y="984261"/>
                  <a:pt x="6393983" y="2312824"/>
                </a:cubicBezTo>
                <a:cubicBezTo>
                  <a:pt x="6393983" y="4084241"/>
                  <a:pt x="4508912" y="8101679"/>
                  <a:pt x="3186549" y="5520258"/>
                </a:cubicBezTo>
                <a:cubicBezTo>
                  <a:pt x="2360072" y="3906870"/>
                  <a:pt x="919965" y="3082957"/>
                  <a:pt x="16784" y="2356470"/>
                </a:cubicBezTo>
                <a:close/>
              </a:path>
            </a:pathLst>
          </a:custGeom>
          <a:solidFill>
            <a:srgbClr val="6360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/>
        </p:nvSpPr>
        <p:spPr>
          <a:xfrm rot="762190">
            <a:off x="-223677" y="5278894"/>
            <a:ext cx="2356470" cy="1772048"/>
          </a:xfrm>
          <a:custGeom>
            <a:avLst/>
            <a:gdLst>
              <a:gd name="connsiteX0" fmla="*/ 0 w 2356470"/>
              <a:gd name="connsiteY0" fmla="*/ 0 h 1772048"/>
              <a:gd name="connsiteX1" fmla="*/ 121145 w 2356470"/>
              <a:gd name="connsiteY1" fmla="*/ 27252 h 1772048"/>
              <a:gd name="connsiteX2" fmla="*/ 2276686 w 2356470"/>
              <a:gd name="connsiteY2" fmla="*/ 1199704 h 1772048"/>
              <a:gd name="connsiteX3" fmla="*/ 2356470 w 2356470"/>
              <a:gd name="connsiteY3" fmla="*/ 1330901 h 1772048"/>
              <a:gd name="connsiteX4" fmla="*/ 399451 w 2356470"/>
              <a:gd name="connsiteY4" fmla="*/ 1772048 h 177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6470" h="1772048">
                <a:moveTo>
                  <a:pt x="0" y="0"/>
                </a:moveTo>
                <a:lnTo>
                  <a:pt x="121145" y="27252"/>
                </a:lnTo>
                <a:cubicBezTo>
                  <a:pt x="914771" y="216979"/>
                  <a:pt x="1804374" y="540811"/>
                  <a:pt x="2276686" y="1199704"/>
                </a:cubicBezTo>
                <a:lnTo>
                  <a:pt x="2356470" y="1330901"/>
                </a:lnTo>
                <a:lnTo>
                  <a:pt x="399451" y="1772048"/>
                </a:ln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: 形状 35"/>
          <p:cNvSpPr/>
          <p:nvPr/>
        </p:nvSpPr>
        <p:spPr>
          <a:xfrm rot="7762083">
            <a:off x="3134989" y="-1472905"/>
            <a:ext cx="2546473" cy="3007072"/>
          </a:xfrm>
          <a:custGeom>
            <a:avLst/>
            <a:gdLst>
              <a:gd name="connsiteX0" fmla="*/ 2467229 w 2546473"/>
              <a:gd name="connsiteY0" fmla="*/ 3007072 h 3007072"/>
              <a:gd name="connsiteX1" fmla="*/ 0 w 2546473"/>
              <a:gd name="connsiteY1" fmla="*/ 0 h 3007072"/>
              <a:gd name="connsiteX2" fmla="*/ 53528 w 2546473"/>
              <a:gd name="connsiteY2" fmla="*/ 12041 h 3007072"/>
              <a:gd name="connsiteX3" fmla="*/ 2546473 w 2546473"/>
              <a:gd name="connsiteY3" fmla="*/ 2279216 h 3007072"/>
              <a:gd name="connsiteX4" fmla="*/ 2498786 w 2546473"/>
              <a:gd name="connsiteY4" fmla="*/ 2829360 h 300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6473" h="3007072">
                <a:moveTo>
                  <a:pt x="2467229" y="3007072"/>
                </a:moveTo>
                <a:lnTo>
                  <a:pt x="0" y="0"/>
                </a:lnTo>
                <a:lnTo>
                  <a:pt x="53528" y="12041"/>
                </a:lnTo>
                <a:cubicBezTo>
                  <a:pt x="1199877" y="286091"/>
                  <a:pt x="2546473" y="839939"/>
                  <a:pt x="2546473" y="2279216"/>
                </a:cubicBezTo>
                <a:cubicBezTo>
                  <a:pt x="2546473" y="2445286"/>
                  <a:pt x="2529905" y="2631097"/>
                  <a:pt x="2498786" y="2829360"/>
                </a:cubicBezTo>
                <a:close/>
              </a:path>
            </a:pathLst>
          </a:custGeom>
          <a:solidFill>
            <a:srgbClr val="FDA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95350" y="1478915"/>
            <a:ext cx="71018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01. GTM</a:t>
            </a:r>
            <a:r>
              <a:rPr lang="zh-CN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介绍</a:t>
            </a:r>
            <a:endParaRPr lang="zh-CN" altLang="en-US" sz="6000" dirty="0">
              <a:solidFill>
                <a:schemeClr val="tx1">
                  <a:lumMod val="65000"/>
                  <a:lumOff val="3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07235" y="5345430"/>
            <a:ext cx="6196330" cy="128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>
              <a:lnSpc>
                <a:spcPct val="130000"/>
              </a:lnSpc>
            </a:pPr>
            <a:r>
              <a:rPr lang="en-US" altLang="zh-CN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lang="zh-CN" altLang="en-US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的设立</a:t>
            </a:r>
            <a:r>
              <a:rPr lang="en-US" altLang="zh-CN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主要目的是</a:t>
            </a:r>
            <a:r>
              <a:rPr lang="zh-CN" altLang="en-US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希望通过专业化角色将碎片化的资源、分散的决策权、割裂的部门目标整合为统一的</a:t>
            </a:r>
            <a:r>
              <a:rPr lang="en-US" altLang="zh-CN" b="1" i="0" u="none" strike="noStrike" dirty="0">
                <a:solidFill>
                  <a:schemeClr val="accent2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“</a:t>
            </a:r>
            <a:r>
              <a:rPr lang="zh-CN" altLang="en-US" b="1" i="0" u="none" strike="noStrike" dirty="0">
                <a:solidFill>
                  <a:schemeClr val="accent2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市场进入引擎</a:t>
            </a:r>
            <a:r>
              <a:rPr lang="en-US" altLang="zh-CN" b="1" i="0" u="none" strike="noStrike" dirty="0">
                <a:solidFill>
                  <a:schemeClr val="accent2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”</a:t>
            </a:r>
            <a:endParaRPr lang="en-US" altLang="zh-CN" sz="1400" b="0" i="0" u="none" strike="noStrike" dirty="0">
              <a:solidFill>
                <a:schemeClr val="tx1"/>
              </a:solidFill>
              <a:effectLst/>
              <a:latin typeface="微软雅黑" charset="0"/>
              <a:ea typeface="微软雅黑" charset="0"/>
              <a:cs typeface="微软雅黑" charset="0"/>
            </a:endParaRPr>
          </a:p>
          <a:p>
            <a:pPr fontAlgn="ctr">
              <a:lnSpc>
                <a:spcPct val="130000"/>
              </a:lnSpc>
            </a:pPr>
            <a:r>
              <a:rPr lang="zh-CN" altLang="en-US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尤其在竞争激烈、产品生命周期缩短的当下，</a:t>
            </a:r>
            <a:r>
              <a:rPr lang="en-US" altLang="zh-CN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lang="zh-CN" altLang="en-US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岗位能显著提升新品成功率，降低隐性成本，是企业从</a:t>
            </a:r>
            <a:r>
              <a:rPr lang="en-US" altLang="zh-CN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“</a:t>
            </a:r>
            <a:r>
              <a:rPr lang="zh-CN" altLang="en-US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粗放经营</a:t>
            </a:r>
            <a:r>
              <a:rPr lang="en-US" altLang="zh-CN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”</a:t>
            </a:r>
            <a:r>
              <a:rPr lang="zh-CN" altLang="en-US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转向</a:t>
            </a:r>
            <a:r>
              <a:rPr lang="en-US" altLang="zh-CN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“</a:t>
            </a:r>
            <a:r>
              <a:rPr lang="zh-CN" altLang="en-US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精细化运营</a:t>
            </a:r>
            <a:r>
              <a:rPr lang="en-US" altLang="zh-CN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”</a:t>
            </a:r>
            <a:r>
              <a:rPr lang="zh-CN" altLang="en-US" sz="1400" b="0" i="0" u="none" strike="noStrike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的关键一步</a:t>
            </a:r>
            <a:endParaRPr lang="zh-CN" altLang="en-US" sz="1400" b="0" i="0" u="none" strike="noStrike" dirty="0">
              <a:solidFill>
                <a:schemeClr val="tx1"/>
              </a:solidFill>
              <a:effectLst/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2" name="图片 11" descr="govee_bl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57505"/>
            <a:ext cx="1800225" cy="11995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62305" y="2639695"/>
            <a:ext cx="571563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GTM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岗位</a:t>
            </a:r>
            <a:r>
              <a:rPr lang="en-US"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顾名思义</a:t>
            </a:r>
            <a:r>
              <a:rPr lang="en-US"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是“Go To Market”的缩写</a:t>
            </a:r>
            <a:r>
              <a:rPr lang="en-US"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最早在手机产品公司里大放异彩</a:t>
            </a:r>
            <a:r>
              <a:rPr lang="en-US"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目前已被引入不同行业大量公司</a:t>
            </a:r>
            <a:r>
              <a:rPr lang="en-US"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其中包括快消产品</a:t>
            </a:r>
            <a:r>
              <a:rPr lang="en-US"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、3C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数码产品</a:t>
            </a:r>
            <a:r>
              <a:rPr lang="en-US"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、IOT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产品</a:t>
            </a:r>
            <a:r>
              <a:rPr lang="en-US"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新能源车企等</a:t>
            </a:r>
            <a:r>
              <a:rPr lang="en-US"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。</a:t>
            </a:r>
            <a:endParaRPr lang="en-US" altLang="zh-CN" sz="140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670" y="3979545"/>
            <a:ext cx="598932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400" b="0" i="0">
                <a:solidFill>
                  <a:schemeClr val="tx1"/>
                </a:solidFill>
                <a:latin typeface="微软雅黑" charset="0"/>
                <a:ea typeface="微软雅黑" charset="0"/>
              </a:rPr>
              <a:t>GTM</a:t>
            </a:r>
            <a:r>
              <a:rPr lang="zh-CN" altLang="en-US" sz="1400" b="0" i="0">
                <a:solidFill>
                  <a:schemeClr val="tx1"/>
                </a:solidFill>
                <a:latin typeface="微软雅黑" charset="0"/>
                <a:ea typeface="微软雅黑" charset="0"/>
              </a:rPr>
              <a:t>负责从产品机会点出现到产品退市灭亡的</a:t>
            </a:r>
            <a:r>
              <a:rPr lang="zh-CN" altLang="en-US" b="1" i="0">
                <a:solidFill>
                  <a:schemeClr val="accent2"/>
                </a:solidFill>
                <a:latin typeface="微软雅黑" charset="0"/>
                <a:ea typeface="微软雅黑" charset="0"/>
              </a:rPr>
              <a:t>全生命周期管理</a:t>
            </a:r>
            <a:r>
              <a:rPr lang="zh-CN" altLang="en-US" sz="1400" b="0" i="0">
                <a:solidFill>
                  <a:schemeClr val="tx1"/>
                </a:solidFill>
                <a:latin typeface="微软雅黑" charset="0"/>
                <a:ea typeface="微软雅黑" charset="0"/>
              </a:rPr>
              <a:t>，通过统筹协调</a:t>
            </a:r>
            <a:r>
              <a:rPr lang="zh-CN" altLang="en-US" b="1" i="0">
                <a:solidFill>
                  <a:schemeClr val="accent2"/>
                </a:solidFill>
                <a:latin typeface="微软雅黑" charset="0"/>
                <a:ea typeface="微软雅黑" charset="0"/>
              </a:rPr>
              <a:t>跨部门资源</a:t>
            </a:r>
            <a:r>
              <a:rPr lang="zh-CN" altLang="en-US" sz="1400" b="0" i="0">
                <a:solidFill>
                  <a:schemeClr val="tx1"/>
                </a:solidFill>
                <a:latin typeface="微软雅黑" charset="0"/>
                <a:ea typeface="微软雅黑" charset="0"/>
              </a:rPr>
              <a:t>，确保产品在目标市场中有效触达客户并实现</a:t>
            </a:r>
            <a:r>
              <a:rPr lang="zh-CN" altLang="en-US" b="1" i="0">
                <a:solidFill>
                  <a:schemeClr val="accent2"/>
                </a:solidFill>
                <a:latin typeface="微软雅黑" charset="0"/>
                <a:ea typeface="微软雅黑" charset="0"/>
              </a:rPr>
              <a:t>商业成功</a:t>
            </a:r>
            <a:r>
              <a:rPr lang="en-US" altLang="zh-CN" b="1" i="0">
                <a:solidFill>
                  <a:schemeClr val="accent2"/>
                </a:solidFill>
                <a:latin typeface="微软雅黑" charset="0"/>
                <a:ea typeface="微软雅黑" charset="0"/>
              </a:rPr>
              <a:t>（</a:t>
            </a:r>
            <a:r>
              <a:rPr lang="zh-CN" altLang="en-US" b="1" i="0">
                <a:solidFill>
                  <a:schemeClr val="accent2"/>
                </a:solidFill>
                <a:latin typeface="微软雅黑" charset="0"/>
                <a:ea typeface="微软雅黑" charset="0"/>
              </a:rPr>
              <a:t>销量</a:t>
            </a:r>
            <a:r>
              <a:rPr lang="en-US" altLang="zh-CN" b="1" i="0">
                <a:solidFill>
                  <a:schemeClr val="accent2"/>
                </a:solidFill>
                <a:latin typeface="微软雅黑" charset="0"/>
                <a:ea typeface="微软雅黑" charset="0"/>
              </a:rPr>
              <a:t>/</a:t>
            </a:r>
            <a:r>
              <a:rPr lang="zh-CN" altLang="en-US" b="1" i="0">
                <a:solidFill>
                  <a:schemeClr val="accent2"/>
                </a:solidFill>
                <a:latin typeface="微软雅黑" charset="0"/>
                <a:ea typeface="微软雅黑" charset="0"/>
              </a:rPr>
              <a:t>额</a:t>
            </a:r>
            <a:r>
              <a:rPr lang="en-US" altLang="zh-CN" b="1" i="0">
                <a:solidFill>
                  <a:schemeClr val="accent2"/>
                </a:solidFill>
                <a:latin typeface="微软雅黑" charset="0"/>
                <a:ea typeface="微软雅黑" charset="0"/>
              </a:rPr>
              <a:t>、</a:t>
            </a:r>
            <a:r>
              <a:rPr lang="zh-CN" altLang="en-US" b="1" i="0">
                <a:solidFill>
                  <a:schemeClr val="accent2"/>
                </a:solidFill>
                <a:latin typeface="微软雅黑" charset="0"/>
                <a:ea typeface="微软雅黑" charset="0"/>
              </a:rPr>
              <a:t>利润</a:t>
            </a:r>
            <a:r>
              <a:rPr lang="en-US" altLang="zh-CN" b="1" i="0">
                <a:solidFill>
                  <a:schemeClr val="accent2"/>
                </a:solidFill>
                <a:latin typeface="微软雅黑" charset="0"/>
                <a:ea typeface="微软雅黑" charset="0"/>
              </a:rPr>
              <a:t>、</a:t>
            </a:r>
            <a:r>
              <a:rPr lang="zh-CN" altLang="en-US" b="1" i="0">
                <a:solidFill>
                  <a:schemeClr val="accent2"/>
                </a:solidFill>
                <a:latin typeface="微软雅黑" charset="0"/>
                <a:ea typeface="微软雅黑" charset="0"/>
              </a:rPr>
              <a:t>市占率</a:t>
            </a:r>
            <a:r>
              <a:rPr lang="en-US" altLang="zh-CN" b="1" i="0">
                <a:solidFill>
                  <a:schemeClr val="accent2"/>
                </a:solidFill>
                <a:latin typeface="微软雅黑" charset="0"/>
                <a:ea typeface="微软雅黑" charset="0"/>
              </a:rPr>
              <a:t>）</a:t>
            </a:r>
            <a:endParaRPr lang="en-US" altLang="zh-CN" sz="1400" b="1" i="0">
              <a:solidFill>
                <a:schemeClr val="accent2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任意多边形: 形状 64"/>
          <p:cNvSpPr/>
          <p:nvPr/>
        </p:nvSpPr>
        <p:spPr>
          <a:xfrm rot="7762083">
            <a:off x="435491" y="-1035365"/>
            <a:ext cx="1788606" cy="2112124"/>
          </a:xfrm>
          <a:custGeom>
            <a:avLst/>
            <a:gdLst>
              <a:gd name="connsiteX0" fmla="*/ 2467229 w 2546473"/>
              <a:gd name="connsiteY0" fmla="*/ 3007072 h 3007072"/>
              <a:gd name="connsiteX1" fmla="*/ 0 w 2546473"/>
              <a:gd name="connsiteY1" fmla="*/ 0 h 3007072"/>
              <a:gd name="connsiteX2" fmla="*/ 53528 w 2546473"/>
              <a:gd name="connsiteY2" fmla="*/ 12041 h 3007072"/>
              <a:gd name="connsiteX3" fmla="*/ 2546473 w 2546473"/>
              <a:gd name="connsiteY3" fmla="*/ 2279216 h 3007072"/>
              <a:gd name="connsiteX4" fmla="*/ 2498786 w 2546473"/>
              <a:gd name="connsiteY4" fmla="*/ 2829360 h 300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6473" h="3007072">
                <a:moveTo>
                  <a:pt x="2467229" y="3007072"/>
                </a:moveTo>
                <a:lnTo>
                  <a:pt x="0" y="0"/>
                </a:lnTo>
                <a:lnTo>
                  <a:pt x="53528" y="12041"/>
                </a:lnTo>
                <a:cubicBezTo>
                  <a:pt x="1199877" y="286091"/>
                  <a:pt x="2546473" y="839939"/>
                  <a:pt x="2546473" y="2279216"/>
                </a:cubicBezTo>
                <a:cubicBezTo>
                  <a:pt x="2546473" y="2445286"/>
                  <a:pt x="2529905" y="2631097"/>
                  <a:pt x="2498786" y="2829360"/>
                </a:cubicBezTo>
                <a:close/>
              </a:path>
            </a:pathLst>
          </a:custGeom>
          <a:solidFill>
            <a:srgbClr val="FDA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6" name="矩形: 圆角 65"/>
          <p:cNvSpPr/>
          <p:nvPr/>
        </p:nvSpPr>
        <p:spPr>
          <a:xfrm>
            <a:off x="667199" y="1640883"/>
            <a:ext cx="5327650" cy="4451942"/>
          </a:xfrm>
          <a:prstGeom prst="roundRect">
            <a:avLst>
              <a:gd name="adj" fmla="val 366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6572250" y="2154684"/>
            <a:ext cx="5103813" cy="3935614"/>
          </a:xfrm>
          <a:prstGeom prst="roundRect">
            <a:avLst>
              <a:gd name="adj" fmla="val 919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776720" y="1024890"/>
            <a:ext cx="463169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设置</a:t>
            </a:r>
            <a:r>
              <a:rPr kumimoji="0" lang="en-US" altLang="zh-CN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必要性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15035" y="2542540"/>
            <a:ext cx="4631055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indent="0">
              <a:buClr>
                <a:schemeClr val="accent2"/>
              </a:buClr>
              <a:buFont typeface="MiSans Light" panose="00000400000000000000" charset="-12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1、</a:t>
            </a:r>
            <a:r>
              <a:rPr lang="zh-CN" altLang="en-US" sz="1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应对复杂市场环境的挑战</a:t>
            </a:r>
            <a:endParaRPr lang="zh-CN" altLang="en-US" sz="1800" b="1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0">
              <a:buClr>
                <a:schemeClr val="accent2"/>
              </a:buClr>
              <a:buFont typeface="MiSans Light" panose="00000400000000000000" charset="-122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智能硬件行业竞争激烈，产品生命周期短且涉及多环节协作（如硬件开发周期通常需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8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个月以上）。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岗位通过专业化分工，解决传统模式下研发与市场脱节的问题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en-US" altLang="zh-CN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0">
              <a:buClr>
                <a:schemeClr val="accent2"/>
              </a:buClr>
              <a:buFont typeface="MiSans Light" panose="00000400000000000000" charset="-122"/>
              <a:buNone/>
            </a:pPr>
            <a:endParaRPr lang="en-US" altLang="zh-CN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4616914" y="1069939"/>
            <a:ext cx="1595191" cy="1280376"/>
            <a:chOff x="3712887" y="4015263"/>
            <a:chExt cx="2592167" cy="2080597"/>
          </a:xfrm>
        </p:grpSpPr>
        <p:sp>
          <p:nvSpPr>
            <p:cNvPr id="33" name="任意多边形: 形状 32"/>
            <p:cNvSpPr/>
            <p:nvPr/>
          </p:nvSpPr>
          <p:spPr>
            <a:xfrm>
              <a:off x="4032828" y="4451360"/>
              <a:ext cx="2272226" cy="1644500"/>
            </a:xfrm>
            <a:custGeom>
              <a:avLst/>
              <a:gdLst>
                <a:gd name="connsiteX0" fmla="*/ 2026511 w 2272226"/>
                <a:gd name="connsiteY0" fmla="*/ 1644501 h 1644500"/>
                <a:gd name="connsiteX1" fmla="*/ 245715 w 2272226"/>
                <a:gd name="connsiteY1" fmla="*/ 1644501 h 1644500"/>
                <a:gd name="connsiteX2" fmla="*/ 0 w 2272226"/>
                <a:gd name="connsiteY2" fmla="*/ 1398785 h 1644500"/>
                <a:gd name="connsiteX3" fmla="*/ 0 w 2272226"/>
                <a:gd name="connsiteY3" fmla="*/ 245715 h 1644500"/>
                <a:gd name="connsiteX4" fmla="*/ 245715 w 2272226"/>
                <a:gd name="connsiteY4" fmla="*/ 0 h 1644500"/>
                <a:gd name="connsiteX5" fmla="*/ 2026511 w 2272226"/>
                <a:gd name="connsiteY5" fmla="*/ 0 h 1644500"/>
                <a:gd name="connsiteX6" fmla="*/ 2272226 w 2272226"/>
                <a:gd name="connsiteY6" fmla="*/ 245715 h 1644500"/>
                <a:gd name="connsiteX7" fmla="*/ 2272226 w 2272226"/>
                <a:gd name="connsiteY7" fmla="*/ 1398785 h 1644500"/>
                <a:gd name="connsiteX8" fmla="*/ 2026511 w 2272226"/>
                <a:gd name="connsiteY8" fmla="*/ 1644501 h 16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2226" h="1644500">
                  <a:moveTo>
                    <a:pt x="2026511" y="1644501"/>
                  </a:moveTo>
                  <a:lnTo>
                    <a:pt x="245715" y="1644501"/>
                  </a:lnTo>
                  <a:cubicBezTo>
                    <a:pt x="110060" y="1644501"/>
                    <a:pt x="0" y="1534441"/>
                    <a:pt x="0" y="1398785"/>
                  </a:cubicBezTo>
                  <a:lnTo>
                    <a:pt x="0" y="245715"/>
                  </a:lnTo>
                  <a:cubicBezTo>
                    <a:pt x="0" y="110060"/>
                    <a:pt x="110060" y="0"/>
                    <a:pt x="245715" y="0"/>
                  </a:cubicBezTo>
                  <a:lnTo>
                    <a:pt x="2026511" y="0"/>
                  </a:lnTo>
                  <a:cubicBezTo>
                    <a:pt x="2162166" y="0"/>
                    <a:pt x="2272226" y="110060"/>
                    <a:pt x="2272226" y="245715"/>
                  </a:cubicBezTo>
                  <a:lnTo>
                    <a:pt x="2272226" y="1398785"/>
                  </a:lnTo>
                  <a:cubicBezTo>
                    <a:pt x="2272226" y="1534441"/>
                    <a:pt x="2162166" y="1644501"/>
                    <a:pt x="2026511" y="1644501"/>
                  </a:cubicBezTo>
                  <a:close/>
                </a:path>
              </a:pathLst>
            </a:custGeom>
            <a:solidFill>
              <a:srgbClr val="E0DBE6"/>
            </a:solidFill>
            <a:ln w="6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3712887" y="4015263"/>
              <a:ext cx="2476988" cy="1938846"/>
            </a:xfrm>
            <a:custGeom>
              <a:avLst/>
              <a:gdLst>
                <a:gd name="connsiteX0" fmla="*/ 2231274 w 2476988"/>
                <a:gd name="connsiteY0" fmla="*/ 1938847 h 1938846"/>
                <a:gd name="connsiteX1" fmla="*/ 245715 w 2476988"/>
                <a:gd name="connsiteY1" fmla="*/ 1938847 h 1938846"/>
                <a:gd name="connsiteX2" fmla="*/ 0 w 2476988"/>
                <a:gd name="connsiteY2" fmla="*/ 1693132 h 1938846"/>
                <a:gd name="connsiteX3" fmla="*/ 0 w 2476988"/>
                <a:gd name="connsiteY3" fmla="*/ 245715 h 1938846"/>
                <a:gd name="connsiteX4" fmla="*/ 245715 w 2476988"/>
                <a:gd name="connsiteY4" fmla="*/ 0 h 1938846"/>
                <a:gd name="connsiteX5" fmla="*/ 2231274 w 2476988"/>
                <a:gd name="connsiteY5" fmla="*/ 0 h 1938846"/>
                <a:gd name="connsiteX6" fmla="*/ 2476989 w 2476988"/>
                <a:gd name="connsiteY6" fmla="*/ 245715 h 1938846"/>
                <a:gd name="connsiteX7" fmla="*/ 2476989 w 2476988"/>
                <a:gd name="connsiteY7" fmla="*/ 1693132 h 1938846"/>
                <a:gd name="connsiteX8" fmla="*/ 2231274 w 2476988"/>
                <a:gd name="connsiteY8" fmla="*/ 1938847 h 193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76988" h="1938846">
                  <a:moveTo>
                    <a:pt x="2231274" y="1938847"/>
                  </a:moveTo>
                  <a:lnTo>
                    <a:pt x="245715" y="1938847"/>
                  </a:lnTo>
                  <a:cubicBezTo>
                    <a:pt x="110060" y="1938847"/>
                    <a:pt x="0" y="1828787"/>
                    <a:pt x="0" y="1693132"/>
                  </a:cubicBezTo>
                  <a:lnTo>
                    <a:pt x="0" y="245715"/>
                  </a:lnTo>
                  <a:cubicBezTo>
                    <a:pt x="0" y="110060"/>
                    <a:pt x="110060" y="0"/>
                    <a:pt x="245715" y="0"/>
                  </a:cubicBezTo>
                  <a:lnTo>
                    <a:pt x="2231274" y="0"/>
                  </a:lnTo>
                  <a:cubicBezTo>
                    <a:pt x="2366929" y="0"/>
                    <a:pt x="2476989" y="110060"/>
                    <a:pt x="2476989" y="245715"/>
                  </a:cubicBezTo>
                  <a:lnTo>
                    <a:pt x="2476989" y="1693132"/>
                  </a:lnTo>
                  <a:cubicBezTo>
                    <a:pt x="2476989" y="1828787"/>
                    <a:pt x="2366929" y="1938847"/>
                    <a:pt x="2231274" y="1938847"/>
                  </a:cubicBezTo>
                  <a:close/>
                </a:path>
              </a:pathLst>
            </a:custGeom>
            <a:solidFill>
              <a:srgbClr val="F6F8FB"/>
            </a:solidFill>
            <a:ln w="6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4685509" y="4370398"/>
              <a:ext cx="991819" cy="95982"/>
            </a:xfrm>
            <a:custGeom>
              <a:avLst/>
              <a:gdLst>
                <a:gd name="connsiteX0" fmla="*/ 943828 w 991819"/>
                <a:gd name="connsiteY0" fmla="*/ 95983 h 95982"/>
                <a:gd name="connsiteX1" fmla="*/ 47991 w 991819"/>
                <a:gd name="connsiteY1" fmla="*/ 95983 h 95982"/>
                <a:gd name="connsiteX2" fmla="*/ 0 w 991819"/>
                <a:gd name="connsiteY2" fmla="*/ 47991 h 95982"/>
                <a:gd name="connsiteX3" fmla="*/ 47991 w 991819"/>
                <a:gd name="connsiteY3" fmla="*/ 0 h 95982"/>
                <a:gd name="connsiteX4" fmla="*/ 943828 w 991819"/>
                <a:gd name="connsiteY4" fmla="*/ 0 h 95982"/>
                <a:gd name="connsiteX5" fmla="*/ 991819 w 991819"/>
                <a:gd name="connsiteY5" fmla="*/ 47991 h 95982"/>
                <a:gd name="connsiteX6" fmla="*/ 943828 w 991819"/>
                <a:gd name="connsiteY6" fmla="*/ 95983 h 9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1819" h="95982">
                  <a:moveTo>
                    <a:pt x="943828" y="95983"/>
                  </a:moveTo>
                  <a:lnTo>
                    <a:pt x="47991" y="95983"/>
                  </a:lnTo>
                  <a:cubicBezTo>
                    <a:pt x="21756" y="95983"/>
                    <a:pt x="0" y="74226"/>
                    <a:pt x="0" y="47991"/>
                  </a:cubicBezTo>
                  <a:cubicBezTo>
                    <a:pt x="0" y="21756"/>
                    <a:pt x="21756" y="0"/>
                    <a:pt x="47991" y="0"/>
                  </a:cubicBezTo>
                  <a:lnTo>
                    <a:pt x="943828" y="0"/>
                  </a:lnTo>
                  <a:cubicBezTo>
                    <a:pt x="970063" y="0"/>
                    <a:pt x="991819" y="21756"/>
                    <a:pt x="991819" y="47991"/>
                  </a:cubicBezTo>
                  <a:cubicBezTo>
                    <a:pt x="991819" y="74226"/>
                    <a:pt x="970703" y="95983"/>
                    <a:pt x="943828" y="95983"/>
                  </a:cubicBezTo>
                  <a:close/>
                </a:path>
              </a:pathLst>
            </a:custGeom>
            <a:solidFill>
              <a:srgbClr val="D7D1DF"/>
            </a:solidFill>
            <a:ln w="6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4685509" y="4571321"/>
              <a:ext cx="364733" cy="95982"/>
            </a:xfrm>
            <a:custGeom>
              <a:avLst/>
              <a:gdLst>
                <a:gd name="connsiteX0" fmla="*/ 316742 w 364733"/>
                <a:gd name="connsiteY0" fmla="*/ 95983 h 95982"/>
                <a:gd name="connsiteX1" fmla="*/ 47991 w 364733"/>
                <a:gd name="connsiteY1" fmla="*/ 95983 h 95982"/>
                <a:gd name="connsiteX2" fmla="*/ 0 w 364733"/>
                <a:gd name="connsiteY2" fmla="*/ 47991 h 95982"/>
                <a:gd name="connsiteX3" fmla="*/ 47991 w 364733"/>
                <a:gd name="connsiteY3" fmla="*/ 0 h 95982"/>
                <a:gd name="connsiteX4" fmla="*/ 316742 w 364733"/>
                <a:gd name="connsiteY4" fmla="*/ 0 h 95982"/>
                <a:gd name="connsiteX5" fmla="*/ 364734 w 364733"/>
                <a:gd name="connsiteY5" fmla="*/ 47991 h 95982"/>
                <a:gd name="connsiteX6" fmla="*/ 316742 w 364733"/>
                <a:gd name="connsiteY6" fmla="*/ 95983 h 9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4733" h="95982">
                  <a:moveTo>
                    <a:pt x="316742" y="95983"/>
                  </a:moveTo>
                  <a:lnTo>
                    <a:pt x="47991" y="95983"/>
                  </a:lnTo>
                  <a:cubicBezTo>
                    <a:pt x="21756" y="95983"/>
                    <a:pt x="0" y="74226"/>
                    <a:pt x="0" y="47991"/>
                  </a:cubicBezTo>
                  <a:cubicBezTo>
                    <a:pt x="0" y="21756"/>
                    <a:pt x="21756" y="0"/>
                    <a:pt x="47991" y="0"/>
                  </a:cubicBezTo>
                  <a:lnTo>
                    <a:pt x="316742" y="0"/>
                  </a:lnTo>
                  <a:cubicBezTo>
                    <a:pt x="342978" y="0"/>
                    <a:pt x="364734" y="21756"/>
                    <a:pt x="364734" y="47991"/>
                  </a:cubicBezTo>
                  <a:cubicBezTo>
                    <a:pt x="364734" y="74866"/>
                    <a:pt x="342978" y="95983"/>
                    <a:pt x="316742" y="95983"/>
                  </a:cubicBezTo>
                  <a:close/>
                </a:path>
              </a:pathLst>
            </a:custGeom>
            <a:solidFill>
              <a:srgbClr val="D7D1DF"/>
            </a:solidFill>
            <a:ln w="6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3943245" y="4245621"/>
              <a:ext cx="550299" cy="550299"/>
            </a:xfrm>
            <a:custGeom>
              <a:avLst/>
              <a:gdLst>
                <a:gd name="connsiteX0" fmla="*/ 550300 w 550299"/>
                <a:gd name="connsiteY0" fmla="*/ 275150 h 550299"/>
                <a:gd name="connsiteX1" fmla="*/ 275150 w 550299"/>
                <a:gd name="connsiteY1" fmla="*/ 550300 h 550299"/>
                <a:gd name="connsiteX2" fmla="*/ 0 w 550299"/>
                <a:gd name="connsiteY2" fmla="*/ 275150 h 550299"/>
                <a:gd name="connsiteX3" fmla="*/ 275150 w 550299"/>
                <a:gd name="connsiteY3" fmla="*/ 0 h 550299"/>
                <a:gd name="connsiteX4" fmla="*/ 550300 w 550299"/>
                <a:gd name="connsiteY4" fmla="*/ 275150 h 550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299" h="550299">
                  <a:moveTo>
                    <a:pt x="550300" y="275150"/>
                  </a:moveTo>
                  <a:cubicBezTo>
                    <a:pt x="550300" y="427111"/>
                    <a:pt x="427111" y="550300"/>
                    <a:pt x="275150" y="550300"/>
                  </a:cubicBezTo>
                  <a:cubicBezTo>
                    <a:pt x="123189" y="550300"/>
                    <a:pt x="0" y="427111"/>
                    <a:pt x="0" y="275150"/>
                  </a:cubicBezTo>
                  <a:cubicBezTo>
                    <a:pt x="0" y="123189"/>
                    <a:pt x="123189" y="0"/>
                    <a:pt x="275150" y="0"/>
                  </a:cubicBezTo>
                  <a:cubicBezTo>
                    <a:pt x="427111" y="0"/>
                    <a:pt x="550300" y="123189"/>
                    <a:pt x="550300" y="275150"/>
                  </a:cubicBezTo>
                  <a:close/>
                </a:path>
              </a:pathLst>
            </a:custGeom>
            <a:solidFill>
              <a:srgbClr val="FDA73B"/>
            </a:solidFill>
            <a:ln w="6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3970120" y="5045475"/>
              <a:ext cx="1961271" cy="44791"/>
            </a:xfrm>
            <a:custGeom>
              <a:avLst/>
              <a:gdLst>
                <a:gd name="connsiteX0" fmla="*/ 1939487 w 1961271"/>
                <a:gd name="connsiteY0" fmla="*/ 44792 h 44791"/>
                <a:gd name="connsiteX1" fmla="*/ 22396 w 1961271"/>
                <a:gd name="connsiteY1" fmla="*/ 44792 h 44791"/>
                <a:gd name="connsiteX2" fmla="*/ 0 w 1961271"/>
                <a:gd name="connsiteY2" fmla="*/ 22396 h 44791"/>
                <a:gd name="connsiteX3" fmla="*/ 22396 w 1961271"/>
                <a:gd name="connsiteY3" fmla="*/ 0 h 44791"/>
                <a:gd name="connsiteX4" fmla="*/ 1938847 w 1961271"/>
                <a:gd name="connsiteY4" fmla="*/ 0 h 44791"/>
                <a:gd name="connsiteX5" fmla="*/ 1961243 w 1961271"/>
                <a:gd name="connsiteY5" fmla="*/ 22396 h 44791"/>
                <a:gd name="connsiteX6" fmla="*/ 1939487 w 1961271"/>
                <a:gd name="connsiteY6" fmla="*/ 44792 h 4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1271" h="44791">
                  <a:moveTo>
                    <a:pt x="1939487" y="44792"/>
                  </a:moveTo>
                  <a:lnTo>
                    <a:pt x="22396" y="44792"/>
                  </a:lnTo>
                  <a:cubicBezTo>
                    <a:pt x="10238" y="44792"/>
                    <a:pt x="0" y="34554"/>
                    <a:pt x="0" y="22396"/>
                  </a:cubicBezTo>
                  <a:cubicBezTo>
                    <a:pt x="0" y="10238"/>
                    <a:pt x="10238" y="0"/>
                    <a:pt x="22396" y="0"/>
                  </a:cubicBezTo>
                  <a:lnTo>
                    <a:pt x="1938847" y="0"/>
                  </a:lnTo>
                  <a:cubicBezTo>
                    <a:pt x="1951005" y="0"/>
                    <a:pt x="1961243" y="10238"/>
                    <a:pt x="1961243" y="22396"/>
                  </a:cubicBezTo>
                  <a:cubicBezTo>
                    <a:pt x="1961883" y="34554"/>
                    <a:pt x="1951645" y="44792"/>
                    <a:pt x="1939487" y="44792"/>
                  </a:cubicBezTo>
                  <a:close/>
                </a:path>
              </a:pathLst>
            </a:custGeom>
            <a:solidFill>
              <a:srgbClr val="D7D1DF"/>
            </a:solidFill>
            <a:ln w="6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3970120" y="5179850"/>
              <a:ext cx="1961271" cy="44791"/>
            </a:xfrm>
            <a:custGeom>
              <a:avLst/>
              <a:gdLst>
                <a:gd name="connsiteX0" fmla="*/ 1939487 w 1961271"/>
                <a:gd name="connsiteY0" fmla="*/ 44792 h 44791"/>
                <a:gd name="connsiteX1" fmla="*/ 22396 w 1961271"/>
                <a:gd name="connsiteY1" fmla="*/ 44792 h 44791"/>
                <a:gd name="connsiteX2" fmla="*/ 0 w 1961271"/>
                <a:gd name="connsiteY2" fmla="*/ 22396 h 44791"/>
                <a:gd name="connsiteX3" fmla="*/ 22396 w 1961271"/>
                <a:gd name="connsiteY3" fmla="*/ 0 h 44791"/>
                <a:gd name="connsiteX4" fmla="*/ 1938847 w 1961271"/>
                <a:gd name="connsiteY4" fmla="*/ 0 h 44791"/>
                <a:gd name="connsiteX5" fmla="*/ 1961243 w 1961271"/>
                <a:gd name="connsiteY5" fmla="*/ 22396 h 44791"/>
                <a:gd name="connsiteX6" fmla="*/ 1939487 w 1961271"/>
                <a:gd name="connsiteY6" fmla="*/ 44792 h 4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1271" h="44791">
                  <a:moveTo>
                    <a:pt x="1939487" y="44792"/>
                  </a:moveTo>
                  <a:lnTo>
                    <a:pt x="22396" y="44792"/>
                  </a:lnTo>
                  <a:cubicBezTo>
                    <a:pt x="10238" y="44792"/>
                    <a:pt x="0" y="34554"/>
                    <a:pt x="0" y="22396"/>
                  </a:cubicBezTo>
                  <a:cubicBezTo>
                    <a:pt x="0" y="10238"/>
                    <a:pt x="10238" y="0"/>
                    <a:pt x="22396" y="0"/>
                  </a:cubicBezTo>
                  <a:lnTo>
                    <a:pt x="1938847" y="0"/>
                  </a:lnTo>
                  <a:cubicBezTo>
                    <a:pt x="1951005" y="0"/>
                    <a:pt x="1961243" y="10238"/>
                    <a:pt x="1961243" y="22396"/>
                  </a:cubicBezTo>
                  <a:cubicBezTo>
                    <a:pt x="1961883" y="34554"/>
                    <a:pt x="1951645" y="44792"/>
                    <a:pt x="1939487" y="44792"/>
                  </a:cubicBezTo>
                  <a:close/>
                </a:path>
              </a:pathLst>
            </a:custGeom>
            <a:solidFill>
              <a:srgbClr val="D7D1DF"/>
            </a:solidFill>
            <a:ln w="6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3970120" y="5314226"/>
              <a:ext cx="1961271" cy="44791"/>
            </a:xfrm>
            <a:custGeom>
              <a:avLst/>
              <a:gdLst>
                <a:gd name="connsiteX0" fmla="*/ 1939487 w 1961271"/>
                <a:gd name="connsiteY0" fmla="*/ 44792 h 44791"/>
                <a:gd name="connsiteX1" fmla="*/ 22396 w 1961271"/>
                <a:gd name="connsiteY1" fmla="*/ 44792 h 44791"/>
                <a:gd name="connsiteX2" fmla="*/ 0 w 1961271"/>
                <a:gd name="connsiteY2" fmla="*/ 22396 h 44791"/>
                <a:gd name="connsiteX3" fmla="*/ 22396 w 1961271"/>
                <a:gd name="connsiteY3" fmla="*/ 0 h 44791"/>
                <a:gd name="connsiteX4" fmla="*/ 1938847 w 1961271"/>
                <a:gd name="connsiteY4" fmla="*/ 0 h 44791"/>
                <a:gd name="connsiteX5" fmla="*/ 1961243 w 1961271"/>
                <a:gd name="connsiteY5" fmla="*/ 22396 h 44791"/>
                <a:gd name="connsiteX6" fmla="*/ 1939487 w 1961271"/>
                <a:gd name="connsiteY6" fmla="*/ 44792 h 4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1271" h="44791">
                  <a:moveTo>
                    <a:pt x="1939487" y="44792"/>
                  </a:moveTo>
                  <a:lnTo>
                    <a:pt x="22396" y="44792"/>
                  </a:lnTo>
                  <a:cubicBezTo>
                    <a:pt x="10238" y="44792"/>
                    <a:pt x="0" y="34554"/>
                    <a:pt x="0" y="22396"/>
                  </a:cubicBezTo>
                  <a:cubicBezTo>
                    <a:pt x="0" y="10238"/>
                    <a:pt x="10238" y="0"/>
                    <a:pt x="22396" y="0"/>
                  </a:cubicBezTo>
                  <a:lnTo>
                    <a:pt x="1938847" y="0"/>
                  </a:lnTo>
                  <a:cubicBezTo>
                    <a:pt x="1951005" y="0"/>
                    <a:pt x="1961243" y="10238"/>
                    <a:pt x="1961243" y="22396"/>
                  </a:cubicBezTo>
                  <a:cubicBezTo>
                    <a:pt x="1961883" y="34554"/>
                    <a:pt x="1951645" y="44792"/>
                    <a:pt x="1939487" y="44792"/>
                  </a:cubicBezTo>
                  <a:close/>
                </a:path>
              </a:pathLst>
            </a:custGeom>
            <a:solidFill>
              <a:srgbClr val="D7D1DF"/>
            </a:solidFill>
            <a:ln w="6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3970120" y="5448601"/>
              <a:ext cx="888158" cy="44791"/>
            </a:xfrm>
            <a:custGeom>
              <a:avLst/>
              <a:gdLst>
                <a:gd name="connsiteX0" fmla="*/ 865762 w 888158"/>
                <a:gd name="connsiteY0" fmla="*/ 44792 h 44791"/>
                <a:gd name="connsiteX1" fmla="*/ 22396 w 888158"/>
                <a:gd name="connsiteY1" fmla="*/ 44792 h 44791"/>
                <a:gd name="connsiteX2" fmla="*/ 0 w 888158"/>
                <a:gd name="connsiteY2" fmla="*/ 22396 h 44791"/>
                <a:gd name="connsiteX3" fmla="*/ 22396 w 888158"/>
                <a:gd name="connsiteY3" fmla="*/ 0 h 44791"/>
                <a:gd name="connsiteX4" fmla="*/ 865762 w 888158"/>
                <a:gd name="connsiteY4" fmla="*/ 0 h 44791"/>
                <a:gd name="connsiteX5" fmla="*/ 888158 w 888158"/>
                <a:gd name="connsiteY5" fmla="*/ 22396 h 44791"/>
                <a:gd name="connsiteX6" fmla="*/ 865762 w 888158"/>
                <a:gd name="connsiteY6" fmla="*/ 44792 h 4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8158" h="44791">
                  <a:moveTo>
                    <a:pt x="865762" y="44792"/>
                  </a:moveTo>
                  <a:lnTo>
                    <a:pt x="22396" y="44792"/>
                  </a:lnTo>
                  <a:cubicBezTo>
                    <a:pt x="10238" y="44792"/>
                    <a:pt x="0" y="34554"/>
                    <a:pt x="0" y="22396"/>
                  </a:cubicBezTo>
                  <a:cubicBezTo>
                    <a:pt x="0" y="10238"/>
                    <a:pt x="10238" y="0"/>
                    <a:pt x="22396" y="0"/>
                  </a:cubicBezTo>
                  <a:lnTo>
                    <a:pt x="865762" y="0"/>
                  </a:lnTo>
                  <a:cubicBezTo>
                    <a:pt x="877920" y="0"/>
                    <a:pt x="888158" y="10238"/>
                    <a:pt x="888158" y="22396"/>
                  </a:cubicBezTo>
                  <a:cubicBezTo>
                    <a:pt x="888158" y="34554"/>
                    <a:pt x="877920" y="44792"/>
                    <a:pt x="865762" y="44792"/>
                  </a:cubicBezTo>
                  <a:close/>
                </a:path>
              </a:pathLst>
            </a:custGeom>
            <a:solidFill>
              <a:srgbClr val="D7D1DF"/>
            </a:solidFill>
            <a:ln w="6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10448961" y="2450395"/>
            <a:ext cx="781049" cy="259496"/>
            <a:chOff x="8900494" y="4270995"/>
            <a:chExt cx="781049" cy="259496"/>
          </a:xfrm>
        </p:grpSpPr>
        <p:sp>
          <p:nvSpPr>
            <p:cNvPr id="75" name="任意多边形: 形状 74"/>
            <p:cNvSpPr/>
            <p:nvPr/>
          </p:nvSpPr>
          <p:spPr>
            <a:xfrm>
              <a:off x="8900494" y="4270995"/>
              <a:ext cx="781049" cy="259496"/>
            </a:xfrm>
            <a:custGeom>
              <a:avLst/>
              <a:gdLst>
                <a:gd name="connsiteX0" fmla="*/ 598837 w 728585"/>
                <a:gd name="connsiteY0" fmla="*/ 259496 h 259496"/>
                <a:gd name="connsiteX1" fmla="*/ 129748 w 728585"/>
                <a:gd name="connsiteY1" fmla="*/ 259496 h 259496"/>
                <a:gd name="connsiteX2" fmla="*/ 0 w 728585"/>
                <a:gd name="connsiteY2" fmla="*/ 129748 h 259496"/>
                <a:gd name="connsiteX3" fmla="*/ 0 w 728585"/>
                <a:gd name="connsiteY3" fmla="*/ 129748 h 259496"/>
                <a:gd name="connsiteX4" fmla="*/ 129748 w 728585"/>
                <a:gd name="connsiteY4" fmla="*/ 0 h 259496"/>
                <a:gd name="connsiteX5" fmla="*/ 598837 w 728585"/>
                <a:gd name="connsiteY5" fmla="*/ 0 h 259496"/>
                <a:gd name="connsiteX6" fmla="*/ 728585 w 728585"/>
                <a:gd name="connsiteY6" fmla="*/ 129748 h 259496"/>
                <a:gd name="connsiteX7" fmla="*/ 728585 w 728585"/>
                <a:gd name="connsiteY7" fmla="*/ 129748 h 259496"/>
                <a:gd name="connsiteX8" fmla="*/ 598837 w 728585"/>
                <a:gd name="connsiteY8" fmla="*/ 259496 h 25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8585" h="259496">
                  <a:moveTo>
                    <a:pt x="598837" y="259496"/>
                  </a:moveTo>
                  <a:lnTo>
                    <a:pt x="129748" y="259496"/>
                  </a:lnTo>
                  <a:cubicBezTo>
                    <a:pt x="57888" y="259496"/>
                    <a:pt x="0" y="201608"/>
                    <a:pt x="0" y="129748"/>
                  </a:cubicBezTo>
                  <a:lnTo>
                    <a:pt x="0" y="129748"/>
                  </a:lnTo>
                  <a:cubicBezTo>
                    <a:pt x="0" y="57888"/>
                    <a:pt x="57888" y="0"/>
                    <a:pt x="129748" y="0"/>
                  </a:cubicBezTo>
                  <a:lnTo>
                    <a:pt x="598837" y="0"/>
                  </a:lnTo>
                  <a:cubicBezTo>
                    <a:pt x="670697" y="0"/>
                    <a:pt x="728585" y="57888"/>
                    <a:pt x="728585" y="129748"/>
                  </a:cubicBezTo>
                  <a:lnTo>
                    <a:pt x="728585" y="129748"/>
                  </a:lnTo>
                  <a:cubicBezTo>
                    <a:pt x="728585" y="201608"/>
                    <a:pt x="670697" y="259496"/>
                    <a:pt x="598837" y="259496"/>
                  </a:cubicBezTo>
                  <a:close/>
                </a:path>
              </a:pathLst>
            </a:custGeom>
            <a:solidFill>
              <a:srgbClr val="D7D1DF"/>
            </a:solidFill>
            <a:ln w="49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76" name="组合 75"/>
            <p:cNvGrpSpPr/>
            <p:nvPr/>
          </p:nvGrpSpPr>
          <p:grpSpPr>
            <a:xfrm>
              <a:off x="9007150" y="4344075"/>
              <a:ext cx="567736" cy="113337"/>
              <a:chOff x="10517580" y="2441257"/>
              <a:chExt cx="653675" cy="130493"/>
            </a:xfrm>
            <a:solidFill>
              <a:schemeClr val="bg1"/>
            </a:solidFill>
          </p:grpSpPr>
          <p:sp>
            <p:nvSpPr>
              <p:cNvPr id="77" name="椭圆 76"/>
              <p:cNvSpPr/>
              <p:nvPr/>
            </p:nvSpPr>
            <p:spPr>
              <a:xfrm>
                <a:off x="10517580" y="2441257"/>
                <a:ext cx="130493" cy="1304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10779171" y="2441257"/>
                <a:ext cx="130493" cy="1304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11040762" y="2441257"/>
                <a:ext cx="130493" cy="1304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12" name="图片 11" descr="govee_bl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15035" y="4335780"/>
            <a:ext cx="4631055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indent="0">
              <a:buClr>
                <a:schemeClr val="accent2"/>
              </a:buClr>
              <a:buFont typeface="MiSans Light" panose="00000400000000000000" charset="-12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2、</a:t>
            </a:r>
            <a:r>
              <a:rPr lang="zh-CN" altLang="en-US" sz="1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整合碎片化资源，提升效率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0">
              <a:buClr>
                <a:schemeClr val="accent2"/>
              </a:buClr>
              <a:buFont typeface="MiSans Light" panose="00000400000000000000" charset="-122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在全球化布局中，企业需面对不同市场的差异化需求（如东南亚市场重创新、欧美市场重品质）。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岗位通过本地化策略（如分区域定价、渠道管理）和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跨部门资源统筹，避免部门本位主义导致的资源浪费。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77355" y="2813685"/>
            <a:ext cx="463105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indent="0">
              <a:buClr>
                <a:schemeClr val="accent2"/>
              </a:buClr>
              <a:buFont typeface="MiSans Light" panose="00000400000000000000" charset="-12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3、</a:t>
            </a:r>
            <a:r>
              <a:rPr lang="zh-CN" altLang="en-US" sz="1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确保产品价值传递与商业转化</a:t>
            </a:r>
            <a:endParaRPr lang="zh-CN" altLang="en-US" sz="1800" b="1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0">
              <a:buClr>
                <a:schemeClr val="accent2"/>
              </a:buClr>
              <a:buFont typeface="MiSans Light" panose="00000400000000000000" charset="-122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岗位将技术卖点转化为市场语言，并通过精准的营销策略触达目标用户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提拉导入期产品势能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保障产品生命周期产能稳定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引导系列化产品生命周期“软”切换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en-US" altLang="zh-CN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7355" y="4415790"/>
            <a:ext cx="463105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indent="0">
              <a:buClr>
                <a:schemeClr val="accent2"/>
              </a:buClr>
              <a:buFont typeface="MiSans Light" panose="00000400000000000000" charset="-122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4、</a:t>
            </a:r>
            <a:r>
              <a:rPr lang="zh-CN" altLang="en-US" sz="1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适应规模化企业的管理需求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0">
              <a:buClr>
                <a:schemeClr val="accent2"/>
              </a:buClr>
              <a:buFont typeface="MiSans Light" panose="00000400000000000000" charset="-122"/>
              <a:buNone/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体系通过组织架构重构、流程标准化、数据治理与区域化适配四大核心机制，破解因规模扩张带来的管理复杂度指数级上升难题。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/>
        </p:nvSpPr>
        <p:spPr>
          <a:xfrm rot="19800000" flipH="1">
            <a:off x="2431795" y="-2965210"/>
            <a:ext cx="9657090" cy="8092594"/>
          </a:xfrm>
          <a:custGeom>
            <a:avLst/>
            <a:gdLst>
              <a:gd name="connsiteX0" fmla="*/ 0 w 8858358"/>
              <a:gd name="connsiteY0" fmla="*/ 5114376 h 7423260"/>
              <a:gd name="connsiteX1" fmla="*/ 8858358 w 8858358"/>
              <a:gd name="connsiteY1" fmla="*/ 0 h 7423260"/>
              <a:gd name="connsiteX2" fmla="*/ 8858358 w 8858358"/>
              <a:gd name="connsiteY2" fmla="*/ 5792445 h 7423260"/>
              <a:gd name="connsiteX3" fmla="*/ 7227543 w 8858358"/>
              <a:gd name="connsiteY3" fmla="*/ 7423260 h 7423260"/>
              <a:gd name="connsiteX4" fmla="*/ 1333035 w 8858358"/>
              <a:gd name="connsiteY4" fmla="*/ 7423260 h 7423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8358" h="7423260">
                <a:moveTo>
                  <a:pt x="0" y="5114376"/>
                </a:moveTo>
                <a:lnTo>
                  <a:pt x="8858358" y="0"/>
                </a:lnTo>
                <a:lnTo>
                  <a:pt x="8858358" y="5792445"/>
                </a:lnTo>
                <a:cubicBezTo>
                  <a:pt x="8858358" y="6693119"/>
                  <a:pt x="8128217" y="7423260"/>
                  <a:pt x="7227543" y="7423260"/>
                </a:cubicBezTo>
                <a:lnTo>
                  <a:pt x="1333035" y="7423260"/>
                </a:lnTo>
                <a:close/>
              </a:path>
            </a:pathLst>
          </a:custGeom>
          <a:solidFill>
            <a:srgbClr val="EBE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/>
          <p:cNvSpPr/>
          <p:nvPr/>
        </p:nvSpPr>
        <p:spPr>
          <a:xfrm rot="9580589" flipH="1">
            <a:off x="-353315" y="-473885"/>
            <a:ext cx="3444995" cy="1562060"/>
          </a:xfrm>
          <a:custGeom>
            <a:avLst/>
            <a:gdLst>
              <a:gd name="connsiteX0" fmla="*/ 4589130 w 4589130"/>
              <a:gd name="connsiteY0" fmla="*/ 644071 h 2080844"/>
              <a:gd name="connsiteX1" fmla="*/ 709924 w 4589130"/>
              <a:gd name="connsiteY1" fmla="*/ 2080844 h 2080844"/>
              <a:gd name="connsiteX2" fmla="*/ 0 w 4589130"/>
              <a:gd name="connsiteY2" fmla="*/ 164088 h 2080844"/>
              <a:gd name="connsiteX3" fmla="*/ 104369 w 4589130"/>
              <a:gd name="connsiteY3" fmla="*/ 134103 h 2080844"/>
              <a:gd name="connsiteX4" fmla="*/ 2724217 w 4589130"/>
              <a:gd name="connsiteY4" fmla="*/ 115788 h 2080844"/>
              <a:gd name="connsiteX5" fmla="*/ 4536823 w 4589130"/>
              <a:gd name="connsiteY5" fmla="*/ 618337 h 2080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89130" h="2080844">
                <a:moveTo>
                  <a:pt x="4589130" y="644071"/>
                </a:moveTo>
                <a:lnTo>
                  <a:pt x="709924" y="2080844"/>
                </a:lnTo>
                <a:lnTo>
                  <a:pt x="0" y="164088"/>
                </a:lnTo>
                <a:lnTo>
                  <a:pt x="104369" y="134103"/>
                </a:lnTo>
                <a:cubicBezTo>
                  <a:pt x="968008" y="-74620"/>
                  <a:pt x="2051606" y="-6865"/>
                  <a:pt x="2724217" y="115788"/>
                </a:cubicBezTo>
                <a:cubicBezTo>
                  <a:pt x="3247360" y="211184"/>
                  <a:pt x="3932060" y="347183"/>
                  <a:pt x="4536823" y="618337"/>
                </a:cubicBez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任意多边形: 形状 30"/>
          <p:cNvSpPr/>
          <p:nvPr/>
        </p:nvSpPr>
        <p:spPr>
          <a:xfrm flipH="1">
            <a:off x="0" y="3731165"/>
            <a:ext cx="1272164" cy="1668480"/>
          </a:xfrm>
          <a:custGeom>
            <a:avLst/>
            <a:gdLst>
              <a:gd name="connsiteX0" fmla="*/ 153367 w 1272164"/>
              <a:gd name="connsiteY0" fmla="*/ 0 h 1668480"/>
              <a:gd name="connsiteX1" fmla="*/ 1272164 w 1272164"/>
              <a:gd name="connsiteY1" fmla="*/ 0 h 1668480"/>
              <a:gd name="connsiteX2" fmla="*/ 1272164 w 1272164"/>
              <a:gd name="connsiteY2" fmla="*/ 1668480 h 1668480"/>
              <a:gd name="connsiteX3" fmla="*/ 153367 w 1272164"/>
              <a:gd name="connsiteY3" fmla="*/ 1668480 h 1668480"/>
              <a:gd name="connsiteX4" fmla="*/ 0 w 1272164"/>
              <a:gd name="connsiteY4" fmla="*/ 1515113 h 1668480"/>
              <a:gd name="connsiteX5" fmla="*/ 0 w 1272164"/>
              <a:gd name="connsiteY5" fmla="*/ 153367 h 1668480"/>
              <a:gd name="connsiteX6" fmla="*/ 153367 w 1272164"/>
              <a:gd name="connsiteY6" fmla="*/ 0 h 1668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2164" h="1668480">
                <a:moveTo>
                  <a:pt x="153367" y="0"/>
                </a:moveTo>
                <a:lnTo>
                  <a:pt x="1272164" y="0"/>
                </a:lnTo>
                <a:lnTo>
                  <a:pt x="1272164" y="1668480"/>
                </a:lnTo>
                <a:lnTo>
                  <a:pt x="153367" y="1668480"/>
                </a:lnTo>
                <a:cubicBezTo>
                  <a:pt x="68665" y="1668480"/>
                  <a:pt x="0" y="1599815"/>
                  <a:pt x="0" y="1515113"/>
                </a:cubicBezTo>
                <a:lnTo>
                  <a:pt x="0" y="153367"/>
                </a:lnTo>
                <a:cubicBezTo>
                  <a:pt x="0" y="68665"/>
                  <a:pt x="68665" y="0"/>
                  <a:pt x="153367" y="0"/>
                </a:cubicBez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pic>
        <p:nvPicPr>
          <p:cNvPr id="39" name="图形 3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69189" y="1255761"/>
            <a:ext cx="2154018" cy="1507338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579455" y="1270184"/>
            <a:ext cx="2113263" cy="1478492"/>
            <a:chOff x="1706302" y="1590446"/>
            <a:chExt cx="1867403" cy="1306482"/>
          </a:xfrm>
        </p:grpSpPr>
        <p:sp>
          <p:nvSpPr>
            <p:cNvPr id="41" name="任意多边形: 形状 40"/>
            <p:cNvSpPr/>
            <p:nvPr/>
          </p:nvSpPr>
          <p:spPr>
            <a:xfrm>
              <a:off x="1706302" y="1590446"/>
              <a:ext cx="1867403" cy="1306482"/>
            </a:xfrm>
            <a:custGeom>
              <a:avLst/>
              <a:gdLst>
                <a:gd name="connsiteX0" fmla="*/ 1705845 w 1867403"/>
                <a:gd name="connsiteY0" fmla="*/ 1306482 h 1306482"/>
                <a:gd name="connsiteX1" fmla="*/ 161559 w 1867403"/>
                <a:gd name="connsiteY1" fmla="*/ 1306482 h 1306482"/>
                <a:gd name="connsiteX2" fmla="*/ 0 w 1867403"/>
                <a:gd name="connsiteY2" fmla="*/ 1144923 h 1306482"/>
                <a:gd name="connsiteX3" fmla="*/ 0 w 1867403"/>
                <a:gd name="connsiteY3" fmla="*/ 161559 h 1306482"/>
                <a:gd name="connsiteX4" fmla="*/ 161559 w 1867403"/>
                <a:gd name="connsiteY4" fmla="*/ 0 h 1306482"/>
                <a:gd name="connsiteX5" fmla="*/ 1705845 w 1867403"/>
                <a:gd name="connsiteY5" fmla="*/ 0 h 1306482"/>
                <a:gd name="connsiteX6" fmla="*/ 1867404 w 1867403"/>
                <a:gd name="connsiteY6" fmla="*/ 161559 h 1306482"/>
                <a:gd name="connsiteX7" fmla="*/ 1867404 w 1867403"/>
                <a:gd name="connsiteY7" fmla="*/ 1145335 h 1306482"/>
                <a:gd name="connsiteX8" fmla="*/ 1705845 w 1867403"/>
                <a:gd name="connsiteY8" fmla="*/ 1306482 h 1306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7403" h="1306482">
                  <a:moveTo>
                    <a:pt x="1705845" y="1306482"/>
                  </a:moveTo>
                  <a:lnTo>
                    <a:pt x="161559" y="1306482"/>
                  </a:lnTo>
                  <a:cubicBezTo>
                    <a:pt x="72537" y="1306482"/>
                    <a:pt x="0" y="1234358"/>
                    <a:pt x="0" y="1144923"/>
                  </a:cubicBezTo>
                  <a:lnTo>
                    <a:pt x="0" y="161559"/>
                  </a:lnTo>
                  <a:cubicBezTo>
                    <a:pt x="0" y="72537"/>
                    <a:pt x="72124" y="0"/>
                    <a:pt x="161559" y="0"/>
                  </a:cubicBezTo>
                  <a:lnTo>
                    <a:pt x="1705845" y="0"/>
                  </a:lnTo>
                  <a:cubicBezTo>
                    <a:pt x="1794867" y="0"/>
                    <a:pt x="1867404" y="72124"/>
                    <a:pt x="1867404" y="161559"/>
                  </a:cubicBezTo>
                  <a:lnTo>
                    <a:pt x="1867404" y="1145335"/>
                  </a:lnTo>
                  <a:cubicBezTo>
                    <a:pt x="1866992" y="1234358"/>
                    <a:pt x="1794867" y="1306482"/>
                    <a:pt x="1705845" y="1306482"/>
                  </a:cubicBezTo>
                  <a:close/>
                </a:path>
              </a:pathLst>
            </a:custGeom>
            <a:solidFill>
              <a:srgbClr val="6864E8"/>
            </a:solidFill>
            <a:ln w="41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1879401" y="1800637"/>
              <a:ext cx="853128" cy="853128"/>
            </a:xfrm>
            <a:custGeom>
              <a:avLst/>
              <a:gdLst>
                <a:gd name="connsiteX0" fmla="*/ 426564 w 853128"/>
                <a:gd name="connsiteY0" fmla="*/ 853129 h 853128"/>
                <a:gd name="connsiteX1" fmla="*/ 0 w 853128"/>
                <a:gd name="connsiteY1" fmla="*/ 426564 h 853128"/>
                <a:gd name="connsiteX2" fmla="*/ 426564 w 853128"/>
                <a:gd name="connsiteY2" fmla="*/ 0 h 853128"/>
                <a:gd name="connsiteX3" fmla="*/ 853129 w 853128"/>
                <a:gd name="connsiteY3" fmla="*/ 426564 h 853128"/>
                <a:gd name="connsiteX4" fmla="*/ 426564 w 853128"/>
                <a:gd name="connsiteY4" fmla="*/ 853129 h 853128"/>
                <a:gd name="connsiteX5" fmla="*/ 426564 w 853128"/>
                <a:gd name="connsiteY5" fmla="*/ 61821 h 853128"/>
                <a:gd name="connsiteX6" fmla="*/ 61821 w 853128"/>
                <a:gd name="connsiteY6" fmla="*/ 426564 h 853128"/>
                <a:gd name="connsiteX7" fmla="*/ 426564 w 853128"/>
                <a:gd name="connsiteY7" fmla="*/ 791308 h 853128"/>
                <a:gd name="connsiteX8" fmla="*/ 791308 w 853128"/>
                <a:gd name="connsiteY8" fmla="*/ 426564 h 853128"/>
                <a:gd name="connsiteX9" fmla="*/ 426564 w 853128"/>
                <a:gd name="connsiteY9" fmla="*/ 61821 h 85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3128" h="853128">
                  <a:moveTo>
                    <a:pt x="426564" y="853129"/>
                  </a:moveTo>
                  <a:cubicBezTo>
                    <a:pt x="191233" y="853129"/>
                    <a:pt x="0" y="661896"/>
                    <a:pt x="0" y="426564"/>
                  </a:cubicBezTo>
                  <a:cubicBezTo>
                    <a:pt x="0" y="191233"/>
                    <a:pt x="191233" y="0"/>
                    <a:pt x="426564" y="0"/>
                  </a:cubicBezTo>
                  <a:cubicBezTo>
                    <a:pt x="661896" y="0"/>
                    <a:pt x="853129" y="191233"/>
                    <a:pt x="853129" y="426564"/>
                  </a:cubicBezTo>
                  <a:cubicBezTo>
                    <a:pt x="853129" y="661896"/>
                    <a:pt x="661896" y="853129"/>
                    <a:pt x="426564" y="853129"/>
                  </a:cubicBezTo>
                  <a:close/>
                  <a:moveTo>
                    <a:pt x="426564" y="61821"/>
                  </a:moveTo>
                  <a:cubicBezTo>
                    <a:pt x="225440" y="61821"/>
                    <a:pt x="61821" y="225440"/>
                    <a:pt x="61821" y="426564"/>
                  </a:cubicBezTo>
                  <a:cubicBezTo>
                    <a:pt x="61821" y="627688"/>
                    <a:pt x="225440" y="791308"/>
                    <a:pt x="426564" y="791308"/>
                  </a:cubicBezTo>
                  <a:cubicBezTo>
                    <a:pt x="627688" y="791308"/>
                    <a:pt x="791308" y="627688"/>
                    <a:pt x="791308" y="426564"/>
                  </a:cubicBezTo>
                  <a:cubicBezTo>
                    <a:pt x="791308" y="225440"/>
                    <a:pt x="627688" y="61821"/>
                    <a:pt x="426564" y="61821"/>
                  </a:cubicBezTo>
                  <a:close/>
                </a:path>
              </a:pathLst>
            </a:custGeom>
            <a:solidFill>
              <a:srgbClr val="FFFFFF"/>
            </a:solidFill>
            <a:ln w="41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2532642" y="1938703"/>
              <a:ext cx="239040" cy="239040"/>
            </a:xfrm>
            <a:custGeom>
              <a:avLst/>
              <a:gdLst>
                <a:gd name="connsiteX0" fmla="*/ 239041 w 239040"/>
                <a:gd name="connsiteY0" fmla="*/ 119520 h 239040"/>
                <a:gd name="connsiteX1" fmla="*/ 119520 w 239040"/>
                <a:gd name="connsiteY1" fmla="*/ 239041 h 239040"/>
                <a:gd name="connsiteX2" fmla="*/ 0 w 239040"/>
                <a:gd name="connsiteY2" fmla="*/ 119521 h 239040"/>
                <a:gd name="connsiteX3" fmla="*/ 119520 w 239040"/>
                <a:gd name="connsiteY3" fmla="*/ 0 h 239040"/>
                <a:gd name="connsiteX4" fmla="*/ 239041 w 239040"/>
                <a:gd name="connsiteY4" fmla="*/ 119520 h 239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040" h="239040">
                  <a:moveTo>
                    <a:pt x="239041" y="119520"/>
                  </a:moveTo>
                  <a:cubicBezTo>
                    <a:pt x="239041" y="185530"/>
                    <a:pt x="185530" y="239041"/>
                    <a:pt x="119520" y="239041"/>
                  </a:cubicBezTo>
                  <a:cubicBezTo>
                    <a:pt x="53511" y="239041"/>
                    <a:pt x="0" y="185530"/>
                    <a:pt x="0" y="119521"/>
                  </a:cubicBezTo>
                  <a:cubicBezTo>
                    <a:pt x="0" y="53511"/>
                    <a:pt x="53511" y="0"/>
                    <a:pt x="119520" y="0"/>
                  </a:cubicBezTo>
                  <a:cubicBezTo>
                    <a:pt x="185530" y="0"/>
                    <a:pt x="239041" y="53511"/>
                    <a:pt x="239041" y="119520"/>
                  </a:cubicBezTo>
                  <a:close/>
                </a:path>
              </a:pathLst>
            </a:custGeom>
            <a:solidFill>
              <a:srgbClr val="FDD656"/>
            </a:solidFill>
            <a:ln w="41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2585396" y="1999700"/>
              <a:ext cx="147133" cy="118284"/>
            </a:xfrm>
            <a:custGeom>
              <a:avLst/>
              <a:gdLst>
                <a:gd name="connsiteX0" fmla="*/ 57287 w 147133"/>
                <a:gd name="connsiteY0" fmla="*/ 118284 h 118284"/>
                <a:gd name="connsiteX1" fmla="*/ 0 w 147133"/>
                <a:gd name="connsiteY1" fmla="*/ 64706 h 118284"/>
                <a:gd name="connsiteX2" fmla="*/ 22668 w 147133"/>
                <a:gd name="connsiteY2" fmla="*/ 40390 h 118284"/>
                <a:gd name="connsiteX3" fmla="*/ 56051 w 147133"/>
                <a:gd name="connsiteY3" fmla="*/ 71712 h 118284"/>
                <a:gd name="connsiteX4" fmla="*/ 122818 w 147133"/>
                <a:gd name="connsiteY4" fmla="*/ 0 h 118284"/>
                <a:gd name="connsiteX5" fmla="*/ 147134 w 147133"/>
                <a:gd name="connsiteY5" fmla="*/ 22668 h 11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133" h="118284">
                  <a:moveTo>
                    <a:pt x="57287" y="118284"/>
                  </a:moveTo>
                  <a:lnTo>
                    <a:pt x="0" y="64706"/>
                  </a:lnTo>
                  <a:lnTo>
                    <a:pt x="22668" y="40390"/>
                  </a:lnTo>
                  <a:lnTo>
                    <a:pt x="56051" y="71712"/>
                  </a:lnTo>
                  <a:lnTo>
                    <a:pt x="122818" y="0"/>
                  </a:lnTo>
                  <a:lnTo>
                    <a:pt x="147134" y="22668"/>
                  </a:lnTo>
                  <a:close/>
                </a:path>
              </a:pathLst>
            </a:custGeom>
            <a:solidFill>
              <a:srgbClr val="FFFFFF"/>
            </a:solidFill>
            <a:ln w="41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5" name="图形 43"/>
            <p:cNvGrpSpPr/>
            <p:nvPr/>
          </p:nvGrpSpPr>
          <p:grpSpPr>
            <a:xfrm>
              <a:off x="2119678" y="2124990"/>
              <a:ext cx="367216" cy="193293"/>
              <a:chOff x="2119678" y="2124990"/>
              <a:chExt cx="367216" cy="193293"/>
            </a:xfrm>
            <a:solidFill>
              <a:srgbClr val="FDD656"/>
            </a:solidFill>
          </p:grpSpPr>
          <p:sp>
            <p:nvSpPr>
              <p:cNvPr id="50" name="任意多边形: 形状 49"/>
              <p:cNvSpPr/>
              <p:nvPr/>
            </p:nvSpPr>
            <p:spPr>
              <a:xfrm>
                <a:off x="2119678" y="2124990"/>
                <a:ext cx="164031" cy="193293"/>
              </a:xfrm>
              <a:custGeom>
                <a:avLst/>
                <a:gdLst>
                  <a:gd name="connsiteX0" fmla="*/ 144661 w 164031"/>
                  <a:gd name="connsiteY0" fmla="*/ 0 h 193293"/>
                  <a:gd name="connsiteX1" fmla="*/ 164031 w 164031"/>
                  <a:gd name="connsiteY1" fmla="*/ 19371 h 193293"/>
                  <a:gd name="connsiteX2" fmla="*/ 164031 w 164031"/>
                  <a:gd name="connsiteY2" fmla="*/ 173923 h 193293"/>
                  <a:gd name="connsiteX3" fmla="*/ 144661 w 164031"/>
                  <a:gd name="connsiteY3" fmla="*/ 193293 h 193293"/>
                  <a:gd name="connsiteX4" fmla="*/ 9479 w 164031"/>
                  <a:gd name="connsiteY4" fmla="*/ 193293 h 193293"/>
                  <a:gd name="connsiteX5" fmla="*/ 0 w 164031"/>
                  <a:gd name="connsiteY5" fmla="*/ 183814 h 193293"/>
                  <a:gd name="connsiteX6" fmla="*/ 0 w 164031"/>
                  <a:gd name="connsiteY6" fmla="*/ 157437 h 193293"/>
                  <a:gd name="connsiteX7" fmla="*/ 125703 w 164031"/>
                  <a:gd name="connsiteY7" fmla="*/ 157437 h 193293"/>
                  <a:gd name="connsiteX8" fmla="*/ 125703 w 164031"/>
                  <a:gd name="connsiteY8" fmla="*/ 124878 h 193293"/>
                  <a:gd name="connsiteX9" fmla="*/ 19370 w 164031"/>
                  <a:gd name="connsiteY9" fmla="*/ 124878 h 193293"/>
                  <a:gd name="connsiteX10" fmla="*/ 0 w 164031"/>
                  <a:gd name="connsiteY10" fmla="*/ 105508 h 193293"/>
                  <a:gd name="connsiteX11" fmla="*/ 0 w 164031"/>
                  <a:gd name="connsiteY11" fmla="*/ 19783 h 193293"/>
                  <a:gd name="connsiteX12" fmla="*/ 19370 w 164031"/>
                  <a:gd name="connsiteY12" fmla="*/ 412 h 193293"/>
                  <a:gd name="connsiteX13" fmla="*/ 144661 w 164031"/>
                  <a:gd name="connsiteY13" fmla="*/ 412 h 193293"/>
                  <a:gd name="connsiteX14" fmla="*/ 125290 w 164031"/>
                  <a:gd name="connsiteY14" fmla="*/ 88198 h 193293"/>
                  <a:gd name="connsiteX15" fmla="*/ 125290 w 164031"/>
                  <a:gd name="connsiteY15" fmla="*/ 36268 h 193293"/>
                  <a:gd name="connsiteX16" fmla="*/ 38329 w 164031"/>
                  <a:gd name="connsiteY16" fmla="*/ 36268 h 193293"/>
                  <a:gd name="connsiteX17" fmla="*/ 38329 w 164031"/>
                  <a:gd name="connsiteY17" fmla="*/ 88198 h 193293"/>
                  <a:gd name="connsiteX18" fmla="*/ 125290 w 164031"/>
                  <a:gd name="connsiteY18" fmla="*/ 88198 h 193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4031" h="193293">
                    <a:moveTo>
                      <a:pt x="144661" y="0"/>
                    </a:moveTo>
                    <a:lnTo>
                      <a:pt x="164031" y="19371"/>
                    </a:lnTo>
                    <a:lnTo>
                      <a:pt x="164031" y="173923"/>
                    </a:lnTo>
                    <a:lnTo>
                      <a:pt x="144661" y="193293"/>
                    </a:lnTo>
                    <a:lnTo>
                      <a:pt x="9479" y="193293"/>
                    </a:lnTo>
                    <a:lnTo>
                      <a:pt x="0" y="183814"/>
                    </a:lnTo>
                    <a:lnTo>
                      <a:pt x="0" y="157437"/>
                    </a:lnTo>
                    <a:lnTo>
                      <a:pt x="125703" y="157437"/>
                    </a:lnTo>
                    <a:lnTo>
                      <a:pt x="125703" y="124878"/>
                    </a:lnTo>
                    <a:lnTo>
                      <a:pt x="19370" y="124878"/>
                    </a:lnTo>
                    <a:lnTo>
                      <a:pt x="0" y="105508"/>
                    </a:lnTo>
                    <a:lnTo>
                      <a:pt x="0" y="19783"/>
                    </a:lnTo>
                    <a:lnTo>
                      <a:pt x="19370" y="412"/>
                    </a:lnTo>
                    <a:lnTo>
                      <a:pt x="144661" y="412"/>
                    </a:lnTo>
                    <a:close/>
                    <a:moveTo>
                      <a:pt x="125290" y="88198"/>
                    </a:moveTo>
                    <a:lnTo>
                      <a:pt x="125290" y="36268"/>
                    </a:lnTo>
                    <a:lnTo>
                      <a:pt x="38329" y="36268"/>
                    </a:lnTo>
                    <a:lnTo>
                      <a:pt x="38329" y="88198"/>
                    </a:lnTo>
                    <a:lnTo>
                      <a:pt x="125290" y="88198"/>
                    </a:lnTo>
                    <a:close/>
                  </a:path>
                </a:pathLst>
              </a:custGeom>
              <a:solidFill>
                <a:srgbClr val="FDD656"/>
              </a:solidFill>
              <a:ln w="41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2322863" y="2124990"/>
                <a:ext cx="164031" cy="193293"/>
              </a:xfrm>
              <a:custGeom>
                <a:avLst/>
                <a:gdLst>
                  <a:gd name="connsiteX0" fmla="*/ 144661 w 164031"/>
                  <a:gd name="connsiteY0" fmla="*/ 0 h 193293"/>
                  <a:gd name="connsiteX1" fmla="*/ 164031 w 164031"/>
                  <a:gd name="connsiteY1" fmla="*/ 19371 h 193293"/>
                  <a:gd name="connsiteX2" fmla="*/ 164031 w 164031"/>
                  <a:gd name="connsiteY2" fmla="*/ 173923 h 193293"/>
                  <a:gd name="connsiteX3" fmla="*/ 144661 w 164031"/>
                  <a:gd name="connsiteY3" fmla="*/ 193293 h 193293"/>
                  <a:gd name="connsiteX4" fmla="*/ 9479 w 164031"/>
                  <a:gd name="connsiteY4" fmla="*/ 193293 h 193293"/>
                  <a:gd name="connsiteX5" fmla="*/ 0 w 164031"/>
                  <a:gd name="connsiteY5" fmla="*/ 183814 h 193293"/>
                  <a:gd name="connsiteX6" fmla="*/ 0 w 164031"/>
                  <a:gd name="connsiteY6" fmla="*/ 157437 h 193293"/>
                  <a:gd name="connsiteX7" fmla="*/ 125703 w 164031"/>
                  <a:gd name="connsiteY7" fmla="*/ 157437 h 193293"/>
                  <a:gd name="connsiteX8" fmla="*/ 125703 w 164031"/>
                  <a:gd name="connsiteY8" fmla="*/ 124878 h 193293"/>
                  <a:gd name="connsiteX9" fmla="*/ 19371 w 164031"/>
                  <a:gd name="connsiteY9" fmla="*/ 124878 h 193293"/>
                  <a:gd name="connsiteX10" fmla="*/ 0 w 164031"/>
                  <a:gd name="connsiteY10" fmla="*/ 105508 h 193293"/>
                  <a:gd name="connsiteX11" fmla="*/ 0 w 164031"/>
                  <a:gd name="connsiteY11" fmla="*/ 19783 h 193293"/>
                  <a:gd name="connsiteX12" fmla="*/ 19371 w 164031"/>
                  <a:gd name="connsiteY12" fmla="*/ 412 h 193293"/>
                  <a:gd name="connsiteX13" fmla="*/ 144661 w 164031"/>
                  <a:gd name="connsiteY13" fmla="*/ 412 h 193293"/>
                  <a:gd name="connsiteX14" fmla="*/ 125290 w 164031"/>
                  <a:gd name="connsiteY14" fmla="*/ 88198 h 193293"/>
                  <a:gd name="connsiteX15" fmla="*/ 125290 w 164031"/>
                  <a:gd name="connsiteY15" fmla="*/ 36268 h 193293"/>
                  <a:gd name="connsiteX16" fmla="*/ 38329 w 164031"/>
                  <a:gd name="connsiteY16" fmla="*/ 36268 h 193293"/>
                  <a:gd name="connsiteX17" fmla="*/ 38329 w 164031"/>
                  <a:gd name="connsiteY17" fmla="*/ 88198 h 193293"/>
                  <a:gd name="connsiteX18" fmla="*/ 125290 w 164031"/>
                  <a:gd name="connsiteY18" fmla="*/ 88198 h 193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4031" h="193293">
                    <a:moveTo>
                      <a:pt x="144661" y="0"/>
                    </a:moveTo>
                    <a:lnTo>
                      <a:pt x="164031" y="19371"/>
                    </a:lnTo>
                    <a:lnTo>
                      <a:pt x="164031" y="173923"/>
                    </a:lnTo>
                    <a:lnTo>
                      <a:pt x="144661" y="193293"/>
                    </a:lnTo>
                    <a:lnTo>
                      <a:pt x="9479" y="193293"/>
                    </a:lnTo>
                    <a:lnTo>
                      <a:pt x="0" y="183814"/>
                    </a:lnTo>
                    <a:lnTo>
                      <a:pt x="0" y="157437"/>
                    </a:lnTo>
                    <a:lnTo>
                      <a:pt x="125703" y="157437"/>
                    </a:lnTo>
                    <a:lnTo>
                      <a:pt x="125703" y="124878"/>
                    </a:lnTo>
                    <a:lnTo>
                      <a:pt x="19371" y="124878"/>
                    </a:lnTo>
                    <a:lnTo>
                      <a:pt x="0" y="105508"/>
                    </a:lnTo>
                    <a:lnTo>
                      <a:pt x="0" y="19783"/>
                    </a:lnTo>
                    <a:lnTo>
                      <a:pt x="19371" y="412"/>
                    </a:lnTo>
                    <a:lnTo>
                      <a:pt x="144661" y="412"/>
                    </a:lnTo>
                    <a:close/>
                    <a:moveTo>
                      <a:pt x="125290" y="88198"/>
                    </a:moveTo>
                    <a:lnTo>
                      <a:pt x="125290" y="36268"/>
                    </a:lnTo>
                    <a:lnTo>
                      <a:pt x="38329" y="36268"/>
                    </a:lnTo>
                    <a:lnTo>
                      <a:pt x="38329" y="88198"/>
                    </a:lnTo>
                    <a:lnTo>
                      <a:pt x="125290" y="88198"/>
                    </a:lnTo>
                    <a:close/>
                  </a:path>
                </a:pathLst>
              </a:custGeom>
              <a:solidFill>
                <a:srgbClr val="FDD656"/>
              </a:solidFill>
              <a:ln w="41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" name="图形 43"/>
            <p:cNvGrpSpPr/>
            <p:nvPr/>
          </p:nvGrpSpPr>
          <p:grpSpPr>
            <a:xfrm>
              <a:off x="2947254" y="1834020"/>
              <a:ext cx="439752" cy="321056"/>
              <a:chOff x="2947254" y="1834020"/>
              <a:chExt cx="439752" cy="321056"/>
            </a:xfrm>
            <a:solidFill>
              <a:srgbClr val="FFFFFF"/>
            </a:solidFill>
          </p:grpSpPr>
          <p:sp>
            <p:nvSpPr>
              <p:cNvPr id="47" name="任意多边形: 形状 46"/>
              <p:cNvSpPr/>
              <p:nvPr/>
            </p:nvSpPr>
            <p:spPr>
              <a:xfrm>
                <a:off x="2947254" y="1834020"/>
                <a:ext cx="439752" cy="61820"/>
              </a:xfrm>
              <a:custGeom>
                <a:avLst/>
                <a:gdLst>
                  <a:gd name="connsiteX0" fmla="*/ 408842 w 439752"/>
                  <a:gd name="connsiteY0" fmla="*/ 61821 h 61820"/>
                  <a:gd name="connsiteX1" fmla="*/ 30910 w 439752"/>
                  <a:gd name="connsiteY1" fmla="*/ 61821 h 61820"/>
                  <a:gd name="connsiteX2" fmla="*/ 0 w 439752"/>
                  <a:gd name="connsiteY2" fmla="*/ 30910 h 61820"/>
                  <a:gd name="connsiteX3" fmla="*/ 30910 w 439752"/>
                  <a:gd name="connsiteY3" fmla="*/ 0 h 61820"/>
                  <a:gd name="connsiteX4" fmla="*/ 408842 w 439752"/>
                  <a:gd name="connsiteY4" fmla="*/ 0 h 61820"/>
                  <a:gd name="connsiteX5" fmla="*/ 439753 w 439752"/>
                  <a:gd name="connsiteY5" fmla="*/ 30910 h 61820"/>
                  <a:gd name="connsiteX6" fmla="*/ 408842 w 439752"/>
                  <a:gd name="connsiteY6" fmla="*/ 61821 h 61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9752" h="61820">
                    <a:moveTo>
                      <a:pt x="408842" y="61821"/>
                    </a:moveTo>
                    <a:lnTo>
                      <a:pt x="30910" y="61821"/>
                    </a:lnTo>
                    <a:cubicBezTo>
                      <a:pt x="14013" y="61821"/>
                      <a:pt x="0" y="47808"/>
                      <a:pt x="0" y="30910"/>
                    </a:cubicBezTo>
                    <a:cubicBezTo>
                      <a:pt x="0" y="14013"/>
                      <a:pt x="14013" y="0"/>
                      <a:pt x="30910" y="0"/>
                    </a:cubicBezTo>
                    <a:lnTo>
                      <a:pt x="408842" y="0"/>
                    </a:lnTo>
                    <a:cubicBezTo>
                      <a:pt x="425740" y="0"/>
                      <a:pt x="439753" y="14013"/>
                      <a:pt x="439753" y="30910"/>
                    </a:cubicBezTo>
                    <a:cubicBezTo>
                      <a:pt x="439753" y="47808"/>
                      <a:pt x="426152" y="61821"/>
                      <a:pt x="408842" y="618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2947254" y="1963432"/>
                <a:ext cx="439752" cy="61820"/>
              </a:xfrm>
              <a:custGeom>
                <a:avLst/>
                <a:gdLst>
                  <a:gd name="connsiteX0" fmla="*/ 408842 w 439752"/>
                  <a:gd name="connsiteY0" fmla="*/ 61821 h 61820"/>
                  <a:gd name="connsiteX1" fmla="*/ 30910 w 439752"/>
                  <a:gd name="connsiteY1" fmla="*/ 61821 h 61820"/>
                  <a:gd name="connsiteX2" fmla="*/ 0 w 439752"/>
                  <a:gd name="connsiteY2" fmla="*/ 30910 h 61820"/>
                  <a:gd name="connsiteX3" fmla="*/ 30910 w 439752"/>
                  <a:gd name="connsiteY3" fmla="*/ 0 h 61820"/>
                  <a:gd name="connsiteX4" fmla="*/ 408842 w 439752"/>
                  <a:gd name="connsiteY4" fmla="*/ 0 h 61820"/>
                  <a:gd name="connsiteX5" fmla="*/ 439753 w 439752"/>
                  <a:gd name="connsiteY5" fmla="*/ 30910 h 61820"/>
                  <a:gd name="connsiteX6" fmla="*/ 408842 w 439752"/>
                  <a:gd name="connsiteY6" fmla="*/ 61821 h 61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9752" h="61820">
                    <a:moveTo>
                      <a:pt x="408842" y="61821"/>
                    </a:moveTo>
                    <a:lnTo>
                      <a:pt x="30910" y="61821"/>
                    </a:lnTo>
                    <a:cubicBezTo>
                      <a:pt x="14013" y="61821"/>
                      <a:pt x="0" y="47808"/>
                      <a:pt x="0" y="30910"/>
                    </a:cubicBezTo>
                    <a:cubicBezTo>
                      <a:pt x="0" y="14013"/>
                      <a:pt x="14013" y="0"/>
                      <a:pt x="30910" y="0"/>
                    </a:cubicBezTo>
                    <a:lnTo>
                      <a:pt x="408842" y="0"/>
                    </a:lnTo>
                    <a:cubicBezTo>
                      <a:pt x="425740" y="0"/>
                      <a:pt x="439753" y="14013"/>
                      <a:pt x="439753" y="30910"/>
                    </a:cubicBezTo>
                    <a:cubicBezTo>
                      <a:pt x="439753" y="47808"/>
                      <a:pt x="426152" y="61821"/>
                      <a:pt x="408842" y="618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2947254" y="2093256"/>
                <a:ext cx="241925" cy="61821"/>
              </a:xfrm>
              <a:custGeom>
                <a:avLst/>
                <a:gdLst>
                  <a:gd name="connsiteX0" fmla="*/ 211015 w 241925"/>
                  <a:gd name="connsiteY0" fmla="*/ 61821 h 61821"/>
                  <a:gd name="connsiteX1" fmla="*/ 30910 w 241925"/>
                  <a:gd name="connsiteY1" fmla="*/ 61821 h 61821"/>
                  <a:gd name="connsiteX2" fmla="*/ 0 w 241925"/>
                  <a:gd name="connsiteY2" fmla="*/ 30911 h 61821"/>
                  <a:gd name="connsiteX3" fmla="*/ 30910 w 241925"/>
                  <a:gd name="connsiteY3" fmla="*/ 0 h 61821"/>
                  <a:gd name="connsiteX4" fmla="*/ 211015 w 241925"/>
                  <a:gd name="connsiteY4" fmla="*/ 0 h 61821"/>
                  <a:gd name="connsiteX5" fmla="*/ 241926 w 241925"/>
                  <a:gd name="connsiteY5" fmla="*/ 30911 h 61821"/>
                  <a:gd name="connsiteX6" fmla="*/ 211015 w 241925"/>
                  <a:gd name="connsiteY6" fmla="*/ 61821 h 61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925" h="61821">
                    <a:moveTo>
                      <a:pt x="211015" y="61821"/>
                    </a:moveTo>
                    <a:lnTo>
                      <a:pt x="30910" y="61821"/>
                    </a:lnTo>
                    <a:cubicBezTo>
                      <a:pt x="14013" y="61821"/>
                      <a:pt x="0" y="47808"/>
                      <a:pt x="0" y="30911"/>
                    </a:cubicBezTo>
                    <a:cubicBezTo>
                      <a:pt x="0" y="14013"/>
                      <a:pt x="14013" y="0"/>
                      <a:pt x="30910" y="0"/>
                    </a:cubicBezTo>
                    <a:lnTo>
                      <a:pt x="211015" y="0"/>
                    </a:lnTo>
                    <a:cubicBezTo>
                      <a:pt x="227913" y="0"/>
                      <a:pt x="241926" y="14013"/>
                      <a:pt x="241926" y="30911"/>
                    </a:cubicBezTo>
                    <a:cubicBezTo>
                      <a:pt x="241926" y="47808"/>
                      <a:pt x="227913" y="61821"/>
                      <a:pt x="211015" y="618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2" name="图片 1" descr="govee_b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80795" y="1265555"/>
            <a:ext cx="431038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全生命周期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管理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1015" y="2084070"/>
            <a:ext cx="595249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indent="0">
              <a:buClr>
                <a:schemeClr val="accent2"/>
              </a:buClr>
              <a:buFont typeface="MiSans Light" panose="00000400000000000000" charset="-122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在智能硬件行业，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的全生命周期管理是指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从产品概念规划到退市清仓的完整过程中，通过系统性策略和动态资源调配，实现产品商业价值最大化并规避经营风险的管理模式。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0">
              <a:buClr>
                <a:schemeClr val="accent2"/>
              </a:buClr>
              <a:buFont typeface="MiSans Light" panose="00000400000000000000" charset="-122"/>
              <a:buNone/>
            </a:pP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0">
              <a:buClr>
                <a:schemeClr val="accent2"/>
              </a:buClr>
              <a:buFont typeface="MiSans Light" panose="00000400000000000000" charset="-122"/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让产品在正确的时间、以正确的形态、出现在正确的市场</a:t>
            </a:r>
            <a:endParaRPr lang="zh-CN" altLang="en-US" sz="1800" b="1" dirty="0">
              <a:solidFill>
                <a:schemeClr val="accent2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1498600" y="3451860"/>
          <a:ext cx="7216775" cy="3194685"/>
        </p:xfrm>
        <a:graphic>
          <a:graphicData uri="http://schemas.openxmlformats.org/drawingml/2006/table">
            <a:tbl>
              <a:tblPr/>
              <a:tblGrid>
                <a:gridCol w="1240155"/>
                <a:gridCol w="2844800"/>
                <a:gridCol w="3131820"/>
              </a:tblGrid>
              <a:tr h="368300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  <a:endParaRPr lang="zh-CN" altLang="en-US" sz="1400" b="1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关键任务</a:t>
                      </a:r>
                      <a:endParaRPr lang="zh-CN" altLang="en-US" sz="1400" b="1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典型工具</a:t>
                      </a:r>
                      <a:r>
                        <a:rPr lang="en-US" altLang="zh-CN" sz="1400" b="1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1400" b="1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  <a:endParaRPr lang="zh-CN" altLang="en-US" sz="1400" b="1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 </a:t>
                      </a:r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规划期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验证市场需求、定义产品定位、制定商业可行性方案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波特五力分析、</a:t>
                      </a:r>
                      <a:r>
                        <a:rPr lang="en-US" alt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PEST</a:t>
                      </a:r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分析、用户画像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597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 </a:t>
                      </a:r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开发期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协调研发与供应链资源，确保产品设计与市场需求对齐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IPD</a:t>
                      </a:r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（集成产品开发）流程、</a:t>
                      </a:r>
                      <a:r>
                        <a:rPr lang="en-US" alt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IPMS</a:t>
                      </a:r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（集成产品营销与销售）流程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 </a:t>
                      </a:r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上市期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定价策略、渠道铺货、营销引爆、首销目标达成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4P</a:t>
                      </a:r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策略矩阵、</a:t>
                      </a:r>
                      <a:r>
                        <a:rPr lang="en-US" alt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A/B</a:t>
                      </a:r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测试、</a:t>
                      </a:r>
                      <a:r>
                        <a:rPr lang="en-US" alt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S&amp;OP</a:t>
                      </a:r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（销售与运营计划）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308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 </a:t>
                      </a:r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成熟期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动态调整促销策略、优化库存周转、阻击竞品冲击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价格弹性模型、</a:t>
                      </a:r>
                      <a:r>
                        <a:rPr lang="en-US" alt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BCG</a:t>
                      </a:r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矩阵、渠道健康度诊断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5. </a:t>
                      </a:r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退市期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清理库存、回收残值、维护用户口碑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反向物流系统、以旧换新计划、停产风险评估</a:t>
                      </a:r>
                      <a:endParaRPr lang="zh-CN" altLang="en-US" sz="1400" b="0" i="0">
                        <a:solidFill>
                          <a:srgbClr val="40404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9297670" y="3188335"/>
            <a:ext cx="1897380" cy="3459480"/>
            <a:chOff x="14977" y="5021"/>
            <a:chExt cx="2988" cy="5448"/>
          </a:xfrm>
        </p:grpSpPr>
        <p:sp>
          <p:nvSpPr>
            <p:cNvPr id="7" name="矩形 6"/>
            <p:cNvSpPr/>
            <p:nvPr/>
          </p:nvSpPr>
          <p:spPr>
            <a:xfrm>
              <a:off x="14977" y="5021"/>
              <a:ext cx="2988" cy="1516"/>
            </a:xfrm>
            <a:prstGeom prst="rect">
              <a:avLst/>
            </a:prstGeom>
            <a:solidFill>
              <a:schemeClr val="accent1"/>
            </a:solidFill>
          </p:spPr>
          <p:style>
            <a:lnRef idx="0">
              <a:srgbClr val="FFFFFF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技术迭代与市场需求的动态平衡</a:t>
              </a:r>
              <a:endParaRPr lang="zh-CN" altLang="en-US" sz="1600">
                <a:solidFill>
                  <a:schemeClr val="bg1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4977" y="6987"/>
              <a:ext cx="2988" cy="1516"/>
            </a:xfrm>
            <a:prstGeom prst="rect">
              <a:avLst/>
            </a:prstGeom>
            <a:solidFill>
              <a:schemeClr val="accent1"/>
            </a:solidFill>
          </p:spPr>
          <p:style>
            <a:lnRef idx="0">
              <a:srgbClr val="FFFFFF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供应链波动与库存风险</a:t>
              </a:r>
              <a:endParaRPr lang="zh-CN" altLang="en-US" sz="1600">
                <a:solidFill>
                  <a:schemeClr val="bg1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4977" y="8953"/>
              <a:ext cx="2988" cy="1516"/>
            </a:xfrm>
            <a:prstGeom prst="rect">
              <a:avLst/>
            </a:prstGeom>
            <a:solidFill>
              <a:schemeClr val="accent1"/>
            </a:solidFill>
          </p:spPr>
          <p:style>
            <a:lnRef idx="0">
              <a:srgbClr val="FFFFFF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价格体系维护与渠道冲突</a:t>
              </a:r>
              <a:endParaRPr lang="zh-CN" altLang="en-US" sz="1600">
                <a:solidFill>
                  <a:schemeClr val="bg1"/>
                </a:solidFill>
                <a:latin typeface="微软雅黑" charset="0"/>
                <a:ea typeface="微软雅黑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1087755" y="5038090"/>
            <a:ext cx="4709160" cy="1191260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/>
          <p:nvPr/>
        </p:nvSpPr>
        <p:spPr>
          <a:xfrm rot="12019411">
            <a:off x="8050084" y="-615150"/>
            <a:ext cx="4589130" cy="2080844"/>
          </a:xfrm>
          <a:custGeom>
            <a:avLst/>
            <a:gdLst>
              <a:gd name="connsiteX0" fmla="*/ 4589130 w 4589130"/>
              <a:gd name="connsiteY0" fmla="*/ 644071 h 2080844"/>
              <a:gd name="connsiteX1" fmla="*/ 709924 w 4589130"/>
              <a:gd name="connsiteY1" fmla="*/ 2080844 h 2080844"/>
              <a:gd name="connsiteX2" fmla="*/ 0 w 4589130"/>
              <a:gd name="connsiteY2" fmla="*/ 164088 h 2080844"/>
              <a:gd name="connsiteX3" fmla="*/ 104369 w 4589130"/>
              <a:gd name="connsiteY3" fmla="*/ 134103 h 2080844"/>
              <a:gd name="connsiteX4" fmla="*/ 2724217 w 4589130"/>
              <a:gd name="connsiteY4" fmla="*/ 115788 h 2080844"/>
              <a:gd name="connsiteX5" fmla="*/ 4536823 w 4589130"/>
              <a:gd name="connsiteY5" fmla="*/ 618337 h 2080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89130" h="2080844">
                <a:moveTo>
                  <a:pt x="4589130" y="644071"/>
                </a:moveTo>
                <a:lnTo>
                  <a:pt x="709924" y="2080844"/>
                </a:lnTo>
                <a:lnTo>
                  <a:pt x="0" y="164088"/>
                </a:lnTo>
                <a:lnTo>
                  <a:pt x="104369" y="134103"/>
                </a:lnTo>
                <a:cubicBezTo>
                  <a:pt x="968008" y="-74620"/>
                  <a:pt x="2051606" y="-6865"/>
                  <a:pt x="2724217" y="115788"/>
                </a:cubicBezTo>
                <a:cubicBezTo>
                  <a:pt x="3247360" y="211184"/>
                  <a:pt x="3932060" y="347183"/>
                  <a:pt x="4536823" y="618337"/>
                </a:cubicBez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rot="762190">
            <a:off x="-252161" y="5534794"/>
            <a:ext cx="1952100" cy="1467965"/>
          </a:xfrm>
          <a:custGeom>
            <a:avLst/>
            <a:gdLst>
              <a:gd name="connsiteX0" fmla="*/ 0 w 2356470"/>
              <a:gd name="connsiteY0" fmla="*/ 0 h 1772048"/>
              <a:gd name="connsiteX1" fmla="*/ 121145 w 2356470"/>
              <a:gd name="connsiteY1" fmla="*/ 27252 h 1772048"/>
              <a:gd name="connsiteX2" fmla="*/ 2276686 w 2356470"/>
              <a:gd name="connsiteY2" fmla="*/ 1199704 h 1772048"/>
              <a:gd name="connsiteX3" fmla="*/ 2356470 w 2356470"/>
              <a:gd name="connsiteY3" fmla="*/ 1330901 h 1772048"/>
              <a:gd name="connsiteX4" fmla="*/ 399451 w 2356470"/>
              <a:gd name="connsiteY4" fmla="*/ 1772048 h 177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6470" h="1772048">
                <a:moveTo>
                  <a:pt x="0" y="0"/>
                </a:moveTo>
                <a:lnTo>
                  <a:pt x="121145" y="27252"/>
                </a:lnTo>
                <a:cubicBezTo>
                  <a:pt x="914771" y="216979"/>
                  <a:pt x="1804374" y="540811"/>
                  <a:pt x="2276686" y="1199704"/>
                </a:cubicBezTo>
                <a:lnTo>
                  <a:pt x="2356470" y="1330901"/>
                </a:lnTo>
                <a:lnTo>
                  <a:pt x="399451" y="1772048"/>
                </a:ln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46100" y="502972"/>
            <a:ext cx="476865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全渠道拓展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战略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9964568" y="4952566"/>
            <a:ext cx="1711495" cy="1120428"/>
            <a:chOff x="9872859" y="4832998"/>
            <a:chExt cx="1711495" cy="1120428"/>
          </a:xfrm>
        </p:grpSpPr>
        <p:sp>
          <p:nvSpPr>
            <p:cNvPr id="48" name="任意多边形: 形状 47"/>
            <p:cNvSpPr/>
            <p:nvPr/>
          </p:nvSpPr>
          <p:spPr>
            <a:xfrm>
              <a:off x="9872859" y="4951151"/>
              <a:ext cx="1711495" cy="1002275"/>
            </a:xfrm>
            <a:custGeom>
              <a:avLst/>
              <a:gdLst>
                <a:gd name="connsiteX0" fmla="*/ 1596795 w 1711495"/>
                <a:gd name="connsiteY0" fmla="*/ 1002276 h 1002275"/>
                <a:gd name="connsiteX1" fmla="*/ 114700 w 1711495"/>
                <a:gd name="connsiteY1" fmla="*/ 1002276 h 1002275"/>
                <a:gd name="connsiteX2" fmla="*/ 0 w 1711495"/>
                <a:gd name="connsiteY2" fmla="*/ 887575 h 1002275"/>
                <a:gd name="connsiteX3" fmla="*/ 0 w 1711495"/>
                <a:gd name="connsiteY3" fmla="*/ 114700 h 1002275"/>
                <a:gd name="connsiteX4" fmla="*/ 114700 w 1711495"/>
                <a:gd name="connsiteY4" fmla="*/ 0 h 1002275"/>
                <a:gd name="connsiteX5" fmla="*/ 1596795 w 1711495"/>
                <a:gd name="connsiteY5" fmla="*/ 0 h 1002275"/>
                <a:gd name="connsiteX6" fmla="*/ 1711495 w 1711495"/>
                <a:gd name="connsiteY6" fmla="*/ 114700 h 1002275"/>
                <a:gd name="connsiteX7" fmla="*/ 1711495 w 1711495"/>
                <a:gd name="connsiteY7" fmla="*/ 888176 h 1002275"/>
                <a:gd name="connsiteX8" fmla="*/ 1596795 w 1711495"/>
                <a:gd name="connsiteY8" fmla="*/ 1002276 h 100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1495" h="1002275">
                  <a:moveTo>
                    <a:pt x="1596795" y="1002276"/>
                  </a:moveTo>
                  <a:lnTo>
                    <a:pt x="114700" y="1002276"/>
                  </a:lnTo>
                  <a:cubicBezTo>
                    <a:pt x="51645" y="1002276"/>
                    <a:pt x="0" y="951231"/>
                    <a:pt x="0" y="887575"/>
                  </a:cubicBezTo>
                  <a:lnTo>
                    <a:pt x="0" y="114700"/>
                  </a:lnTo>
                  <a:cubicBezTo>
                    <a:pt x="0" y="51045"/>
                    <a:pt x="51645" y="0"/>
                    <a:pt x="114700" y="0"/>
                  </a:cubicBezTo>
                  <a:lnTo>
                    <a:pt x="1596795" y="0"/>
                  </a:lnTo>
                  <a:cubicBezTo>
                    <a:pt x="1660450" y="0"/>
                    <a:pt x="1711495" y="51645"/>
                    <a:pt x="1711495" y="114700"/>
                  </a:cubicBezTo>
                  <a:lnTo>
                    <a:pt x="1711495" y="888176"/>
                  </a:lnTo>
                  <a:cubicBezTo>
                    <a:pt x="1711495" y="951231"/>
                    <a:pt x="1659850" y="1002276"/>
                    <a:pt x="1596795" y="1002276"/>
                  </a:cubicBezTo>
                  <a:close/>
                </a:path>
              </a:pathLst>
            </a:custGeom>
            <a:solidFill>
              <a:srgbClr val="EBECF5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9872859" y="4950550"/>
              <a:ext cx="1711495" cy="408957"/>
            </a:xfrm>
            <a:custGeom>
              <a:avLst/>
              <a:gdLst>
                <a:gd name="connsiteX0" fmla="*/ 1596795 w 1711495"/>
                <a:gd name="connsiteY0" fmla="*/ 0 h 408957"/>
                <a:gd name="connsiteX1" fmla="*/ 114700 w 1711495"/>
                <a:gd name="connsiteY1" fmla="*/ 0 h 408957"/>
                <a:gd name="connsiteX2" fmla="*/ 0 w 1711495"/>
                <a:gd name="connsiteY2" fmla="*/ 115301 h 408957"/>
                <a:gd name="connsiteX3" fmla="*/ 0 w 1711495"/>
                <a:gd name="connsiteY3" fmla="*/ 408957 h 408957"/>
                <a:gd name="connsiteX4" fmla="*/ 1711495 w 1711495"/>
                <a:gd name="connsiteY4" fmla="*/ 408957 h 408957"/>
                <a:gd name="connsiteX5" fmla="*/ 1711495 w 1711495"/>
                <a:gd name="connsiteY5" fmla="*/ 115301 h 408957"/>
                <a:gd name="connsiteX6" fmla="*/ 1596795 w 1711495"/>
                <a:gd name="connsiteY6" fmla="*/ 0 h 408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1495" h="408957">
                  <a:moveTo>
                    <a:pt x="1596795" y="0"/>
                  </a:moveTo>
                  <a:lnTo>
                    <a:pt x="114700" y="0"/>
                  </a:lnTo>
                  <a:cubicBezTo>
                    <a:pt x="51645" y="0"/>
                    <a:pt x="0" y="51645"/>
                    <a:pt x="0" y="115301"/>
                  </a:cubicBezTo>
                  <a:lnTo>
                    <a:pt x="0" y="408957"/>
                  </a:lnTo>
                  <a:lnTo>
                    <a:pt x="1711495" y="408957"/>
                  </a:lnTo>
                  <a:lnTo>
                    <a:pt x="1711495" y="115301"/>
                  </a:lnTo>
                  <a:cubicBezTo>
                    <a:pt x="1711495" y="51645"/>
                    <a:pt x="1659850" y="0"/>
                    <a:pt x="1596795" y="0"/>
                  </a:cubicBezTo>
                  <a:close/>
                </a:path>
              </a:pathLst>
            </a:custGeom>
            <a:solidFill>
              <a:srgbClr val="6864E8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9992963" y="5064650"/>
              <a:ext cx="558487" cy="60052"/>
            </a:xfrm>
            <a:custGeom>
              <a:avLst/>
              <a:gdLst>
                <a:gd name="connsiteX0" fmla="*/ 528462 w 558487"/>
                <a:gd name="connsiteY0" fmla="*/ 60052 h 60052"/>
                <a:gd name="connsiteX1" fmla="*/ 30026 w 558487"/>
                <a:gd name="connsiteY1" fmla="*/ 60052 h 60052"/>
                <a:gd name="connsiteX2" fmla="*/ 0 w 558487"/>
                <a:gd name="connsiteY2" fmla="*/ 30026 h 60052"/>
                <a:gd name="connsiteX3" fmla="*/ 30026 w 558487"/>
                <a:gd name="connsiteY3" fmla="*/ 0 h 60052"/>
                <a:gd name="connsiteX4" fmla="*/ 528462 w 558487"/>
                <a:gd name="connsiteY4" fmla="*/ 0 h 60052"/>
                <a:gd name="connsiteX5" fmla="*/ 558488 w 558487"/>
                <a:gd name="connsiteY5" fmla="*/ 30026 h 60052"/>
                <a:gd name="connsiteX6" fmla="*/ 528462 w 558487"/>
                <a:gd name="connsiteY6" fmla="*/ 60052 h 6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8487" h="60052">
                  <a:moveTo>
                    <a:pt x="528462" y="60052"/>
                  </a:moveTo>
                  <a:lnTo>
                    <a:pt x="30026" y="60052"/>
                  </a:lnTo>
                  <a:cubicBezTo>
                    <a:pt x="13212" y="60052"/>
                    <a:pt x="0" y="46841"/>
                    <a:pt x="0" y="30026"/>
                  </a:cubicBezTo>
                  <a:cubicBezTo>
                    <a:pt x="0" y="13212"/>
                    <a:pt x="13212" y="0"/>
                    <a:pt x="30026" y="0"/>
                  </a:cubicBezTo>
                  <a:lnTo>
                    <a:pt x="528462" y="0"/>
                  </a:lnTo>
                  <a:cubicBezTo>
                    <a:pt x="545276" y="0"/>
                    <a:pt x="558488" y="13212"/>
                    <a:pt x="558488" y="30026"/>
                  </a:cubicBezTo>
                  <a:cubicBezTo>
                    <a:pt x="558488" y="46841"/>
                    <a:pt x="545276" y="60052"/>
                    <a:pt x="528462" y="60052"/>
                  </a:cubicBezTo>
                  <a:close/>
                </a:path>
              </a:pathLst>
            </a:custGeom>
            <a:solidFill>
              <a:srgbClr val="FFFFFF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9992963" y="5196765"/>
              <a:ext cx="228199" cy="60052"/>
            </a:xfrm>
            <a:custGeom>
              <a:avLst/>
              <a:gdLst>
                <a:gd name="connsiteX0" fmla="*/ 198173 w 228199"/>
                <a:gd name="connsiteY0" fmla="*/ 60052 h 60052"/>
                <a:gd name="connsiteX1" fmla="*/ 30026 w 228199"/>
                <a:gd name="connsiteY1" fmla="*/ 60052 h 60052"/>
                <a:gd name="connsiteX2" fmla="*/ 0 w 228199"/>
                <a:gd name="connsiteY2" fmla="*/ 30026 h 60052"/>
                <a:gd name="connsiteX3" fmla="*/ 30026 w 228199"/>
                <a:gd name="connsiteY3" fmla="*/ 0 h 60052"/>
                <a:gd name="connsiteX4" fmla="*/ 198173 w 228199"/>
                <a:gd name="connsiteY4" fmla="*/ 0 h 60052"/>
                <a:gd name="connsiteX5" fmla="*/ 228199 w 228199"/>
                <a:gd name="connsiteY5" fmla="*/ 30026 h 60052"/>
                <a:gd name="connsiteX6" fmla="*/ 198173 w 228199"/>
                <a:gd name="connsiteY6" fmla="*/ 60052 h 6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199" h="60052">
                  <a:moveTo>
                    <a:pt x="198173" y="60052"/>
                  </a:moveTo>
                  <a:lnTo>
                    <a:pt x="30026" y="60052"/>
                  </a:lnTo>
                  <a:cubicBezTo>
                    <a:pt x="13212" y="60052"/>
                    <a:pt x="0" y="46841"/>
                    <a:pt x="0" y="30026"/>
                  </a:cubicBezTo>
                  <a:cubicBezTo>
                    <a:pt x="0" y="13212"/>
                    <a:pt x="13212" y="0"/>
                    <a:pt x="30026" y="0"/>
                  </a:cubicBezTo>
                  <a:lnTo>
                    <a:pt x="198173" y="0"/>
                  </a:lnTo>
                  <a:cubicBezTo>
                    <a:pt x="214988" y="0"/>
                    <a:pt x="228199" y="13212"/>
                    <a:pt x="228199" y="30026"/>
                  </a:cubicBezTo>
                  <a:cubicBezTo>
                    <a:pt x="228199" y="46841"/>
                    <a:pt x="214988" y="60052"/>
                    <a:pt x="198173" y="60052"/>
                  </a:cubicBezTo>
                  <a:close/>
                </a:path>
              </a:pathLst>
            </a:custGeom>
            <a:solidFill>
              <a:srgbClr val="FFFFFF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1368165" y="5058645"/>
              <a:ext cx="72062" cy="72062"/>
            </a:xfrm>
            <a:custGeom>
              <a:avLst/>
              <a:gdLst>
                <a:gd name="connsiteX0" fmla="*/ 72063 w 72062"/>
                <a:gd name="connsiteY0" fmla="*/ 36031 h 72062"/>
                <a:gd name="connsiteX1" fmla="*/ 36031 w 72062"/>
                <a:gd name="connsiteY1" fmla="*/ 72063 h 72062"/>
                <a:gd name="connsiteX2" fmla="*/ 0 w 72062"/>
                <a:gd name="connsiteY2" fmla="*/ 36031 h 72062"/>
                <a:gd name="connsiteX3" fmla="*/ 36031 w 72062"/>
                <a:gd name="connsiteY3" fmla="*/ 0 h 72062"/>
                <a:gd name="connsiteX4" fmla="*/ 72063 w 72062"/>
                <a:gd name="connsiteY4" fmla="*/ 36031 h 72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62" h="72062">
                  <a:moveTo>
                    <a:pt x="72063" y="36031"/>
                  </a:moveTo>
                  <a:cubicBezTo>
                    <a:pt x="72063" y="55931"/>
                    <a:pt x="55931" y="72063"/>
                    <a:pt x="36031" y="72063"/>
                  </a:cubicBezTo>
                  <a:cubicBezTo>
                    <a:pt x="16132" y="72063"/>
                    <a:pt x="0" y="55931"/>
                    <a:pt x="0" y="36031"/>
                  </a:cubicBezTo>
                  <a:cubicBezTo>
                    <a:pt x="0" y="16132"/>
                    <a:pt x="16132" y="0"/>
                    <a:pt x="36031" y="0"/>
                  </a:cubicBezTo>
                  <a:cubicBezTo>
                    <a:pt x="55931" y="0"/>
                    <a:pt x="72063" y="16132"/>
                    <a:pt x="72063" y="36031"/>
                  </a:cubicBezTo>
                  <a:close/>
                </a:path>
              </a:pathLst>
            </a:custGeom>
            <a:solidFill>
              <a:srgbClr val="FFFFFF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1368165" y="5178750"/>
              <a:ext cx="72062" cy="72062"/>
            </a:xfrm>
            <a:custGeom>
              <a:avLst/>
              <a:gdLst>
                <a:gd name="connsiteX0" fmla="*/ 72063 w 72062"/>
                <a:gd name="connsiteY0" fmla="*/ 36031 h 72062"/>
                <a:gd name="connsiteX1" fmla="*/ 36031 w 72062"/>
                <a:gd name="connsiteY1" fmla="*/ 72063 h 72062"/>
                <a:gd name="connsiteX2" fmla="*/ 0 w 72062"/>
                <a:gd name="connsiteY2" fmla="*/ 36031 h 72062"/>
                <a:gd name="connsiteX3" fmla="*/ 36031 w 72062"/>
                <a:gd name="connsiteY3" fmla="*/ 0 h 72062"/>
                <a:gd name="connsiteX4" fmla="*/ 72063 w 72062"/>
                <a:gd name="connsiteY4" fmla="*/ 36031 h 72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62" h="72062">
                  <a:moveTo>
                    <a:pt x="72063" y="36031"/>
                  </a:moveTo>
                  <a:cubicBezTo>
                    <a:pt x="72063" y="55931"/>
                    <a:pt x="55931" y="72063"/>
                    <a:pt x="36031" y="72063"/>
                  </a:cubicBezTo>
                  <a:cubicBezTo>
                    <a:pt x="16132" y="72063"/>
                    <a:pt x="0" y="55931"/>
                    <a:pt x="0" y="36031"/>
                  </a:cubicBezTo>
                  <a:cubicBezTo>
                    <a:pt x="0" y="16132"/>
                    <a:pt x="16132" y="0"/>
                    <a:pt x="36031" y="0"/>
                  </a:cubicBezTo>
                  <a:cubicBezTo>
                    <a:pt x="55931" y="0"/>
                    <a:pt x="72063" y="16132"/>
                    <a:pt x="72063" y="36031"/>
                  </a:cubicBezTo>
                  <a:close/>
                </a:path>
              </a:pathLst>
            </a:custGeom>
            <a:solidFill>
              <a:srgbClr val="FFFFFF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10603096" y="4832998"/>
              <a:ext cx="263630" cy="252670"/>
            </a:xfrm>
            <a:custGeom>
              <a:avLst/>
              <a:gdLst>
                <a:gd name="connsiteX0" fmla="*/ 131515 w 263630"/>
                <a:gd name="connsiteY0" fmla="*/ 252671 h 252670"/>
                <a:gd name="connsiteX1" fmla="*/ 0 w 263630"/>
                <a:gd name="connsiteY1" fmla="*/ 121156 h 252670"/>
                <a:gd name="connsiteX2" fmla="*/ 113499 w 263630"/>
                <a:gd name="connsiteY2" fmla="*/ 7657 h 252670"/>
                <a:gd name="connsiteX3" fmla="*/ 150131 w 263630"/>
                <a:gd name="connsiteY3" fmla="*/ 7657 h 252670"/>
                <a:gd name="connsiteX4" fmla="*/ 263630 w 263630"/>
                <a:gd name="connsiteY4" fmla="*/ 121156 h 252670"/>
                <a:gd name="connsiteX5" fmla="*/ 131515 w 263630"/>
                <a:gd name="connsiteY5" fmla="*/ 252671 h 252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3630" h="252670">
                  <a:moveTo>
                    <a:pt x="131515" y="252671"/>
                  </a:moveTo>
                  <a:lnTo>
                    <a:pt x="0" y="121156"/>
                  </a:lnTo>
                  <a:lnTo>
                    <a:pt x="113499" y="7657"/>
                  </a:lnTo>
                  <a:cubicBezTo>
                    <a:pt x="123708" y="-2552"/>
                    <a:pt x="139922" y="-2552"/>
                    <a:pt x="150131" y="7657"/>
                  </a:cubicBezTo>
                  <a:lnTo>
                    <a:pt x="263630" y="121156"/>
                  </a:lnTo>
                  <a:lnTo>
                    <a:pt x="131515" y="252671"/>
                  </a:lnTo>
                  <a:close/>
                </a:path>
              </a:pathLst>
            </a:custGeom>
            <a:solidFill>
              <a:srgbClr val="6864E8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0013982" y="5445983"/>
              <a:ext cx="396346" cy="396346"/>
            </a:xfrm>
            <a:custGeom>
              <a:avLst/>
              <a:gdLst>
                <a:gd name="connsiteX0" fmla="*/ 198173 w 396346"/>
                <a:gd name="connsiteY0" fmla="*/ 396346 h 396346"/>
                <a:gd name="connsiteX1" fmla="*/ 0 w 396346"/>
                <a:gd name="connsiteY1" fmla="*/ 198173 h 396346"/>
                <a:gd name="connsiteX2" fmla="*/ 198173 w 396346"/>
                <a:gd name="connsiteY2" fmla="*/ 0 h 396346"/>
                <a:gd name="connsiteX3" fmla="*/ 396346 w 396346"/>
                <a:gd name="connsiteY3" fmla="*/ 198173 h 396346"/>
                <a:gd name="connsiteX4" fmla="*/ 198173 w 396346"/>
                <a:gd name="connsiteY4" fmla="*/ 396346 h 396346"/>
                <a:gd name="connsiteX5" fmla="*/ 198173 w 396346"/>
                <a:gd name="connsiteY5" fmla="*/ 60052 h 396346"/>
                <a:gd name="connsiteX6" fmla="*/ 60052 w 396346"/>
                <a:gd name="connsiteY6" fmla="*/ 198173 h 396346"/>
                <a:gd name="connsiteX7" fmla="*/ 198173 w 396346"/>
                <a:gd name="connsiteY7" fmla="*/ 336294 h 396346"/>
                <a:gd name="connsiteX8" fmla="*/ 336294 w 396346"/>
                <a:gd name="connsiteY8" fmla="*/ 198173 h 396346"/>
                <a:gd name="connsiteX9" fmla="*/ 198173 w 396346"/>
                <a:gd name="connsiteY9" fmla="*/ 60052 h 39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346" h="396346">
                  <a:moveTo>
                    <a:pt x="198173" y="396346"/>
                  </a:moveTo>
                  <a:cubicBezTo>
                    <a:pt x="88878" y="396346"/>
                    <a:pt x="0" y="307469"/>
                    <a:pt x="0" y="198173"/>
                  </a:cubicBezTo>
                  <a:cubicBezTo>
                    <a:pt x="0" y="88878"/>
                    <a:pt x="88878" y="0"/>
                    <a:pt x="198173" y="0"/>
                  </a:cubicBezTo>
                  <a:cubicBezTo>
                    <a:pt x="307469" y="0"/>
                    <a:pt x="396346" y="88878"/>
                    <a:pt x="396346" y="198173"/>
                  </a:cubicBezTo>
                  <a:cubicBezTo>
                    <a:pt x="396346" y="307469"/>
                    <a:pt x="307469" y="396346"/>
                    <a:pt x="198173" y="396346"/>
                  </a:cubicBezTo>
                  <a:close/>
                  <a:moveTo>
                    <a:pt x="198173" y="60052"/>
                  </a:moveTo>
                  <a:cubicBezTo>
                    <a:pt x="121906" y="60052"/>
                    <a:pt x="60052" y="121907"/>
                    <a:pt x="60052" y="198173"/>
                  </a:cubicBezTo>
                  <a:cubicBezTo>
                    <a:pt x="60052" y="274440"/>
                    <a:pt x="121906" y="336294"/>
                    <a:pt x="198173" y="336294"/>
                  </a:cubicBezTo>
                  <a:cubicBezTo>
                    <a:pt x="274440" y="336294"/>
                    <a:pt x="336294" y="274440"/>
                    <a:pt x="336294" y="198173"/>
                  </a:cubicBezTo>
                  <a:cubicBezTo>
                    <a:pt x="336294" y="121907"/>
                    <a:pt x="274440" y="60052"/>
                    <a:pt x="198173" y="60052"/>
                  </a:cubicBezTo>
                  <a:close/>
                </a:path>
              </a:pathLst>
            </a:custGeom>
            <a:solidFill>
              <a:srgbClr val="E8E5ED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10013982" y="5445983"/>
              <a:ext cx="394863" cy="396346"/>
            </a:xfrm>
            <a:custGeom>
              <a:avLst/>
              <a:gdLst>
                <a:gd name="connsiteX0" fmla="*/ 198173 w 394863"/>
                <a:gd name="connsiteY0" fmla="*/ 396346 h 396346"/>
                <a:gd name="connsiteX1" fmla="*/ 0 w 394863"/>
                <a:gd name="connsiteY1" fmla="*/ 198173 h 396346"/>
                <a:gd name="connsiteX2" fmla="*/ 198173 w 394863"/>
                <a:gd name="connsiteY2" fmla="*/ 0 h 396346"/>
                <a:gd name="connsiteX3" fmla="*/ 394545 w 394863"/>
                <a:gd name="connsiteY3" fmla="*/ 170549 h 396346"/>
                <a:gd name="connsiteX4" fmla="*/ 368722 w 394863"/>
                <a:gd name="connsiteY4" fmla="*/ 204178 h 396346"/>
                <a:gd name="connsiteX5" fmla="*/ 335093 w 394863"/>
                <a:gd name="connsiteY5" fmla="*/ 178356 h 396346"/>
                <a:gd name="connsiteX6" fmla="*/ 198173 w 394863"/>
                <a:gd name="connsiteY6" fmla="*/ 59452 h 396346"/>
                <a:gd name="connsiteX7" fmla="*/ 60052 w 394863"/>
                <a:gd name="connsiteY7" fmla="*/ 197573 h 396346"/>
                <a:gd name="connsiteX8" fmla="*/ 198173 w 394863"/>
                <a:gd name="connsiteY8" fmla="*/ 335693 h 396346"/>
                <a:gd name="connsiteX9" fmla="*/ 228199 w 394863"/>
                <a:gd name="connsiteY9" fmla="*/ 365720 h 396346"/>
                <a:gd name="connsiteX10" fmla="*/ 198173 w 394863"/>
                <a:gd name="connsiteY10" fmla="*/ 396346 h 39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4863" h="396346">
                  <a:moveTo>
                    <a:pt x="198173" y="396346"/>
                  </a:moveTo>
                  <a:cubicBezTo>
                    <a:pt x="88878" y="396346"/>
                    <a:pt x="0" y="307469"/>
                    <a:pt x="0" y="198173"/>
                  </a:cubicBezTo>
                  <a:cubicBezTo>
                    <a:pt x="0" y="88878"/>
                    <a:pt x="88878" y="0"/>
                    <a:pt x="198173" y="0"/>
                  </a:cubicBezTo>
                  <a:cubicBezTo>
                    <a:pt x="296659" y="0"/>
                    <a:pt x="380733" y="73264"/>
                    <a:pt x="394545" y="170549"/>
                  </a:cubicBezTo>
                  <a:cubicBezTo>
                    <a:pt x="396947" y="186763"/>
                    <a:pt x="385537" y="202377"/>
                    <a:pt x="368722" y="204178"/>
                  </a:cubicBezTo>
                  <a:cubicBezTo>
                    <a:pt x="352508" y="206580"/>
                    <a:pt x="336894" y="195171"/>
                    <a:pt x="335093" y="178356"/>
                  </a:cubicBezTo>
                  <a:cubicBezTo>
                    <a:pt x="325484" y="110497"/>
                    <a:pt x="266633" y="59452"/>
                    <a:pt x="198173" y="59452"/>
                  </a:cubicBezTo>
                  <a:cubicBezTo>
                    <a:pt x="121906" y="59452"/>
                    <a:pt x="60052" y="121306"/>
                    <a:pt x="60052" y="197573"/>
                  </a:cubicBezTo>
                  <a:cubicBezTo>
                    <a:pt x="60052" y="273839"/>
                    <a:pt x="121906" y="335693"/>
                    <a:pt x="198173" y="335693"/>
                  </a:cubicBezTo>
                  <a:cubicBezTo>
                    <a:pt x="214988" y="335693"/>
                    <a:pt x="228199" y="348905"/>
                    <a:pt x="228199" y="365720"/>
                  </a:cubicBezTo>
                  <a:cubicBezTo>
                    <a:pt x="228199" y="383135"/>
                    <a:pt x="214988" y="396346"/>
                    <a:pt x="198173" y="396346"/>
                  </a:cubicBezTo>
                  <a:close/>
                </a:path>
              </a:pathLst>
            </a:custGeom>
            <a:solidFill>
              <a:srgbClr val="FDA73B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10167116" y="5593712"/>
              <a:ext cx="95483" cy="95483"/>
            </a:xfrm>
            <a:custGeom>
              <a:avLst/>
              <a:gdLst>
                <a:gd name="connsiteX0" fmla="*/ 72663 w 95483"/>
                <a:gd name="connsiteY0" fmla="*/ 95483 h 95483"/>
                <a:gd name="connsiteX1" fmla="*/ 22820 w 95483"/>
                <a:gd name="connsiteY1" fmla="*/ 95483 h 95483"/>
                <a:gd name="connsiteX2" fmla="*/ 0 w 95483"/>
                <a:gd name="connsiteY2" fmla="*/ 72664 h 95483"/>
                <a:gd name="connsiteX3" fmla="*/ 0 w 95483"/>
                <a:gd name="connsiteY3" fmla="*/ 22820 h 95483"/>
                <a:gd name="connsiteX4" fmla="*/ 22820 w 95483"/>
                <a:gd name="connsiteY4" fmla="*/ 0 h 95483"/>
                <a:gd name="connsiteX5" fmla="*/ 72663 w 95483"/>
                <a:gd name="connsiteY5" fmla="*/ 0 h 95483"/>
                <a:gd name="connsiteX6" fmla="*/ 95483 w 95483"/>
                <a:gd name="connsiteY6" fmla="*/ 22820 h 95483"/>
                <a:gd name="connsiteX7" fmla="*/ 95483 w 95483"/>
                <a:gd name="connsiteY7" fmla="*/ 72664 h 95483"/>
                <a:gd name="connsiteX8" fmla="*/ 72663 w 95483"/>
                <a:gd name="connsiteY8" fmla="*/ 95483 h 9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483" h="95483">
                  <a:moveTo>
                    <a:pt x="72663" y="95483"/>
                  </a:moveTo>
                  <a:lnTo>
                    <a:pt x="22820" y="95483"/>
                  </a:lnTo>
                  <a:cubicBezTo>
                    <a:pt x="10209" y="95483"/>
                    <a:pt x="0" y="85274"/>
                    <a:pt x="0" y="72664"/>
                  </a:cubicBezTo>
                  <a:lnTo>
                    <a:pt x="0" y="22820"/>
                  </a:lnTo>
                  <a:cubicBezTo>
                    <a:pt x="0" y="10209"/>
                    <a:pt x="10209" y="0"/>
                    <a:pt x="22820" y="0"/>
                  </a:cubicBezTo>
                  <a:lnTo>
                    <a:pt x="72663" y="0"/>
                  </a:lnTo>
                  <a:cubicBezTo>
                    <a:pt x="85274" y="0"/>
                    <a:pt x="95483" y="10209"/>
                    <a:pt x="95483" y="22820"/>
                  </a:cubicBezTo>
                  <a:lnTo>
                    <a:pt x="95483" y="72664"/>
                  </a:lnTo>
                  <a:cubicBezTo>
                    <a:pt x="95483" y="85274"/>
                    <a:pt x="85274" y="95483"/>
                    <a:pt x="72663" y="95483"/>
                  </a:cubicBezTo>
                  <a:close/>
                </a:path>
              </a:pathLst>
            </a:custGeom>
            <a:solidFill>
              <a:srgbClr val="2A2B3A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0511817" y="5507837"/>
              <a:ext cx="440785" cy="60052"/>
            </a:xfrm>
            <a:custGeom>
              <a:avLst/>
              <a:gdLst>
                <a:gd name="connsiteX0" fmla="*/ 410759 w 440785"/>
                <a:gd name="connsiteY0" fmla="*/ 60052 h 60052"/>
                <a:gd name="connsiteX1" fmla="*/ 30026 w 440785"/>
                <a:gd name="connsiteY1" fmla="*/ 60052 h 60052"/>
                <a:gd name="connsiteX2" fmla="*/ 0 w 440785"/>
                <a:gd name="connsiteY2" fmla="*/ 30026 h 60052"/>
                <a:gd name="connsiteX3" fmla="*/ 30026 w 440785"/>
                <a:gd name="connsiteY3" fmla="*/ 0 h 60052"/>
                <a:gd name="connsiteX4" fmla="*/ 410759 w 440785"/>
                <a:gd name="connsiteY4" fmla="*/ 0 h 60052"/>
                <a:gd name="connsiteX5" fmla="*/ 440785 w 440785"/>
                <a:gd name="connsiteY5" fmla="*/ 30026 h 60052"/>
                <a:gd name="connsiteX6" fmla="*/ 410759 w 440785"/>
                <a:gd name="connsiteY6" fmla="*/ 60052 h 6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0785" h="60052">
                  <a:moveTo>
                    <a:pt x="410759" y="60052"/>
                  </a:moveTo>
                  <a:lnTo>
                    <a:pt x="30026" y="60052"/>
                  </a:lnTo>
                  <a:cubicBezTo>
                    <a:pt x="13212" y="60052"/>
                    <a:pt x="0" y="46841"/>
                    <a:pt x="0" y="30026"/>
                  </a:cubicBezTo>
                  <a:cubicBezTo>
                    <a:pt x="0" y="13212"/>
                    <a:pt x="13212" y="0"/>
                    <a:pt x="30026" y="0"/>
                  </a:cubicBezTo>
                  <a:lnTo>
                    <a:pt x="410759" y="0"/>
                  </a:lnTo>
                  <a:cubicBezTo>
                    <a:pt x="427574" y="0"/>
                    <a:pt x="440785" y="13212"/>
                    <a:pt x="440785" y="30026"/>
                  </a:cubicBezTo>
                  <a:cubicBezTo>
                    <a:pt x="440785" y="46240"/>
                    <a:pt x="426973" y="60052"/>
                    <a:pt x="410759" y="60052"/>
                  </a:cubicBezTo>
                  <a:close/>
                </a:path>
              </a:pathLst>
            </a:custGeom>
            <a:solidFill>
              <a:srgbClr val="2A2B3A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11130957" y="5507837"/>
              <a:ext cx="303264" cy="60052"/>
            </a:xfrm>
            <a:custGeom>
              <a:avLst/>
              <a:gdLst>
                <a:gd name="connsiteX0" fmla="*/ 273239 w 303264"/>
                <a:gd name="connsiteY0" fmla="*/ 60052 h 60052"/>
                <a:gd name="connsiteX1" fmla="*/ 30026 w 303264"/>
                <a:gd name="connsiteY1" fmla="*/ 60052 h 60052"/>
                <a:gd name="connsiteX2" fmla="*/ 0 w 303264"/>
                <a:gd name="connsiteY2" fmla="*/ 30026 h 60052"/>
                <a:gd name="connsiteX3" fmla="*/ 30026 w 303264"/>
                <a:gd name="connsiteY3" fmla="*/ 0 h 60052"/>
                <a:gd name="connsiteX4" fmla="*/ 273239 w 303264"/>
                <a:gd name="connsiteY4" fmla="*/ 0 h 60052"/>
                <a:gd name="connsiteX5" fmla="*/ 303265 w 303264"/>
                <a:gd name="connsiteY5" fmla="*/ 30026 h 60052"/>
                <a:gd name="connsiteX6" fmla="*/ 273239 w 303264"/>
                <a:gd name="connsiteY6" fmla="*/ 60052 h 6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264" h="60052">
                  <a:moveTo>
                    <a:pt x="273239" y="60052"/>
                  </a:moveTo>
                  <a:lnTo>
                    <a:pt x="30026" y="60052"/>
                  </a:lnTo>
                  <a:cubicBezTo>
                    <a:pt x="13212" y="60052"/>
                    <a:pt x="0" y="46841"/>
                    <a:pt x="0" y="30026"/>
                  </a:cubicBezTo>
                  <a:cubicBezTo>
                    <a:pt x="0" y="13212"/>
                    <a:pt x="13212" y="0"/>
                    <a:pt x="30026" y="0"/>
                  </a:cubicBezTo>
                  <a:lnTo>
                    <a:pt x="273239" y="0"/>
                  </a:lnTo>
                  <a:cubicBezTo>
                    <a:pt x="290053" y="0"/>
                    <a:pt x="303265" y="13212"/>
                    <a:pt x="303265" y="30026"/>
                  </a:cubicBezTo>
                  <a:cubicBezTo>
                    <a:pt x="303265" y="46240"/>
                    <a:pt x="290053" y="60052"/>
                    <a:pt x="273239" y="60052"/>
                  </a:cubicBezTo>
                  <a:close/>
                </a:path>
              </a:pathLst>
            </a:custGeom>
            <a:solidFill>
              <a:srgbClr val="D7D1DF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10511817" y="5622537"/>
              <a:ext cx="192167" cy="60052"/>
            </a:xfrm>
            <a:custGeom>
              <a:avLst/>
              <a:gdLst>
                <a:gd name="connsiteX0" fmla="*/ 162142 w 192167"/>
                <a:gd name="connsiteY0" fmla="*/ 60052 h 60052"/>
                <a:gd name="connsiteX1" fmla="*/ 30026 w 192167"/>
                <a:gd name="connsiteY1" fmla="*/ 60052 h 60052"/>
                <a:gd name="connsiteX2" fmla="*/ 0 w 192167"/>
                <a:gd name="connsiteY2" fmla="*/ 30026 h 60052"/>
                <a:gd name="connsiteX3" fmla="*/ 30026 w 192167"/>
                <a:gd name="connsiteY3" fmla="*/ 0 h 60052"/>
                <a:gd name="connsiteX4" fmla="*/ 162142 w 192167"/>
                <a:gd name="connsiteY4" fmla="*/ 0 h 60052"/>
                <a:gd name="connsiteX5" fmla="*/ 192168 w 192167"/>
                <a:gd name="connsiteY5" fmla="*/ 30026 h 60052"/>
                <a:gd name="connsiteX6" fmla="*/ 162142 w 192167"/>
                <a:gd name="connsiteY6" fmla="*/ 60052 h 6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67" h="60052">
                  <a:moveTo>
                    <a:pt x="162142" y="60052"/>
                  </a:moveTo>
                  <a:lnTo>
                    <a:pt x="30026" y="60052"/>
                  </a:lnTo>
                  <a:cubicBezTo>
                    <a:pt x="13212" y="60052"/>
                    <a:pt x="0" y="46841"/>
                    <a:pt x="0" y="30026"/>
                  </a:cubicBezTo>
                  <a:cubicBezTo>
                    <a:pt x="0" y="13212"/>
                    <a:pt x="13212" y="0"/>
                    <a:pt x="30026" y="0"/>
                  </a:cubicBezTo>
                  <a:lnTo>
                    <a:pt x="162142" y="0"/>
                  </a:lnTo>
                  <a:cubicBezTo>
                    <a:pt x="178956" y="0"/>
                    <a:pt x="192168" y="13212"/>
                    <a:pt x="192168" y="30026"/>
                  </a:cubicBezTo>
                  <a:cubicBezTo>
                    <a:pt x="192168" y="46841"/>
                    <a:pt x="178956" y="60052"/>
                    <a:pt x="162142" y="60052"/>
                  </a:cubicBezTo>
                  <a:close/>
                </a:path>
              </a:pathLst>
            </a:custGeom>
            <a:solidFill>
              <a:srgbClr val="2A2B3A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11130957" y="5622537"/>
              <a:ext cx="126110" cy="60052"/>
            </a:xfrm>
            <a:custGeom>
              <a:avLst/>
              <a:gdLst>
                <a:gd name="connsiteX0" fmla="*/ 96084 w 126110"/>
                <a:gd name="connsiteY0" fmla="*/ 60052 h 60052"/>
                <a:gd name="connsiteX1" fmla="*/ 30026 w 126110"/>
                <a:gd name="connsiteY1" fmla="*/ 60052 h 60052"/>
                <a:gd name="connsiteX2" fmla="*/ 0 w 126110"/>
                <a:gd name="connsiteY2" fmla="*/ 30026 h 60052"/>
                <a:gd name="connsiteX3" fmla="*/ 30026 w 126110"/>
                <a:gd name="connsiteY3" fmla="*/ 0 h 60052"/>
                <a:gd name="connsiteX4" fmla="*/ 96084 w 126110"/>
                <a:gd name="connsiteY4" fmla="*/ 0 h 60052"/>
                <a:gd name="connsiteX5" fmla="*/ 126110 w 126110"/>
                <a:gd name="connsiteY5" fmla="*/ 30026 h 60052"/>
                <a:gd name="connsiteX6" fmla="*/ 96084 w 126110"/>
                <a:gd name="connsiteY6" fmla="*/ 60052 h 6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10" h="60052">
                  <a:moveTo>
                    <a:pt x="96084" y="60052"/>
                  </a:moveTo>
                  <a:lnTo>
                    <a:pt x="30026" y="60052"/>
                  </a:lnTo>
                  <a:cubicBezTo>
                    <a:pt x="13212" y="60052"/>
                    <a:pt x="0" y="46841"/>
                    <a:pt x="0" y="30026"/>
                  </a:cubicBezTo>
                  <a:cubicBezTo>
                    <a:pt x="0" y="13212"/>
                    <a:pt x="13212" y="0"/>
                    <a:pt x="30026" y="0"/>
                  </a:cubicBezTo>
                  <a:lnTo>
                    <a:pt x="96084" y="0"/>
                  </a:lnTo>
                  <a:cubicBezTo>
                    <a:pt x="112899" y="0"/>
                    <a:pt x="126110" y="13212"/>
                    <a:pt x="126110" y="30026"/>
                  </a:cubicBezTo>
                  <a:cubicBezTo>
                    <a:pt x="126110" y="46841"/>
                    <a:pt x="112899" y="60052"/>
                    <a:pt x="96084" y="60052"/>
                  </a:cubicBezTo>
                  <a:close/>
                </a:path>
              </a:pathLst>
            </a:custGeom>
            <a:solidFill>
              <a:srgbClr val="D7D1DF"/>
            </a:solidFill>
            <a:ln w="5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63" name="图形 6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8825" y="3636063"/>
            <a:ext cx="1076325" cy="1076325"/>
          </a:xfrm>
          <a:prstGeom prst="rect">
            <a:avLst/>
          </a:prstGeom>
        </p:spPr>
      </p:pic>
      <p:pic>
        <p:nvPicPr>
          <p:cNvPr id="17" name="图片 16" descr="govee_b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59890" y="6299835"/>
            <a:ext cx="4148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i="1">
                <a:latin typeface="微软雅黑" charset="0"/>
                <a:ea typeface="微软雅黑" charset="0"/>
                <a:cs typeface="微软雅黑" charset="0"/>
              </a:rPr>
              <a:t>特殊渠道</a:t>
            </a:r>
            <a:r>
              <a:rPr lang="en-US" altLang="zh-CN" sz="1200" i="1">
                <a:latin typeface="微软雅黑" charset="0"/>
                <a:ea typeface="微软雅黑" charset="0"/>
                <a:cs typeface="微软雅黑" charset="0"/>
              </a:rPr>
              <a:t>：</a:t>
            </a:r>
            <a:r>
              <a:rPr lang="zh-CN" altLang="en-US" sz="1200" i="1">
                <a:latin typeface="微软雅黑" charset="0"/>
                <a:ea typeface="微软雅黑" charset="0"/>
                <a:cs typeface="微软雅黑" charset="0"/>
              </a:rPr>
              <a:t>隶属于线下商超渠道</a:t>
            </a:r>
            <a:r>
              <a:rPr lang="en-US" altLang="zh-CN" sz="1200" i="1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1200" i="1">
                <a:latin typeface="微软雅黑" charset="0"/>
                <a:ea typeface="微软雅黑" charset="0"/>
                <a:cs typeface="微软雅黑" charset="0"/>
              </a:rPr>
              <a:t>会员体系渠道</a:t>
            </a:r>
            <a:endParaRPr lang="zh-CN" altLang="en-US" sz="1200" i="1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en-US" altLang="zh-CN" sz="1200" i="1">
                <a:latin typeface="微软雅黑" charset="0"/>
                <a:ea typeface="微软雅黑" charset="0"/>
                <a:cs typeface="微软雅黑" charset="0"/>
              </a:rPr>
              <a:t>（Sam’s Club、Costco）</a:t>
            </a:r>
            <a:endParaRPr lang="en-US" altLang="zh-CN" sz="1200" i="1">
              <a:latin typeface="微软雅黑" charset="0"/>
              <a:ea typeface="微软雅黑" charset="0"/>
              <a:cs typeface="微软雅黑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534160" y="1294130"/>
            <a:ext cx="2383155" cy="4594860"/>
            <a:chOff x="1713" y="2034"/>
            <a:chExt cx="3753" cy="7236"/>
          </a:xfrm>
        </p:grpSpPr>
        <p:grpSp>
          <p:nvGrpSpPr>
            <p:cNvPr id="45" name="组合 44"/>
            <p:cNvGrpSpPr/>
            <p:nvPr/>
          </p:nvGrpSpPr>
          <p:grpSpPr>
            <a:xfrm>
              <a:off x="2894" y="2034"/>
              <a:ext cx="2572" cy="7237"/>
              <a:chOff x="2894" y="2341"/>
              <a:chExt cx="2572" cy="7237"/>
            </a:xfrm>
          </p:grpSpPr>
          <p:sp>
            <p:nvSpPr>
              <p:cNvPr id="5" name="矩形: 圆角 15"/>
              <p:cNvSpPr/>
              <p:nvPr/>
            </p:nvSpPr>
            <p:spPr>
              <a:xfrm>
                <a:off x="2894" y="2341"/>
                <a:ext cx="2572" cy="1053"/>
              </a:xfrm>
              <a:prstGeom prst="roundRect">
                <a:avLst>
                  <a:gd name="adj" fmla="val 12617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88900" dir="2700000" algn="tl" rotWithShape="0">
                  <a:srgbClr val="7854F7">
                    <a:alpha val="12000"/>
                  </a:srgbClr>
                </a:outerShdw>
              </a:effectLst>
            </p:spPr>
            <p:txBody>
              <a:bodyPr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AMZ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  <p:sp>
            <p:nvSpPr>
              <p:cNvPr id="33" name="矩形: 圆角 15"/>
              <p:cNvSpPr/>
              <p:nvPr/>
            </p:nvSpPr>
            <p:spPr>
              <a:xfrm>
                <a:off x="2894" y="3515"/>
                <a:ext cx="2572" cy="1053"/>
              </a:xfrm>
              <a:prstGeom prst="roundRect">
                <a:avLst>
                  <a:gd name="adj" fmla="val 12617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88900" dir="2700000" algn="tl" rotWithShape="0">
                  <a:srgbClr val="7854F7">
                    <a:alpha val="12000"/>
                  </a:srgbClr>
                </a:outerShdw>
              </a:effectLst>
            </p:spPr>
            <p:txBody>
              <a:bodyPr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独立站</a:t>
                </a: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  <p:sp>
            <p:nvSpPr>
              <p:cNvPr id="34" name="矩形: 圆角 15"/>
              <p:cNvSpPr/>
              <p:nvPr/>
            </p:nvSpPr>
            <p:spPr>
              <a:xfrm>
                <a:off x="2894" y="4689"/>
                <a:ext cx="2572" cy="1053"/>
              </a:xfrm>
              <a:prstGeom prst="roundRect">
                <a:avLst>
                  <a:gd name="adj" fmla="val 12617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88900" dir="2700000" algn="tl" rotWithShape="0">
                  <a:srgbClr val="7854F7">
                    <a:alpha val="12000"/>
                  </a:srgbClr>
                </a:outerShdw>
              </a:effectLst>
            </p:spPr>
            <p:txBody>
              <a:bodyPr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APP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商城</a:t>
                </a: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  <p:sp>
            <p:nvSpPr>
              <p:cNvPr id="35" name="矩形: 圆角 15"/>
              <p:cNvSpPr/>
              <p:nvPr/>
            </p:nvSpPr>
            <p:spPr>
              <a:xfrm>
                <a:off x="2894" y="5968"/>
                <a:ext cx="2572" cy="1053"/>
              </a:xfrm>
              <a:prstGeom prst="roundRect">
                <a:avLst>
                  <a:gd name="adj" fmla="val 12617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88900" dir="2700000" algn="tl" rotWithShape="0">
                  <a:srgbClr val="7854F7">
                    <a:alpha val="12000"/>
                  </a:srgbClr>
                </a:outerShdw>
              </a:effectLst>
            </p:spPr>
            <p:txBody>
              <a:bodyPr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TTS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  <p:sp>
            <p:nvSpPr>
              <p:cNvPr id="36" name="矩形: 圆角 15"/>
              <p:cNvSpPr/>
              <p:nvPr/>
            </p:nvSpPr>
            <p:spPr>
              <a:xfrm>
                <a:off x="2894" y="7247"/>
                <a:ext cx="2572" cy="1053"/>
              </a:xfrm>
              <a:prstGeom prst="roundRect">
                <a:avLst>
                  <a:gd name="adj" fmla="val 12617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88900" dir="2700000" algn="tl" rotWithShape="0">
                  <a:srgbClr val="7854F7">
                    <a:alpha val="12000"/>
                  </a:srgbClr>
                </a:outerShdw>
              </a:effectLst>
            </p:spPr>
            <p:txBody>
              <a:bodyPr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线下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分销</a:t>
                </a: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  <p:sp>
            <p:nvSpPr>
              <p:cNvPr id="37" name="矩形: 圆角 15"/>
              <p:cNvSpPr/>
              <p:nvPr/>
            </p:nvSpPr>
            <p:spPr>
              <a:xfrm>
                <a:off x="2894" y="8526"/>
                <a:ext cx="2572" cy="1053"/>
              </a:xfrm>
              <a:prstGeom prst="roundRect">
                <a:avLst>
                  <a:gd name="adj" fmla="val 12617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88900" dir="2700000" algn="tl" rotWithShape="0">
                  <a:srgbClr val="7854F7">
                    <a:alpha val="12000"/>
                  </a:srgbClr>
                </a:outerShdw>
              </a:effectLst>
            </p:spPr>
            <p:txBody>
              <a:bodyPr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线下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商超</a:t>
                </a: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</p:grpSp>
        <p:sp>
          <p:nvSpPr>
            <p:cNvPr id="46" name="左大括号 45"/>
            <p:cNvSpPr/>
            <p:nvPr/>
          </p:nvSpPr>
          <p:spPr>
            <a:xfrm>
              <a:off x="1713" y="2483"/>
              <a:ext cx="1046" cy="6514"/>
            </a:xfrm>
            <a:prstGeom prst="leftBrace">
              <a:avLst>
                <a:gd name="adj1" fmla="val 8333"/>
                <a:gd name="adj2" fmla="val 50000"/>
              </a:avLst>
            </a:prstGeom>
            <a:ln w="31750">
              <a:gradFill>
                <a:gsLst>
                  <a:gs pos="0">
                    <a:schemeClr val="accent1">
                      <a:hueOff val="-4200000"/>
                    </a:schemeClr>
                  </a:gs>
                  <a:gs pos="100000">
                    <a:schemeClr val="accent1"/>
                  </a:gs>
                </a:gsLst>
              </a:gradFill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7045325" y="2254885"/>
            <a:ext cx="44145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charset="0"/>
                <a:ea typeface="微软雅黑" charset="0"/>
              </a:rPr>
              <a:t>避免渠道冲突，维护市场秩序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charset="0"/>
                <a:ea typeface="微软雅黑" charset="0"/>
              </a:rPr>
              <a:t>强化品牌价值，提升消费者信任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charset="0"/>
                <a:ea typeface="微软雅黑" charset="0"/>
              </a:rPr>
              <a:t>优化供应链与库存管理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charset="0"/>
                <a:ea typeface="微软雅黑" charset="0"/>
              </a:rPr>
              <a:t>推动数字化转型与数据驱动决策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pic>
        <p:nvPicPr>
          <p:cNvPr id="65" name="图片 64" descr="govee_b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05" y="3278505"/>
            <a:ext cx="1106805" cy="737870"/>
          </a:xfrm>
          <a:prstGeom prst="rect">
            <a:avLst/>
          </a:prstGeom>
        </p:spPr>
      </p:pic>
      <p:sp>
        <p:nvSpPr>
          <p:cNvPr id="68" name="矩形 67"/>
          <p:cNvSpPr/>
          <p:nvPr/>
        </p:nvSpPr>
        <p:spPr>
          <a:xfrm>
            <a:off x="4606925" y="2391410"/>
            <a:ext cx="1455420" cy="7385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  <a:latin typeface="微软雅黑" charset="0"/>
                <a:ea typeface="微软雅黑" charset="0"/>
              </a:rPr>
              <a:t>DTC</a:t>
            </a:r>
            <a:endParaRPr lang="en-US" altLang="zh-CN" sz="20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606925" y="4398010"/>
            <a:ext cx="1455420" cy="7385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微软雅黑" charset="0"/>
                <a:ea typeface="微软雅黑" charset="0"/>
              </a:rPr>
              <a:t>代理商</a:t>
            </a:r>
            <a:endParaRPr lang="zh-CN" altLang="en-US" sz="20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529070" y="3820160"/>
            <a:ext cx="1681480" cy="4178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charset="0"/>
                <a:ea typeface="微软雅黑" charset="0"/>
              </a:rPr>
              <a:t>本地电商平台</a:t>
            </a:r>
            <a:endParaRPr lang="zh-CN" altLang="en-US" sz="16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606925" y="5244465"/>
            <a:ext cx="1455420" cy="7385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微软雅黑" charset="0"/>
                <a:ea typeface="微软雅黑" charset="0"/>
              </a:rPr>
              <a:t>连锁商超</a:t>
            </a:r>
            <a:endParaRPr lang="zh-CN" altLang="en-US" sz="20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530975" y="4803775"/>
            <a:ext cx="1681480" cy="4178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charset="0"/>
                <a:ea typeface="微软雅黑" charset="0"/>
              </a:rPr>
              <a:t>本地连锁商超</a:t>
            </a:r>
            <a:endParaRPr lang="zh-CN" altLang="en-US" sz="16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3" name="左大括号 72"/>
          <p:cNvSpPr/>
          <p:nvPr/>
        </p:nvSpPr>
        <p:spPr>
          <a:xfrm rot="10800000" flipH="1">
            <a:off x="6090920" y="4016375"/>
            <a:ext cx="396875" cy="1002665"/>
          </a:xfrm>
          <a:prstGeom prst="leftBrace">
            <a:avLst>
              <a:gd name="adj1" fmla="val 8333"/>
              <a:gd name="adj2" fmla="val 50000"/>
            </a:avLst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左大括号 73"/>
          <p:cNvSpPr/>
          <p:nvPr/>
        </p:nvSpPr>
        <p:spPr>
          <a:xfrm rot="10800000" flipH="1">
            <a:off x="6132195" y="5494655"/>
            <a:ext cx="396875" cy="1002665"/>
          </a:xfrm>
          <a:prstGeom prst="leftBrace">
            <a:avLst>
              <a:gd name="adj1" fmla="val 8333"/>
              <a:gd name="adj2" fmla="val 50000"/>
            </a:avLst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6530340" y="5316220"/>
            <a:ext cx="1681480" cy="4178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charset="0"/>
                <a:ea typeface="微软雅黑" charset="0"/>
              </a:rPr>
              <a:t>线下实体</a:t>
            </a:r>
            <a:r>
              <a:rPr lang="zh-CN" altLang="en-US" sz="1600">
                <a:solidFill>
                  <a:schemeClr val="tx1"/>
                </a:solidFill>
                <a:latin typeface="微软雅黑" charset="0"/>
                <a:ea typeface="微软雅黑" charset="0"/>
              </a:rPr>
              <a:t>店铺</a:t>
            </a:r>
            <a:endParaRPr lang="zh-CN" altLang="en-US" sz="16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532245" y="6299835"/>
            <a:ext cx="1681480" cy="4178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charset="0"/>
                <a:ea typeface="微软雅黑" charset="0"/>
              </a:rPr>
              <a:t>对应线上</a:t>
            </a:r>
            <a:r>
              <a:rPr lang="zh-CN" altLang="en-US" sz="1600">
                <a:solidFill>
                  <a:schemeClr val="tx1"/>
                </a:solidFill>
                <a:latin typeface="微软雅黑" charset="0"/>
                <a:ea typeface="微软雅黑" charset="0"/>
              </a:rPr>
              <a:t>官网</a:t>
            </a:r>
            <a:endParaRPr lang="zh-CN" altLang="en-US" sz="16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77" name="直接箭头连接符 76"/>
          <p:cNvCxnSpPr/>
          <p:nvPr/>
        </p:nvCxnSpPr>
        <p:spPr>
          <a:xfrm>
            <a:off x="3993515" y="4744085"/>
            <a:ext cx="584835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>
            <a:off x="3993515" y="5565775"/>
            <a:ext cx="584835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6452235" y="1387792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b="1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“价格是品牌与用户对话的语言，语言混乱，信任就会崩塌。”</a:t>
            </a:r>
            <a:endParaRPr lang="zh-CN" altLang="en-US" b="1" i="0">
              <a:solidFill>
                <a:schemeClr val="accent2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4606925" y="3568065"/>
            <a:ext cx="1455420" cy="7385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  <a:latin typeface="微软雅黑" charset="0"/>
                <a:ea typeface="微软雅黑" charset="0"/>
              </a:rPr>
              <a:t>Tiktok</a:t>
            </a:r>
            <a:r>
              <a:rPr lang="zh-CN" altLang="en-US" sz="2000">
                <a:solidFill>
                  <a:schemeClr val="tx1"/>
                </a:solidFill>
                <a:latin typeface="微软雅黑" charset="0"/>
                <a:ea typeface="微软雅黑" charset="0"/>
              </a:rPr>
              <a:t>平台</a:t>
            </a:r>
            <a:endParaRPr lang="zh-CN" altLang="en-US" sz="20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81" name="直接箭头连接符 80"/>
          <p:cNvCxnSpPr/>
          <p:nvPr/>
        </p:nvCxnSpPr>
        <p:spPr>
          <a:xfrm>
            <a:off x="3993515" y="4016375"/>
            <a:ext cx="584835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>
            <a:off x="4022090" y="1628775"/>
            <a:ext cx="584835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4606925" y="1294130"/>
            <a:ext cx="1455420" cy="7385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  <a:latin typeface="微软雅黑" charset="0"/>
                <a:ea typeface="微软雅黑" charset="0"/>
              </a:rPr>
              <a:t>AMZ</a:t>
            </a:r>
            <a:r>
              <a:rPr lang="zh-CN" altLang="en-US" sz="2000">
                <a:solidFill>
                  <a:schemeClr val="tx1"/>
                </a:solidFill>
                <a:latin typeface="微软雅黑" charset="0"/>
                <a:ea typeface="微软雅黑" charset="0"/>
              </a:rPr>
              <a:t>平台</a:t>
            </a:r>
            <a:endParaRPr lang="zh-CN" altLang="en-US" sz="20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4" name="左大括号 83"/>
          <p:cNvSpPr/>
          <p:nvPr/>
        </p:nvSpPr>
        <p:spPr>
          <a:xfrm rot="10800000">
            <a:off x="4022090" y="2357755"/>
            <a:ext cx="441960" cy="772160"/>
          </a:xfrm>
          <a:prstGeom prst="leftBrace">
            <a:avLst>
              <a:gd name="adj1" fmla="val 8333"/>
              <a:gd name="adj2" fmla="val 50000"/>
            </a:avLst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govee_bl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9120" y="186055"/>
            <a:ext cx="759841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线下进店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展示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图片 2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690" y="1995805"/>
            <a:ext cx="3649980" cy="44126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720" y="1202055"/>
            <a:ext cx="1249680" cy="793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725" y="1217295"/>
            <a:ext cx="735965" cy="7905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" y="2007870"/>
            <a:ext cx="3305175" cy="44011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660" y="1416050"/>
            <a:ext cx="2063750" cy="387350"/>
          </a:xfrm>
          <a:prstGeom prst="rect">
            <a:avLst/>
          </a:prstGeom>
        </p:spPr>
      </p:pic>
      <p:pic>
        <p:nvPicPr>
          <p:cNvPr id="11" name="图片 10" descr="IMG_7395.HEI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9755" y="2007870"/>
            <a:ext cx="3433445" cy="4413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govee_bl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9120" y="186055"/>
            <a:ext cx="759841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线下进店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展示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" y="1845310"/>
            <a:ext cx="3223260" cy="42983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310" y="1120140"/>
            <a:ext cx="1707515" cy="683260"/>
          </a:xfrm>
          <a:prstGeom prst="rect">
            <a:avLst/>
          </a:prstGeom>
        </p:spPr>
      </p:pic>
      <p:pic>
        <p:nvPicPr>
          <p:cNvPr id="8" name="图片 7" descr="GOVEE AU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035" y="1845310"/>
            <a:ext cx="4824095" cy="4298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815" y="1217930"/>
            <a:ext cx="2295525" cy="58547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785" y="1845310"/>
            <a:ext cx="2921635" cy="4298315"/>
          </a:xfrm>
          <a:prstGeom prst="rect">
            <a:avLst/>
          </a:prstGeom>
        </p:spPr>
      </p:pic>
      <p:pic>
        <p:nvPicPr>
          <p:cNvPr id="16" name="Picture 2" descr="Lowe's Home Improvement: Lowe's Official Logo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9505" y="1217930"/>
            <a:ext cx="1242695" cy="57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govee_bl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9120" y="186055"/>
            <a:ext cx="759841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线下进店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展示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70" y="1075055"/>
            <a:ext cx="977900" cy="920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" y="1897380"/>
            <a:ext cx="3114040" cy="4511040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045" y="1118870"/>
            <a:ext cx="684530" cy="68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980" y="1897380"/>
            <a:ext cx="4173855" cy="449072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6"/>
          <a:stretch>
            <a:fillRect/>
          </a:stretch>
        </p:blipFill>
        <p:spPr>
          <a:xfrm>
            <a:off x="8819515" y="892810"/>
            <a:ext cx="970280" cy="9721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2590" y="1056005"/>
            <a:ext cx="914400" cy="74993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5805" y="1897380"/>
            <a:ext cx="3367405" cy="449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>
          <a:xfrm rot="7342752">
            <a:off x="6893560" y="259080"/>
            <a:ext cx="6393815" cy="5608320"/>
          </a:xfrm>
          <a:custGeom>
            <a:avLst/>
            <a:gdLst>
              <a:gd name="connsiteX0" fmla="*/ 0 w 6393983"/>
              <a:gd name="connsiteY0" fmla="*/ 2342623 h 6361846"/>
              <a:gd name="connsiteX1" fmla="*/ 3694347 w 6393983"/>
              <a:gd name="connsiteY1" fmla="*/ 0 h 6361846"/>
              <a:gd name="connsiteX2" fmla="*/ 4168430 w 6393983"/>
              <a:gd name="connsiteY2" fmla="*/ 114134 h 6361846"/>
              <a:gd name="connsiteX3" fmla="*/ 6393983 w 6393983"/>
              <a:gd name="connsiteY3" fmla="*/ 2312824 h 6361846"/>
              <a:gd name="connsiteX4" fmla="*/ 3186549 w 6393983"/>
              <a:gd name="connsiteY4" fmla="*/ 5520258 h 6361846"/>
              <a:gd name="connsiteX5" fmla="*/ 16784 w 6393983"/>
              <a:gd name="connsiteY5" fmla="*/ 2356470 h 6361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3983" h="6361846">
                <a:moveTo>
                  <a:pt x="0" y="2342623"/>
                </a:moveTo>
                <a:lnTo>
                  <a:pt x="3694347" y="0"/>
                </a:lnTo>
                <a:lnTo>
                  <a:pt x="4168430" y="114134"/>
                </a:lnTo>
                <a:cubicBezTo>
                  <a:pt x="5246587" y="410146"/>
                  <a:pt x="6393983" y="984261"/>
                  <a:pt x="6393983" y="2312824"/>
                </a:cubicBezTo>
                <a:cubicBezTo>
                  <a:pt x="6393983" y="4084241"/>
                  <a:pt x="4508912" y="8101679"/>
                  <a:pt x="3186549" y="5520258"/>
                </a:cubicBezTo>
                <a:cubicBezTo>
                  <a:pt x="2360072" y="3906870"/>
                  <a:pt x="919965" y="3082957"/>
                  <a:pt x="16784" y="2356470"/>
                </a:cubicBezTo>
                <a:close/>
              </a:path>
            </a:pathLst>
          </a:custGeom>
          <a:solidFill>
            <a:srgbClr val="6360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" name="VCG21127293694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0682" y="2240608"/>
            <a:ext cx="6394101" cy="3731649"/>
          </a:xfrm>
          <a:prstGeom prst="rect">
            <a:avLst/>
          </a:prstGeom>
          <a:effectLst/>
        </p:spPr>
      </p:pic>
      <p:sp>
        <p:nvSpPr>
          <p:cNvPr id="28" name="任意多边形: 形状 27"/>
          <p:cNvSpPr/>
          <p:nvPr/>
        </p:nvSpPr>
        <p:spPr>
          <a:xfrm rot="762190">
            <a:off x="-223677" y="5278894"/>
            <a:ext cx="2356470" cy="1772048"/>
          </a:xfrm>
          <a:custGeom>
            <a:avLst/>
            <a:gdLst>
              <a:gd name="connsiteX0" fmla="*/ 0 w 2356470"/>
              <a:gd name="connsiteY0" fmla="*/ 0 h 1772048"/>
              <a:gd name="connsiteX1" fmla="*/ 121145 w 2356470"/>
              <a:gd name="connsiteY1" fmla="*/ 27252 h 1772048"/>
              <a:gd name="connsiteX2" fmla="*/ 2276686 w 2356470"/>
              <a:gd name="connsiteY2" fmla="*/ 1199704 h 1772048"/>
              <a:gd name="connsiteX3" fmla="*/ 2356470 w 2356470"/>
              <a:gd name="connsiteY3" fmla="*/ 1330901 h 1772048"/>
              <a:gd name="connsiteX4" fmla="*/ 399451 w 2356470"/>
              <a:gd name="connsiteY4" fmla="*/ 1772048 h 177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6470" h="1772048">
                <a:moveTo>
                  <a:pt x="0" y="0"/>
                </a:moveTo>
                <a:lnTo>
                  <a:pt x="121145" y="27252"/>
                </a:lnTo>
                <a:cubicBezTo>
                  <a:pt x="914771" y="216979"/>
                  <a:pt x="1804374" y="540811"/>
                  <a:pt x="2276686" y="1199704"/>
                </a:cubicBezTo>
                <a:lnTo>
                  <a:pt x="2356470" y="1330901"/>
                </a:lnTo>
                <a:lnTo>
                  <a:pt x="399451" y="1772048"/>
                </a:ln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: 形状 35"/>
          <p:cNvSpPr/>
          <p:nvPr/>
        </p:nvSpPr>
        <p:spPr>
          <a:xfrm rot="7762083">
            <a:off x="3134989" y="-1472905"/>
            <a:ext cx="2546473" cy="3007072"/>
          </a:xfrm>
          <a:custGeom>
            <a:avLst/>
            <a:gdLst>
              <a:gd name="connsiteX0" fmla="*/ 2467229 w 2546473"/>
              <a:gd name="connsiteY0" fmla="*/ 3007072 h 3007072"/>
              <a:gd name="connsiteX1" fmla="*/ 0 w 2546473"/>
              <a:gd name="connsiteY1" fmla="*/ 0 h 3007072"/>
              <a:gd name="connsiteX2" fmla="*/ 53528 w 2546473"/>
              <a:gd name="connsiteY2" fmla="*/ 12041 h 3007072"/>
              <a:gd name="connsiteX3" fmla="*/ 2546473 w 2546473"/>
              <a:gd name="connsiteY3" fmla="*/ 2279216 h 3007072"/>
              <a:gd name="connsiteX4" fmla="*/ 2498786 w 2546473"/>
              <a:gd name="connsiteY4" fmla="*/ 2829360 h 300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6473" h="3007072">
                <a:moveTo>
                  <a:pt x="2467229" y="3007072"/>
                </a:moveTo>
                <a:lnTo>
                  <a:pt x="0" y="0"/>
                </a:lnTo>
                <a:lnTo>
                  <a:pt x="53528" y="12041"/>
                </a:lnTo>
                <a:cubicBezTo>
                  <a:pt x="1199877" y="286091"/>
                  <a:pt x="2546473" y="839939"/>
                  <a:pt x="2546473" y="2279216"/>
                </a:cubicBezTo>
                <a:cubicBezTo>
                  <a:pt x="2546473" y="2445286"/>
                  <a:pt x="2529905" y="2631097"/>
                  <a:pt x="2498786" y="2829360"/>
                </a:cubicBezTo>
                <a:close/>
              </a:path>
            </a:pathLst>
          </a:custGeom>
          <a:solidFill>
            <a:srgbClr val="FDA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任意多边形: 形状 45"/>
          <p:cNvSpPr/>
          <p:nvPr/>
        </p:nvSpPr>
        <p:spPr>
          <a:xfrm>
            <a:off x="10138839" y="5609017"/>
            <a:ext cx="119674" cy="114397"/>
          </a:xfrm>
          <a:custGeom>
            <a:avLst/>
            <a:gdLst>
              <a:gd name="connsiteX0" fmla="*/ 59837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7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7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7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7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7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48" name="任意多边形: 形状 47"/>
          <p:cNvSpPr/>
          <p:nvPr/>
        </p:nvSpPr>
        <p:spPr>
          <a:xfrm>
            <a:off x="9976886" y="5609017"/>
            <a:ext cx="119674" cy="114397"/>
          </a:xfrm>
          <a:custGeom>
            <a:avLst/>
            <a:gdLst>
              <a:gd name="connsiteX0" fmla="*/ 59838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8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8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8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8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8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50" name="任意多边形: 形状 49"/>
          <p:cNvSpPr/>
          <p:nvPr/>
        </p:nvSpPr>
        <p:spPr>
          <a:xfrm>
            <a:off x="10300791" y="5609017"/>
            <a:ext cx="119674" cy="114397"/>
          </a:xfrm>
          <a:custGeom>
            <a:avLst/>
            <a:gdLst>
              <a:gd name="connsiteX0" fmla="*/ 59837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7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7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7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7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7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52" name="任意多边形: 形状 51"/>
          <p:cNvSpPr/>
          <p:nvPr/>
        </p:nvSpPr>
        <p:spPr>
          <a:xfrm>
            <a:off x="10462744" y="5609017"/>
            <a:ext cx="119674" cy="114397"/>
          </a:xfrm>
          <a:custGeom>
            <a:avLst/>
            <a:gdLst>
              <a:gd name="connsiteX0" fmla="*/ 59838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8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8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8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8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8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54" name="任意多边形: 形状 53"/>
          <p:cNvSpPr/>
          <p:nvPr/>
        </p:nvSpPr>
        <p:spPr>
          <a:xfrm>
            <a:off x="10624696" y="5609017"/>
            <a:ext cx="119674" cy="114397"/>
          </a:xfrm>
          <a:custGeom>
            <a:avLst/>
            <a:gdLst>
              <a:gd name="connsiteX0" fmla="*/ 59838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8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8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8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8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8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5350" y="1478915"/>
            <a:ext cx="666242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02.GTM</a:t>
            </a:r>
            <a:r>
              <a:rPr lang="zh-CN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核心</a:t>
            </a:r>
            <a:r>
              <a:rPr lang="zh-CN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职能</a:t>
            </a:r>
            <a:endParaRPr lang="zh-CN" altLang="en-US" sz="6000" dirty="0">
              <a:solidFill>
                <a:schemeClr val="tx1">
                  <a:lumMod val="65000"/>
                  <a:lumOff val="3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2" name="图片 11" descr="govee_b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7505"/>
            <a:ext cx="1800225" cy="1199515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2539365" y="2795270"/>
            <a:ext cx="1512570" cy="74485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部门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49605" y="4035425"/>
            <a:ext cx="1512570" cy="74485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市场洞察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539365" y="4044950"/>
            <a:ext cx="1512570" cy="74485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产品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GTM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463415" y="4035425"/>
            <a:ext cx="1512570" cy="74485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区域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GTM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14" name="直接连接符 13"/>
          <p:cNvCxnSpPr>
            <a:stCxn id="2" idx="2"/>
            <a:endCxn id="8" idx="0"/>
          </p:cNvCxnSpPr>
          <p:nvPr/>
        </p:nvCxnSpPr>
        <p:spPr>
          <a:xfrm>
            <a:off x="3295650" y="3540125"/>
            <a:ext cx="0" cy="504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2" idx="2"/>
            <a:endCxn id="7" idx="0"/>
          </p:cNvCxnSpPr>
          <p:nvPr/>
        </p:nvCxnSpPr>
        <p:spPr>
          <a:xfrm flipH="1">
            <a:off x="1405890" y="3540125"/>
            <a:ext cx="1889760" cy="49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9" idx="0"/>
            <a:endCxn id="2" idx="2"/>
          </p:cNvCxnSpPr>
          <p:nvPr/>
        </p:nvCxnSpPr>
        <p:spPr>
          <a:xfrm flipH="1" flipV="1">
            <a:off x="3295650" y="3540125"/>
            <a:ext cx="1924050" cy="49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46100" y="2697480"/>
            <a:ext cx="435038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dirty="0">
                <a:solidFill>
                  <a:srgbClr val="FDA73B"/>
                </a:solidFill>
                <a:latin typeface="微软雅黑" charset="0"/>
                <a:ea typeface="微软雅黑" charset="0"/>
              </a:rPr>
              <a:t>团队结构</a:t>
            </a:r>
            <a:r>
              <a:rPr lang="en-US" altLang="zh-CN" sz="2000" dirty="0">
                <a:solidFill>
                  <a:srgbClr val="FDA73B"/>
                </a:solidFill>
                <a:latin typeface="微软雅黑" charset="0"/>
                <a:ea typeface="微软雅黑" charset="0"/>
              </a:rPr>
              <a:t>：</a:t>
            </a:r>
            <a:endParaRPr lang="en-US" altLang="zh-CN" sz="2000" dirty="0">
              <a:solidFill>
                <a:srgbClr val="FDA73B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1540" y="4993005"/>
            <a:ext cx="15811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charset="0"/>
                <a:ea typeface="微软雅黑" charset="0"/>
              </a:rPr>
              <a:t>林锦涛</a:t>
            </a:r>
            <a:endParaRPr lang="zh-CN" altLang="en-US" sz="1400">
              <a:latin typeface="微软雅黑" charset="0"/>
              <a:ea typeface="微软雅黑" charset="0"/>
            </a:endParaRPr>
          </a:p>
          <a:p>
            <a:r>
              <a:rPr lang="zh-CN" altLang="en-US" sz="1400">
                <a:latin typeface="微软雅黑" charset="0"/>
                <a:ea typeface="微软雅黑" charset="0"/>
              </a:rPr>
              <a:t>陈雪婷</a:t>
            </a:r>
            <a:endParaRPr lang="zh-CN" altLang="en-US" sz="1400">
              <a:latin typeface="微软雅黑" charset="0"/>
              <a:ea typeface="微软雅黑" charset="0"/>
            </a:endParaRPr>
          </a:p>
          <a:p>
            <a:r>
              <a:rPr lang="zh-CN" altLang="en-US" sz="1400">
                <a:latin typeface="微软雅黑" charset="0"/>
                <a:ea typeface="微软雅黑" charset="0"/>
              </a:rPr>
              <a:t>刘经</a:t>
            </a:r>
            <a:r>
              <a:rPr lang="zh-CN" altLang="en-US" sz="1400">
                <a:latin typeface="微软雅黑" charset="0"/>
                <a:ea typeface="微软雅黑" charset="0"/>
              </a:rPr>
              <a:t>总</a:t>
            </a:r>
            <a:endParaRPr lang="zh-CN" altLang="en-US" sz="1400">
              <a:latin typeface="微软雅黑" charset="0"/>
              <a:ea typeface="微软雅黑" charset="0"/>
            </a:endParaRPr>
          </a:p>
          <a:p>
            <a:r>
              <a:rPr lang="zh-CN" altLang="en-US" sz="1400">
                <a:latin typeface="微软雅黑" charset="0"/>
                <a:ea typeface="微软雅黑" charset="0"/>
              </a:rPr>
              <a:t>袁启迪</a:t>
            </a:r>
            <a:endParaRPr lang="zh-CN" altLang="en-US" sz="1400">
              <a:latin typeface="微软雅黑" charset="0"/>
              <a:ea typeface="微软雅黑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539365" y="4993005"/>
            <a:ext cx="192405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charset="0"/>
                <a:ea typeface="微软雅黑" charset="0"/>
              </a:rPr>
              <a:t>颜庆琳</a:t>
            </a:r>
            <a:r>
              <a:rPr lang="en-US" altLang="zh-CN" sz="1400">
                <a:latin typeface="微软雅黑" charset="0"/>
                <a:ea typeface="微软雅黑" charset="0"/>
              </a:rPr>
              <a:t>-</a:t>
            </a:r>
            <a:r>
              <a:rPr lang="zh-CN" altLang="en-US" sz="1400">
                <a:latin typeface="微软雅黑" charset="0"/>
                <a:ea typeface="微软雅黑" charset="0"/>
              </a:rPr>
              <a:t>居家</a:t>
            </a:r>
            <a:r>
              <a:rPr lang="zh-CN" altLang="en-US" sz="1400">
                <a:latin typeface="微软雅黑" charset="0"/>
                <a:ea typeface="微软雅黑" charset="0"/>
              </a:rPr>
              <a:t>线</a:t>
            </a:r>
            <a:endParaRPr lang="zh-CN" altLang="en-US" sz="1400">
              <a:latin typeface="微软雅黑" charset="0"/>
              <a:ea typeface="微软雅黑" charset="0"/>
            </a:endParaRPr>
          </a:p>
          <a:p>
            <a:r>
              <a:rPr lang="zh-CN" altLang="en-US" sz="1400">
                <a:latin typeface="微软雅黑" charset="0"/>
                <a:ea typeface="微软雅黑" charset="0"/>
              </a:rPr>
              <a:t>徐敏瑜</a:t>
            </a:r>
            <a:r>
              <a:rPr lang="en-US" altLang="zh-CN" sz="1400">
                <a:latin typeface="微软雅黑" charset="0"/>
                <a:ea typeface="微软雅黑" charset="0"/>
              </a:rPr>
              <a:t>-</a:t>
            </a:r>
            <a:r>
              <a:rPr lang="zh-CN" altLang="en-US" sz="1400">
                <a:latin typeface="微软雅黑" charset="0"/>
                <a:ea typeface="微软雅黑" charset="0"/>
              </a:rPr>
              <a:t>居家线</a:t>
            </a:r>
            <a:endParaRPr lang="zh-CN" altLang="en-US" sz="1400">
              <a:latin typeface="微软雅黑" charset="0"/>
              <a:ea typeface="微软雅黑" charset="0"/>
            </a:endParaRPr>
          </a:p>
          <a:p>
            <a:r>
              <a:rPr lang="zh-CN" altLang="en-US" sz="1400">
                <a:latin typeface="微软雅黑" charset="0"/>
                <a:ea typeface="微软雅黑" charset="0"/>
              </a:rPr>
              <a:t>吴莉莉</a:t>
            </a:r>
            <a:r>
              <a:rPr lang="en-US" altLang="zh-CN" sz="1400">
                <a:latin typeface="微软雅黑" charset="0"/>
                <a:ea typeface="微软雅黑" charset="0"/>
              </a:rPr>
              <a:t>-</a:t>
            </a:r>
            <a:r>
              <a:rPr lang="zh-CN" altLang="en-US" sz="1400">
                <a:latin typeface="微软雅黑" charset="0"/>
                <a:ea typeface="微软雅黑" charset="0"/>
              </a:rPr>
              <a:t>户外</a:t>
            </a:r>
            <a:r>
              <a:rPr lang="en-US" altLang="zh-CN" sz="1400">
                <a:latin typeface="微软雅黑" charset="0"/>
                <a:ea typeface="微软雅黑" charset="0"/>
              </a:rPr>
              <a:t>/</a:t>
            </a:r>
            <a:r>
              <a:rPr lang="zh-CN" altLang="en-US" sz="1400">
                <a:latin typeface="微软雅黑" charset="0"/>
                <a:ea typeface="微软雅黑" charset="0"/>
              </a:rPr>
              <a:t>观影</a:t>
            </a:r>
            <a:r>
              <a:rPr lang="zh-CN" altLang="en-US" sz="1400">
                <a:latin typeface="微软雅黑" charset="0"/>
                <a:ea typeface="微软雅黑" charset="0"/>
              </a:rPr>
              <a:t>线</a:t>
            </a:r>
            <a:endParaRPr lang="zh-CN" altLang="en-US" sz="1400">
              <a:latin typeface="微软雅黑" charset="0"/>
              <a:ea typeface="微软雅黑" charset="0"/>
            </a:endParaRPr>
          </a:p>
          <a:p>
            <a:r>
              <a:rPr lang="zh-CN" altLang="en-US" sz="1400">
                <a:latin typeface="微软雅黑" charset="0"/>
                <a:ea typeface="微软雅黑" charset="0"/>
              </a:rPr>
              <a:t>郑凯燕</a:t>
            </a:r>
            <a:r>
              <a:rPr lang="en-US" altLang="zh-CN" sz="1400">
                <a:latin typeface="微软雅黑" charset="0"/>
                <a:ea typeface="微软雅黑" charset="0"/>
              </a:rPr>
              <a:t>-</a:t>
            </a:r>
            <a:r>
              <a:rPr lang="zh-CN" altLang="en-US" sz="1400">
                <a:latin typeface="微软雅黑" charset="0"/>
                <a:ea typeface="微软雅黑" charset="0"/>
              </a:rPr>
              <a:t>户外</a:t>
            </a:r>
            <a:r>
              <a:rPr lang="zh-CN" altLang="en-US" sz="1400">
                <a:latin typeface="微软雅黑" charset="0"/>
                <a:ea typeface="微软雅黑" charset="0"/>
              </a:rPr>
              <a:t>线</a:t>
            </a:r>
            <a:endParaRPr lang="zh-CN" altLang="en-US" sz="1400">
              <a:latin typeface="微软雅黑" charset="0"/>
              <a:ea typeface="微软雅黑" charset="0"/>
            </a:endParaRPr>
          </a:p>
          <a:p>
            <a:r>
              <a:rPr lang="zh-CN" altLang="en-US" sz="1400">
                <a:latin typeface="微软雅黑" charset="0"/>
                <a:ea typeface="微软雅黑" charset="0"/>
              </a:rPr>
              <a:t>漆仲水</a:t>
            </a:r>
            <a:r>
              <a:rPr lang="en-US" altLang="zh-CN" sz="1400">
                <a:latin typeface="微软雅黑" charset="0"/>
                <a:ea typeface="微软雅黑" charset="0"/>
              </a:rPr>
              <a:t>-</a:t>
            </a:r>
            <a:r>
              <a:rPr lang="zh-CN" altLang="en-US" sz="1400">
                <a:latin typeface="微软雅黑" charset="0"/>
                <a:ea typeface="微软雅黑" charset="0"/>
              </a:rPr>
              <a:t>游戏</a:t>
            </a:r>
            <a:r>
              <a:rPr lang="en-US" altLang="zh-CN" sz="1400">
                <a:latin typeface="微软雅黑" charset="0"/>
                <a:ea typeface="微软雅黑" charset="0"/>
              </a:rPr>
              <a:t>/</a:t>
            </a:r>
            <a:r>
              <a:rPr lang="zh-CN" altLang="en-US" sz="1400">
                <a:latin typeface="微软雅黑" charset="0"/>
                <a:ea typeface="微软雅黑" charset="0"/>
              </a:rPr>
              <a:t>季节线</a:t>
            </a:r>
            <a:endParaRPr lang="zh-CN" altLang="en-US" sz="1400">
              <a:latin typeface="微软雅黑" charset="0"/>
              <a:ea typeface="微软雅黑" charset="0"/>
            </a:endParaRPr>
          </a:p>
          <a:p>
            <a:r>
              <a:rPr lang="zh-CN" altLang="en-US" sz="1400">
                <a:latin typeface="微软雅黑" charset="0"/>
                <a:ea typeface="微软雅黑" charset="0"/>
              </a:rPr>
              <a:t>韩宛杉</a:t>
            </a:r>
            <a:r>
              <a:rPr lang="en-US" altLang="zh-CN" sz="1400">
                <a:latin typeface="微软雅黑" charset="0"/>
                <a:ea typeface="微软雅黑" charset="0"/>
              </a:rPr>
              <a:t>-</a:t>
            </a:r>
            <a:r>
              <a:rPr lang="zh-CN" altLang="en-US" sz="1400">
                <a:latin typeface="微软雅黑" charset="0"/>
                <a:ea typeface="微软雅黑" charset="0"/>
              </a:rPr>
              <a:t>小家电</a:t>
            </a:r>
            <a:r>
              <a:rPr lang="zh-CN" altLang="en-US" sz="1400">
                <a:latin typeface="微软雅黑" charset="0"/>
                <a:ea typeface="微软雅黑" charset="0"/>
              </a:rPr>
              <a:t>产品线</a:t>
            </a:r>
            <a:endParaRPr lang="zh-CN" altLang="en-US" sz="1400">
              <a:latin typeface="微软雅黑" charset="0"/>
              <a:ea typeface="微软雅黑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051935" y="3164840"/>
            <a:ext cx="15811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charset="0"/>
                <a:ea typeface="微软雅黑" charset="0"/>
              </a:rPr>
              <a:t>Leader </a:t>
            </a:r>
            <a:r>
              <a:rPr lang="zh-CN" altLang="en-US" sz="1400">
                <a:latin typeface="微软雅黑" charset="0"/>
                <a:ea typeface="微软雅黑" charset="0"/>
              </a:rPr>
              <a:t>王昌恒</a:t>
            </a:r>
            <a:endParaRPr lang="zh-CN" altLang="en-US" sz="1400">
              <a:latin typeface="微软雅黑" charset="0"/>
              <a:ea typeface="微软雅黑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98670" y="5036185"/>
            <a:ext cx="19240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charset="0"/>
                <a:ea typeface="微软雅黑" charset="0"/>
              </a:rPr>
              <a:t>陈智渊</a:t>
            </a:r>
            <a:r>
              <a:rPr lang="en-US" altLang="zh-CN" sz="1400">
                <a:latin typeface="微软雅黑" charset="0"/>
                <a:ea typeface="微软雅黑" charset="0"/>
              </a:rPr>
              <a:t>-</a:t>
            </a:r>
            <a:r>
              <a:rPr lang="zh-CN" altLang="en-US" sz="1400">
                <a:latin typeface="微软雅黑" charset="0"/>
                <a:ea typeface="微软雅黑" charset="0"/>
              </a:rPr>
              <a:t>欧洲</a:t>
            </a:r>
            <a:endParaRPr lang="zh-CN" altLang="en-US" sz="1400">
              <a:latin typeface="微软雅黑" charset="0"/>
              <a:ea typeface="微软雅黑" charset="0"/>
            </a:endParaRPr>
          </a:p>
          <a:p>
            <a:r>
              <a:rPr lang="zh-CN" altLang="en-US" sz="1400">
                <a:latin typeface="微软雅黑" charset="0"/>
                <a:ea typeface="微软雅黑" charset="0"/>
              </a:rPr>
              <a:t>弘兴培</a:t>
            </a:r>
            <a:r>
              <a:rPr lang="en-US" altLang="zh-CN" sz="1400">
                <a:latin typeface="微软雅黑" charset="0"/>
                <a:ea typeface="微软雅黑" charset="0"/>
              </a:rPr>
              <a:t>-</a:t>
            </a:r>
            <a:r>
              <a:rPr lang="zh-CN" altLang="en-US" sz="1400">
                <a:latin typeface="微软雅黑" charset="0"/>
                <a:ea typeface="微软雅黑" charset="0"/>
              </a:rPr>
              <a:t>北美</a:t>
            </a:r>
            <a:endParaRPr lang="zh-CN" altLang="en-US" sz="1400">
              <a:latin typeface="微软雅黑" charset="0"/>
              <a:ea typeface="微软雅黑" charset="0"/>
            </a:endParaRPr>
          </a:p>
          <a:p>
            <a:r>
              <a:rPr lang="zh-CN" altLang="en-US" sz="1400">
                <a:latin typeface="微软雅黑" charset="0"/>
                <a:ea typeface="微软雅黑" charset="0"/>
              </a:rPr>
              <a:t>黑云帆</a:t>
            </a:r>
            <a:r>
              <a:rPr lang="en-US" altLang="zh-CN" sz="1400">
                <a:latin typeface="微软雅黑" charset="0"/>
                <a:ea typeface="微软雅黑" charset="0"/>
              </a:rPr>
              <a:t>-</a:t>
            </a:r>
            <a:r>
              <a:rPr lang="zh-CN" altLang="en-US" sz="1400">
                <a:latin typeface="微软雅黑" charset="0"/>
                <a:ea typeface="微软雅黑" charset="0"/>
              </a:rPr>
              <a:t>中东</a:t>
            </a:r>
            <a:endParaRPr lang="zh-CN" altLang="en-US" sz="140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/>
          <p:cNvSpPr/>
          <p:nvPr/>
        </p:nvSpPr>
        <p:spPr>
          <a:xfrm rot="7342752">
            <a:off x="6574991" y="-318982"/>
            <a:ext cx="6393983" cy="6361846"/>
          </a:xfrm>
          <a:custGeom>
            <a:avLst/>
            <a:gdLst>
              <a:gd name="connsiteX0" fmla="*/ 0 w 6393983"/>
              <a:gd name="connsiteY0" fmla="*/ 2342623 h 6361846"/>
              <a:gd name="connsiteX1" fmla="*/ 3694347 w 6393983"/>
              <a:gd name="connsiteY1" fmla="*/ 0 h 6361846"/>
              <a:gd name="connsiteX2" fmla="*/ 4168430 w 6393983"/>
              <a:gd name="connsiteY2" fmla="*/ 114134 h 6361846"/>
              <a:gd name="connsiteX3" fmla="*/ 6393983 w 6393983"/>
              <a:gd name="connsiteY3" fmla="*/ 2312824 h 6361846"/>
              <a:gd name="connsiteX4" fmla="*/ 3186549 w 6393983"/>
              <a:gd name="connsiteY4" fmla="*/ 5520258 h 6361846"/>
              <a:gd name="connsiteX5" fmla="*/ 16784 w 6393983"/>
              <a:gd name="connsiteY5" fmla="*/ 2356470 h 6361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3983" h="6361846">
                <a:moveTo>
                  <a:pt x="0" y="2342623"/>
                </a:moveTo>
                <a:lnTo>
                  <a:pt x="3694347" y="0"/>
                </a:lnTo>
                <a:lnTo>
                  <a:pt x="4168430" y="114134"/>
                </a:lnTo>
                <a:cubicBezTo>
                  <a:pt x="5246587" y="410146"/>
                  <a:pt x="6393983" y="984261"/>
                  <a:pt x="6393983" y="2312824"/>
                </a:cubicBezTo>
                <a:cubicBezTo>
                  <a:pt x="6393983" y="4084241"/>
                  <a:pt x="4508912" y="8101679"/>
                  <a:pt x="3186549" y="5520258"/>
                </a:cubicBezTo>
                <a:cubicBezTo>
                  <a:pt x="2360072" y="3906870"/>
                  <a:pt x="919965" y="3082957"/>
                  <a:pt x="16784" y="2356470"/>
                </a:cubicBezTo>
                <a:close/>
              </a:path>
            </a:pathLst>
          </a:custGeom>
          <a:solidFill>
            <a:srgbClr val="EBE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4520" y="668020"/>
            <a:ext cx="759841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Govee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kumimoji="0" lang="en-US" altLang="zh-CN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GTM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负责什么</a:t>
            </a:r>
            <a:r>
              <a:rPr kumimoji="0" lang="en-US" altLang="zh-CN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？</a:t>
            </a:r>
            <a:endParaRPr kumimoji="0" lang="en-US" altLang="zh-CN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43887" y="2695567"/>
            <a:ext cx="4210383" cy="1723083"/>
            <a:chOff x="11474" y="2893"/>
            <a:chExt cx="6631" cy="2714"/>
          </a:xfrm>
        </p:grpSpPr>
        <p:sp>
          <p:nvSpPr>
            <p:cNvPr id="16" name="矩形: 圆角 15"/>
            <p:cNvSpPr/>
            <p:nvPr/>
          </p:nvSpPr>
          <p:spPr>
            <a:xfrm>
              <a:off x="11474" y="2893"/>
              <a:ext cx="6631" cy="2714"/>
            </a:xfrm>
            <a:prstGeom prst="roundRect">
              <a:avLst>
                <a:gd name="adj" fmla="val 12617"/>
              </a:avLst>
            </a:prstGeom>
            <a:solidFill>
              <a:schemeClr val="accent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65100" dist="88900" dir="2700000" algn="tl" rotWithShape="0">
                <a:srgbClr val="7854F7">
                  <a:alpha val="12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3460" y="3067"/>
              <a:ext cx="2541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accent1"/>
                  </a:solidFill>
                  <a:latin typeface="微软雅黑" charset="0"/>
                  <a:ea typeface="微软雅黑" charset="0"/>
                  <a:cs typeface="微软雅黑" charset="0"/>
                </a:rPr>
                <a:t>产品</a:t>
              </a:r>
              <a:r>
                <a:rPr lang="en-US" altLang="zh-CN" sz="2000" dirty="0">
                  <a:solidFill>
                    <a:schemeClr val="accent1"/>
                  </a:solidFill>
                  <a:latin typeface="微软雅黑" charset="0"/>
                  <a:ea typeface="微软雅黑" charset="0"/>
                  <a:cs typeface="微软雅黑" charset="0"/>
                </a:rPr>
                <a:t>GTM </a:t>
              </a:r>
              <a:endParaRPr lang="en-US" altLang="zh-CN" sz="2000" dirty="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1890" y="3831"/>
              <a:ext cx="5729" cy="1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05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产品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GTM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是站在产品角度面向所有潜在市场的操盘手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他帮助产品经理在产品实现后在公司内争取更多的销售和营销资源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是完成商业成功的最大推手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。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266482" y="2695549"/>
            <a:ext cx="4210383" cy="1723083"/>
            <a:chOff x="11474" y="6281"/>
            <a:chExt cx="6631" cy="2714"/>
          </a:xfrm>
        </p:grpSpPr>
        <p:sp>
          <p:nvSpPr>
            <p:cNvPr id="18" name="矩形: 圆角 17"/>
            <p:cNvSpPr/>
            <p:nvPr/>
          </p:nvSpPr>
          <p:spPr>
            <a:xfrm>
              <a:off x="11474" y="6281"/>
              <a:ext cx="6631" cy="2714"/>
            </a:xfrm>
            <a:prstGeom prst="roundRect">
              <a:avLst>
                <a:gd name="adj" fmla="val 12617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65100" dist="88900" dir="2700000" algn="tl" rotWithShape="0">
                <a:srgbClr val="7854F7">
                  <a:alpha val="12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3519" y="6455"/>
              <a:ext cx="2541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accent1"/>
                  </a:solidFill>
                  <a:latin typeface="微软雅黑" charset="0"/>
                  <a:ea typeface="微软雅黑" charset="0"/>
                  <a:cs typeface="微软雅黑" charset="0"/>
                </a:rPr>
                <a:t>区域</a:t>
              </a:r>
              <a:r>
                <a:rPr lang="en-US" altLang="zh-CN" sz="2000" dirty="0">
                  <a:solidFill>
                    <a:schemeClr val="accent1"/>
                  </a:solidFill>
                  <a:latin typeface="微软雅黑" charset="0"/>
                  <a:ea typeface="微软雅黑" charset="0"/>
                  <a:cs typeface="微软雅黑" charset="0"/>
                </a:rPr>
                <a:t>GTM</a:t>
              </a:r>
              <a:endParaRPr lang="en-US" altLang="zh-CN" sz="2000" dirty="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029" y="7083"/>
              <a:ext cx="5730" cy="1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05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区域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GTM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是站在区域角度面向所有产品组合的操盘手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他帮助区域负责人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在某个限定的市场范围内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通过合理的产品组合和本地化的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GTM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策略实现销售任务的达成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charset="0"/>
                  <a:ea typeface="微软雅黑" charset="0"/>
                </a:rPr>
                <a:t>。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endParaRPr>
            </a:p>
          </p:txBody>
        </p:sp>
      </p:grpSp>
      <p:sp>
        <p:nvSpPr>
          <p:cNvPr id="33" name="任意多边形: 形状 32"/>
          <p:cNvSpPr/>
          <p:nvPr/>
        </p:nvSpPr>
        <p:spPr>
          <a:xfrm rot="19906958">
            <a:off x="2610511" y="-627321"/>
            <a:ext cx="2471332" cy="1507399"/>
          </a:xfrm>
          <a:custGeom>
            <a:avLst/>
            <a:gdLst>
              <a:gd name="connsiteX0" fmla="*/ 98333 w 2471332"/>
              <a:gd name="connsiteY0" fmla="*/ 0 h 1507399"/>
              <a:gd name="connsiteX1" fmla="*/ 2471332 w 2471332"/>
              <a:gd name="connsiteY1" fmla="*/ 1273317 h 1507399"/>
              <a:gd name="connsiteX2" fmla="*/ 2446520 w 2471332"/>
              <a:gd name="connsiteY2" fmla="*/ 1304455 h 1507399"/>
              <a:gd name="connsiteX3" fmla="*/ 1249694 w 2471332"/>
              <a:gd name="connsiteY3" fmla="*/ 1433445 h 1507399"/>
              <a:gd name="connsiteX4" fmla="*/ 0 w 2471332"/>
              <a:gd name="connsiteY4" fmla="*/ 187682 h 1507399"/>
              <a:gd name="connsiteX5" fmla="*/ 79217 w 2471332"/>
              <a:gd name="connsiteY5" fmla="*/ 13219 h 1507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1332" h="1507399">
                <a:moveTo>
                  <a:pt x="98333" y="0"/>
                </a:moveTo>
                <a:lnTo>
                  <a:pt x="2471332" y="1273317"/>
                </a:lnTo>
                <a:lnTo>
                  <a:pt x="2446520" y="1304455"/>
                </a:lnTo>
                <a:cubicBezTo>
                  <a:pt x="2222247" y="1529848"/>
                  <a:pt x="1592084" y="1559236"/>
                  <a:pt x="1249694" y="1433445"/>
                </a:cubicBezTo>
                <a:cubicBezTo>
                  <a:pt x="828291" y="1278626"/>
                  <a:pt x="0" y="579105"/>
                  <a:pt x="0" y="187682"/>
                </a:cubicBezTo>
                <a:cubicBezTo>
                  <a:pt x="0" y="114290"/>
                  <a:pt x="29120" y="56941"/>
                  <a:pt x="79217" y="1321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 descr="govee_bl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sp>
        <p:nvSpPr>
          <p:cNvPr id="5" name="下箭头 4"/>
          <p:cNvSpPr/>
          <p:nvPr/>
        </p:nvSpPr>
        <p:spPr>
          <a:xfrm>
            <a:off x="5186045" y="4006850"/>
            <a:ext cx="687070" cy="847725"/>
          </a:xfrm>
          <a:prstGeom prst="downArrow">
            <a:avLst/>
          </a:prstGeom>
        </p:spPr>
        <p:style>
          <a:lnRef idx="2">
            <a:schemeClr val="accent5"/>
          </a:lnRef>
          <a:fillRef idx="2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: 圆角 15"/>
          <p:cNvSpPr/>
          <p:nvPr/>
        </p:nvSpPr>
        <p:spPr>
          <a:xfrm>
            <a:off x="371475" y="5579110"/>
            <a:ext cx="1633220" cy="668655"/>
          </a:xfrm>
          <a:prstGeom prst="roundRect">
            <a:avLst>
              <a:gd name="adj" fmla="val 12617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市场洞察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741680" y="1456055"/>
            <a:ext cx="937704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将一个成熟的产品通过合理的定位定价</a:t>
            </a:r>
            <a:r>
              <a:rPr lang="en-US" altLang="zh-CN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，MKT</a:t>
            </a:r>
            <a:r>
              <a:rPr lang="zh-CN" altLang="en-US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策略</a:t>
            </a:r>
            <a:r>
              <a:rPr lang="en-US" altLang="zh-CN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销售策略等方法让产品出现在合适的渠道</a:t>
            </a:r>
            <a:r>
              <a:rPr lang="en-US" altLang="zh-CN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触达目标人群</a:t>
            </a:r>
            <a:r>
              <a:rPr lang="en-US" altLang="zh-CN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并形成尽可能促成交易</a:t>
            </a:r>
            <a:r>
              <a:rPr lang="en-US" altLang="zh-CN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实现产品经营效益最大化</a:t>
            </a:r>
            <a:r>
              <a:rPr lang="en-US" altLang="zh-CN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en-US" altLang="zh-CN" i="0">
              <a:solidFill>
                <a:schemeClr val="accent2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矩形: 圆角 15"/>
          <p:cNvSpPr/>
          <p:nvPr/>
        </p:nvSpPr>
        <p:spPr>
          <a:xfrm>
            <a:off x="2251710" y="5591810"/>
            <a:ext cx="1633220" cy="668655"/>
          </a:xfrm>
          <a:prstGeom prst="roundRect">
            <a:avLst>
              <a:gd name="adj" fmla="val 12617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路标与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产品规划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11" name="矩形: 圆角 15"/>
          <p:cNvSpPr/>
          <p:nvPr/>
        </p:nvSpPr>
        <p:spPr>
          <a:xfrm>
            <a:off x="4131945" y="5579110"/>
            <a:ext cx="1633220" cy="668655"/>
          </a:xfrm>
          <a:prstGeom prst="roundRect">
            <a:avLst>
              <a:gd name="adj" fmla="val 12617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项目管理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13" name="矩形: 圆角 15"/>
          <p:cNvSpPr/>
          <p:nvPr/>
        </p:nvSpPr>
        <p:spPr>
          <a:xfrm>
            <a:off x="6012180" y="5579110"/>
            <a:ext cx="1633220" cy="668655"/>
          </a:xfrm>
          <a:prstGeom prst="roundRect">
            <a:avLst>
              <a:gd name="adj" fmla="val 12617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产品生命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周期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操盘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15" name="矩形: 圆角 15"/>
          <p:cNvSpPr/>
          <p:nvPr/>
        </p:nvSpPr>
        <p:spPr>
          <a:xfrm>
            <a:off x="7892415" y="5579110"/>
            <a:ext cx="1633220" cy="668655"/>
          </a:xfrm>
          <a:prstGeom prst="roundRect">
            <a:avLst>
              <a:gd name="adj" fmla="val 12617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要货计划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和分货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管理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17" name="矩形: 圆角 15"/>
          <p:cNvSpPr/>
          <p:nvPr/>
        </p:nvSpPr>
        <p:spPr>
          <a:xfrm>
            <a:off x="9772650" y="5591810"/>
            <a:ext cx="1633220" cy="668655"/>
          </a:xfrm>
          <a:prstGeom prst="roundRect">
            <a:avLst>
              <a:gd name="adj" fmla="val 12617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价格体系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维稳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cxnSp>
        <p:nvCxnSpPr>
          <p:cNvPr id="34" name="直接连接符 33"/>
          <p:cNvCxnSpPr>
            <a:stCxn id="21" idx="6"/>
            <a:endCxn id="31" idx="2"/>
          </p:cNvCxnSpPr>
          <p:nvPr/>
        </p:nvCxnSpPr>
        <p:spPr>
          <a:xfrm>
            <a:off x="1226185" y="5290820"/>
            <a:ext cx="9392920" cy="1905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4857750" y="4871720"/>
            <a:ext cx="1657985" cy="464820"/>
            <a:chOff x="7650" y="7672"/>
            <a:chExt cx="2611" cy="732"/>
          </a:xfrm>
        </p:grpSpPr>
        <p:sp>
          <p:nvSpPr>
            <p:cNvPr id="7" name="文本框 6"/>
            <p:cNvSpPr txBox="1"/>
            <p:nvPr/>
          </p:nvSpPr>
          <p:spPr>
            <a:xfrm>
              <a:off x="7650" y="7672"/>
              <a:ext cx="2611" cy="4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200">
                  <a:latin typeface="微软雅黑" charset="0"/>
                  <a:ea typeface="微软雅黑" charset="0"/>
                  <a:cs typeface="微软雅黑" charset="0"/>
                </a:rPr>
                <a:t>新品上市开售</a:t>
              </a:r>
              <a:r>
                <a:rPr lang="en-US" altLang="zh-CN" sz="1200">
                  <a:latin typeface="微软雅黑" charset="0"/>
                  <a:ea typeface="微软雅黑" charset="0"/>
                  <a:cs typeface="微软雅黑" charset="0"/>
                </a:rPr>
                <a:t>3</a:t>
              </a:r>
              <a:r>
                <a:rPr lang="zh-CN" altLang="en-US" sz="1200">
                  <a:latin typeface="微软雅黑" charset="0"/>
                  <a:ea typeface="微软雅黑" charset="0"/>
                  <a:cs typeface="微软雅黑" charset="0"/>
                </a:rPr>
                <a:t>个月</a:t>
              </a:r>
              <a:endParaRPr lang="zh-CN" altLang="en-US" sz="120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8642" y="8260"/>
              <a:ext cx="180" cy="144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56615" y="4862195"/>
            <a:ext cx="1657985" cy="474345"/>
            <a:chOff x="8240" y="7657"/>
            <a:chExt cx="2611" cy="747"/>
          </a:xfrm>
        </p:grpSpPr>
        <p:sp>
          <p:nvSpPr>
            <p:cNvPr id="20" name="文本框 19"/>
            <p:cNvSpPr txBox="1"/>
            <p:nvPr/>
          </p:nvSpPr>
          <p:spPr>
            <a:xfrm>
              <a:off x="8240" y="7657"/>
              <a:ext cx="2611" cy="4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200">
                  <a:latin typeface="微软雅黑" charset="0"/>
                  <a:ea typeface="微软雅黑" charset="0"/>
                  <a:cs typeface="微软雅黑" charset="0"/>
                </a:rPr>
                <a:t>产品规划</a:t>
              </a:r>
              <a:endParaRPr lang="zh-CN" altLang="en-US" sz="120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8642" y="8260"/>
              <a:ext cx="180" cy="144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588260" y="4861560"/>
            <a:ext cx="1657985" cy="474980"/>
            <a:chOff x="8180" y="7656"/>
            <a:chExt cx="2611" cy="748"/>
          </a:xfrm>
        </p:grpSpPr>
        <p:sp>
          <p:nvSpPr>
            <p:cNvPr id="23" name="文本框 22"/>
            <p:cNvSpPr txBox="1"/>
            <p:nvPr/>
          </p:nvSpPr>
          <p:spPr>
            <a:xfrm>
              <a:off x="8180" y="7656"/>
              <a:ext cx="2611" cy="4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200">
                  <a:latin typeface="微软雅黑" charset="0"/>
                  <a:ea typeface="微软雅黑" charset="0"/>
                  <a:cs typeface="微软雅黑" charset="0"/>
                </a:rPr>
                <a:t>产品研发</a:t>
              </a:r>
              <a:endParaRPr lang="zh-CN" altLang="en-US" sz="120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8642" y="8260"/>
              <a:ext cx="180" cy="144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0363835" y="4854575"/>
            <a:ext cx="1657985" cy="481965"/>
            <a:chOff x="8240" y="7657"/>
            <a:chExt cx="2611" cy="759"/>
          </a:xfrm>
        </p:grpSpPr>
        <p:sp>
          <p:nvSpPr>
            <p:cNvPr id="30" name="文本框 29"/>
            <p:cNvSpPr txBox="1"/>
            <p:nvPr/>
          </p:nvSpPr>
          <p:spPr>
            <a:xfrm>
              <a:off x="8240" y="7657"/>
              <a:ext cx="2611" cy="4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200">
                  <a:latin typeface="微软雅黑" charset="0"/>
                  <a:ea typeface="微软雅黑" charset="0"/>
                  <a:cs typeface="微软雅黑" charset="0"/>
                </a:rPr>
                <a:t>产品</a:t>
              </a:r>
              <a:r>
                <a:rPr lang="zh-CN" altLang="en-US" sz="1200">
                  <a:latin typeface="微软雅黑" charset="0"/>
                  <a:ea typeface="微软雅黑" charset="0"/>
                  <a:cs typeface="微软雅黑" charset="0"/>
                </a:rPr>
                <a:t>退市</a:t>
              </a:r>
              <a:endParaRPr lang="zh-CN" altLang="en-US" sz="120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8642" y="8278"/>
              <a:ext cx="180" cy="138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325995" y="4843145"/>
            <a:ext cx="1657985" cy="493395"/>
            <a:chOff x="7934" y="7639"/>
            <a:chExt cx="2611" cy="777"/>
          </a:xfrm>
        </p:grpSpPr>
        <p:sp>
          <p:nvSpPr>
            <p:cNvPr id="37" name="文本框 36"/>
            <p:cNvSpPr txBox="1"/>
            <p:nvPr/>
          </p:nvSpPr>
          <p:spPr>
            <a:xfrm>
              <a:off x="7934" y="7639"/>
              <a:ext cx="2611" cy="4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200">
                  <a:latin typeface="微软雅黑" charset="0"/>
                  <a:ea typeface="微软雅黑" charset="0"/>
                  <a:cs typeface="微软雅黑" charset="0"/>
                </a:rPr>
                <a:t>产品</a:t>
              </a:r>
              <a:r>
                <a:rPr lang="zh-CN" altLang="en-US" sz="1200">
                  <a:latin typeface="微软雅黑" charset="0"/>
                  <a:ea typeface="微软雅黑" charset="0"/>
                  <a:cs typeface="微软雅黑" charset="0"/>
                </a:rPr>
                <a:t>稳定售卖</a:t>
              </a:r>
              <a:endParaRPr lang="zh-CN" altLang="en-US" sz="120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8642" y="8278"/>
              <a:ext cx="180" cy="138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/>
        </p:nvSpPr>
        <p:spPr>
          <a:xfrm rot="11810489" flipH="1" flipV="1">
            <a:off x="-109225" y="-313587"/>
            <a:ext cx="1916433" cy="1549763"/>
          </a:xfrm>
          <a:custGeom>
            <a:avLst/>
            <a:gdLst>
              <a:gd name="connsiteX0" fmla="*/ 598390 w 1916433"/>
              <a:gd name="connsiteY0" fmla="*/ 1514523 h 1549763"/>
              <a:gd name="connsiteX1" fmla="*/ 377600 w 1916433"/>
              <a:gd name="connsiteY1" fmla="*/ 1549763 h 1549763"/>
              <a:gd name="connsiteX2" fmla="*/ 294211 w 1916433"/>
              <a:gd name="connsiteY2" fmla="*/ 1543498 h 1549763"/>
              <a:gd name="connsiteX3" fmla="*/ 0 w 1916433"/>
              <a:gd name="connsiteY3" fmla="*/ 571567 h 1549763"/>
              <a:gd name="connsiteX4" fmla="*/ 1888179 w 1916433"/>
              <a:gd name="connsiteY4" fmla="*/ 0 h 1549763"/>
              <a:gd name="connsiteX5" fmla="*/ 1916433 w 1916433"/>
              <a:gd name="connsiteY5" fmla="*/ 12427 h 1549763"/>
              <a:gd name="connsiteX6" fmla="*/ 1725072 w 1916433"/>
              <a:gd name="connsiteY6" fmla="*/ 374771 h 1549763"/>
              <a:gd name="connsiteX7" fmla="*/ 598390 w 1916433"/>
              <a:gd name="connsiteY7" fmla="*/ 1514523 h 1549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6433" h="1549763">
                <a:moveTo>
                  <a:pt x="598390" y="1514523"/>
                </a:moveTo>
                <a:cubicBezTo>
                  <a:pt x="525023" y="1537213"/>
                  <a:pt x="451320" y="1549345"/>
                  <a:pt x="377600" y="1549763"/>
                </a:cubicBezTo>
                <a:lnTo>
                  <a:pt x="294211" y="1543498"/>
                </a:lnTo>
                <a:lnTo>
                  <a:pt x="0" y="571567"/>
                </a:lnTo>
                <a:lnTo>
                  <a:pt x="1888179" y="0"/>
                </a:lnTo>
                <a:lnTo>
                  <a:pt x="1916433" y="12427"/>
                </a:lnTo>
                <a:lnTo>
                  <a:pt x="1725072" y="374771"/>
                </a:lnTo>
                <a:cubicBezTo>
                  <a:pt x="1395245" y="945576"/>
                  <a:pt x="1001909" y="1389727"/>
                  <a:pt x="598390" y="151452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 rot="1302780">
            <a:off x="7241044" y="-554871"/>
            <a:ext cx="6124076" cy="5167428"/>
          </a:xfrm>
          <a:custGeom>
            <a:avLst/>
            <a:gdLst>
              <a:gd name="connsiteX0" fmla="*/ 0 w 6124076"/>
              <a:gd name="connsiteY0" fmla="*/ 1619266 h 5167428"/>
              <a:gd name="connsiteX1" fmla="*/ 4066349 w 6124076"/>
              <a:gd name="connsiteY1" fmla="*/ 0 h 5167428"/>
              <a:gd name="connsiteX2" fmla="*/ 6124076 w 6124076"/>
              <a:gd name="connsiteY2" fmla="*/ 5167428 h 5167428"/>
              <a:gd name="connsiteX3" fmla="*/ 1251725 w 6124076"/>
              <a:gd name="connsiteY3" fmla="*/ 5167428 h 5167428"/>
              <a:gd name="connsiteX4" fmla="*/ 0 w 6124076"/>
              <a:gd name="connsiteY4" fmla="*/ 3915703 h 51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4076" h="5167428">
                <a:moveTo>
                  <a:pt x="0" y="1619266"/>
                </a:moveTo>
                <a:lnTo>
                  <a:pt x="4066349" y="0"/>
                </a:lnTo>
                <a:lnTo>
                  <a:pt x="6124076" y="5167428"/>
                </a:lnTo>
                <a:lnTo>
                  <a:pt x="1251725" y="5167428"/>
                </a:lnTo>
                <a:cubicBezTo>
                  <a:pt x="560417" y="5167428"/>
                  <a:pt x="0" y="4607012"/>
                  <a:pt x="0" y="3915703"/>
                </a:cubicBezTo>
                <a:close/>
              </a:path>
            </a:pathLst>
          </a:custGeom>
          <a:solidFill>
            <a:srgbClr val="EBE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任意多边形: 形状 26"/>
          <p:cNvSpPr/>
          <p:nvPr/>
        </p:nvSpPr>
        <p:spPr>
          <a:xfrm>
            <a:off x="3003202" y="3725356"/>
            <a:ext cx="6185602" cy="3132644"/>
          </a:xfrm>
          <a:custGeom>
            <a:avLst/>
            <a:gdLst>
              <a:gd name="connsiteX0" fmla="*/ 3092804 w 6185602"/>
              <a:gd name="connsiteY0" fmla="*/ 0 h 3132644"/>
              <a:gd name="connsiteX1" fmla="*/ 6185602 w 6185602"/>
              <a:gd name="connsiteY1" fmla="*/ 3092804 h 3132644"/>
              <a:gd name="connsiteX2" fmla="*/ 6183586 w 6185602"/>
              <a:gd name="connsiteY2" fmla="*/ 3132644 h 3132644"/>
              <a:gd name="connsiteX3" fmla="*/ 5908913 w 6185602"/>
              <a:gd name="connsiteY3" fmla="*/ 3132644 h 3132644"/>
              <a:gd name="connsiteX4" fmla="*/ 5910930 w 6185602"/>
              <a:gd name="connsiteY4" fmla="*/ 3092804 h 3132644"/>
              <a:gd name="connsiteX5" fmla="*/ 3092804 w 6185602"/>
              <a:gd name="connsiteY5" fmla="*/ 274672 h 3132644"/>
              <a:gd name="connsiteX6" fmla="*/ 274672 w 6185602"/>
              <a:gd name="connsiteY6" fmla="*/ 3092804 h 3132644"/>
              <a:gd name="connsiteX7" fmla="*/ 276688 w 6185602"/>
              <a:gd name="connsiteY7" fmla="*/ 3132644 h 3132644"/>
              <a:gd name="connsiteX8" fmla="*/ 2018 w 6185602"/>
              <a:gd name="connsiteY8" fmla="*/ 3132644 h 3132644"/>
              <a:gd name="connsiteX9" fmla="*/ 0 w 6185602"/>
              <a:gd name="connsiteY9" fmla="*/ 3092804 h 3132644"/>
              <a:gd name="connsiteX10" fmla="*/ 3092804 w 6185602"/>
              <a:gd name="connsiteY10" fmla="*/ 0 h 313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85602" h="3132644">
                <a:moveTo>
                  <a:pt x="3092804" y="0"/>
                </a:moveTo>
                <a:cubicBezTo>
                  <a:pt x="4795767" y="0"/>
                  <a:pt x="6185602" y="1389841"/>
                  <a:pt x="6185602" y="3092804"/>
                </a:cubicBezTo>
                <a:lnTo>
                  <a:pt x="6183586" y="3132644"/>
                </a:lnTo>
                <a:lnTo>
                  <a:pt x="5908913" y="3132644"/>
                </a:lnTo>
                <a:lnTo>
                  <a:pt x="5910930" y="3092804"/>
                </a:lnTo>
                <a:cubicBezTo>
                  <a:pt x="5910930" y="1538160"/>
                  <a:pt x="4652938" y="274672"/>
                  <a:pt x="3092804" y="274672"/>
                </a:cubicBezTo>
                <a:cubicBezTo>
                  <a:pt x="1538160" y="274672"/>
                  <a:pt x="274672" y="1538160"/>
                  <a:pt x="274672" y="3092804"/>
                </a:cubicBezTo>
                <a:lnTo>
                  <a:pt x="276688" y="3132644"/>
                </a:lnTo>
                <a:lnTo>
                  <a:pt x="2018" y="3132644"/>
                </a:lnTo>
                <a:lnTo>
                  <a:pt x="0" y="3092804"/>
                </a:lnTo>
                <a:cubicBezTo>
                  <a:pt x="0" y="1384344"/>
                  <a:pt x="1389841" y="0"/>
                  <a:pt x="3092804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>
            <a:off x="3882600" y="4604664"/>
            <a:ext cx="4426801" cy="2253337"/>
          </a:xfrm>
          <a:custGeom>
            <a:avLst/>
            <a:gdLst>
              <a:gd name="connsiteX0" fmla="*/ 2213401 w 4426801"/>
              <a:gd name="connsiteY0" fmla="*/ 0 h 2253337"/>
              <a:gd name="connsiteX1" fmla="*/ 4426801 w 4426801"/>
              <a:gd name="connsiteY1" fmla="*/ 2213400 h 2253337"/>
              <a:gd name="connsiteX2" fmla="*/ 4424785 w 4426801"/>
              <a:gd name="connsiteY2" fmla="*/ 2253337 h 2253337"/>
              <a:gd name="connsiteX3" fmla="*/ 2017 w 4426801"/>
              <a:gd name="connsiteY3" fmla="*/ 2253337 h 2253337"/>
              <a:gd name="connsiteX4" fmla="*/ 0 w 4426801"/>
              <a:gd name="connsiteY4" fmla="*/ 2213400 h 2253337"/>
              <a:gd name="connsiteX5" fmla="*/ 2213401 w 4426801"/>
              <a:gd name="connsiteY5" fmla="*/ 0 h 2253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6801" h="2253337">
                <a:moveTo>
                  <a:pt x="2213401" y="0"/>
                </a:moveTo>
                <a:cubicBezTo>
                  <a:pt x="3435828" y="0"/>
                  <a:pt x="4426801" y="990973"/>
                  <a:pt x="4426801" y="2213400"/>
                </a:cubicBezTo>
                <a:lnTo>
                  <a:pt x="4424785" y="2253337"/>
                </a:lnTo>
                <a:lnTo>
                  <a:pt x="2017" y="2253337"/>
                </a:lnTo>
                <a:lnTo>
                  <a:pt x="0" y="2213400"/>
                </a:lnTo>
                <a:cubicBezTo>
                  <a:pt x="0" y="990973"/>
                  <a:pt x="990973" y="0"/>
                  <a:pt x="2213401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075471" y="2404797"/>
            <a:ext cx="2421911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DD656"/>
                </a:solidFill>
                <a:latin typeface="微软雅黑" charset="0"/>
                <a:ea typeface="微软雅黑" charset="0"/>
              </a:rPr>
              <a:t>新品上市</a:t>
            </a:r>
            <a:endParaRPr lang="zh-CN" altLang="en-US" b="1" dirty="0">
              <a:solidFill>
                <a:srgbClr val="FDD65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075930" y="2773045"/>
            <a:ext cx="2721610" cy="929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市场洞察输出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，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统筹研发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品牌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生产资源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；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首单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定价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卖点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交付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推广策略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新老品切换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73567" y="4788871"/>
            <a:ext cx="2421911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DD656"/>
                </a:solidFill>
                <a:latin typeface="微软雅黑" charset="0"/>
                <a:ea typeface="微软雅黑" charset="0"/>
              </a:rPr>
              <a:t>商业判定</a:t>
            </a:r>
            <a:endParaRPr lang="zh-CN" altLang="en-US" b="1" dirty="0">
              <a:solidFill>
                <a:srgbClr val="FDD65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73845" y="5149215"/>
            <a:ext cx="2690495" cy="14890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基于产品端释放的半年度新品计划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，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拉通品牌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渠道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供应链等部门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，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明确产品优先级及商业价值初步判定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，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整合资源聚焦核心产品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02915" y="2383155"/>
            <a:ext cx="15246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DA73B"/>
                </a:solidFill>
                <a:latin typeface="微软雅黑" charset="0"/>
                <a:ea typeface="微软雅黑" charset="0"/>
              </a:rPr>
              <a:t>商业目标</a:t>
            </a:r>
            <a:endParaRPr lang="zh-CN" altLang="en-US" b="1" dirty="0">
              <a:solidFill>
                <a:srgbClr val="FDA73B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180590" y="4794885"/>
            <a:ext cx="15246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DA73B"/>
                </a:solidFill>
                <a:latin typeface="微软雅黑" charset="0"/>
                <a:ea typeface="微软雅黑" charset="0"/>
                <a:cs typeface="微软雅黑" charset="0"/>
              </a:rPr>
              <a:t>4P</a:t>
            </a:r>
            <a:r>
              <a:rPr lang="zh-CN" altLang="en-US" b="1" dirty="0">
                <a:solidFill>
                  <a:srgbClr val="FDA73B"/>
                </a:solidFill>
                <a:latin typeface="微软雅黑" charset="0"/>
                <a:ea typeface="微软雅黑" charset="0"/>
                <a:cs typeface="微软雅黑" charset="0"/>
              </a:rPr>
              <a:t>策略</a:t>
            </a:r>
            <a:endParaRPr lang="zh-CN" altLang="en-US" b="1" dirty="0">
              <a:solidFill>
                <a:srgbClr val="FDA73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51180" y="5149215"/>
            <a:ext cx="242125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针对特定市场制定本地化策略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协调区域内的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4P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整合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包含产品策略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价格策略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渠道策略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营销策略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4492" y="2433508"/>
            <a:ext cx="687049" cy="687049"/>
          </a:xfrm>
          <a:prstGeom prst="rect">
            <a:avLst/>
          </a:prstGeom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73567" y="3976333"/>
            <a:ext cx="687049" cy="687049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901" y="4048154"/>
            <a:ext cx="687049" cy="687049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08605" y="2505028"/>
            <a:ext cx="687049" cy="6870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296469" y="1077521"/>
            <a:ext cx="82042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GTM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核心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职能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pic>
        <p:nvPicPr>
          <p:cNvPr id="2" name="图片 1" descr="govee_blu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80795" y="2738755"/>
            <a:ext cx="2835910" cy="929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通过制定整体的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BP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目标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牵引特定区域各渠道达成全年目标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从而完成公司级别的经营目标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189085" y="1398270"/>
            <a:ext cx="1512570" cy="74485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产品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GTM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083310" y="1480820"/>
            <a:ext cx="1512570" cy="74485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区域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GTM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rot="9789511" flipV="1">
            <a:off x="10375570" y="-310254"/>
            <a:ext cx="1916433" cy="1549763"/>
          </a:xfrm>
          <a:custGeom>
            <a:avLst/>
            <a:gdLst>
              <a:gd name="connsiteX0" fmla="*/ 598390 w 1916433"/>
              <a:gd name="connsiteY0" fmla="*/ 1514523 h 1549763"/>
              <a:gd name="connsiteX1" fmla="*/ 377600 w 1916433"/>
              <a:gd name="connsiteY1" fmla="*/ 1549763 h 1549763"/>
              <a:gd name="connsiteX2" fmla="*/ 294211 w 1916433"/>
              <a:gd name="connsiteY2" fmla="*/ 1543498 h 1549763"/>
              <a:gd name="connsiteX3" fmla="*/ 0 w 1916433"/>
              <a:gd name="connsiteY3" fmla="*/ 571567 h 1549763"/>
              <a:gd name="connsiteX4" fmla="*/ 1888179 w 1916433"/>
              <a:gd name="connsiteY4" fmla="*/ 0 h 1549763"/>
              <a:gd name="connsiteX5" fmla="*/ 1916433 w 1916433"/>
              <a:gd name="connsiteY5" fmla="*/ 12427 h 1549763"/>
              <a:gd name="connsiteX6" fmla="*/ 1725072 w 1916433"/>
              <a:gd name="connsiteY6" fmla="*/ 374771 h 1549763"/>
              <a:gd name="connsiteX7" fmla="*/ 598390 w 1916433"/>
              <a:gd name="connsiteY7" fmla="*/ 1514523 h 1549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6433" h="1549763">
                <a:moveTo>
                  <a:pt x="598390" y="1514523"/>
                </a:moveTo>
                <a:cubicBezTo>
                  <a:pt x="525023" y="1537213"/>
                  <a:pt x="451320" y="1549345"/>
                  <a:pt x="377600" y="1549763"/>
                </a:cubicBezTo>
                <a:lnTo>
                  <a:pt x="294211" y="1543498"/>
                </a:lnTo>
                <a:lnTo>
                  <a:pt x="0" y="571567"/>
                </a:lnTo>
                <a:lnTo>
                  <a:pt x="1888179" y="0"/>
                </a:lnTo>
                <a:lnTo>
                  <a:pt x="1916433" y="12427"/>
                </a:lnTo>
                <a:lnTo>
                  <a:pt x="1725072" y="374771"/>
                </a:lnTo>
                <a:cubicBezTo>
                  <a:pt x="1395245" y="945576"/>
                  <a:pt x="1001909" y="1389727"/>
                  <a:pt x="598390" y="151452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任意多边形: 形状 51"/>
          <p:cNvSpPr/>
          <p:nvPr/>
        </p:nvSpPr>
        <p:spPr>
          <a:xfrm rot="12019411" flipH="1" flipV="1">
            <a:off x="-291182" y="5920697"/>
            <a:ext cx="3035256" cy="1376273"/>
          </a:xfrm>
          <a:custGeom>
            <a:avLst/>
            <a:gdLst>
              <a:gd name="connsiteX0" fmla="*/ 4589130 w 4589130"/>
              <a:gd name="connsiteY0" fmla="*/ 644071 h 2080844"/>
              <a:gd name="connsiteX1" fmla="*/ 709924 w 4589130"/>
              <a:gd name="connsiteY1" fmla="*/ 2080844 h 2080844"/>
              <a:gd name="connsiteX2" fmla="*/ 0 w 4589130"/>
              <a:gd name="connsiteY2" fmla="*/ 164088 h 2080844"/>
              <a:gd name="connsiteX3" fmla="*/ 104369 w 4589130"/>
              <a:gd name="connsiteY3" fmla="*/ 134103 h 2080844"/>
              <a:gd name="connsiteX4" fmla="*/ 2724217 w 4589130"/>
              <a:gd name="connsiteY4" fmla="*/ 115788 h 2080844"/>
              <a:gd name="connsiteX5" fmla="*/ 4536823 w 4589130"/>
              <a:gd name="connsiteY5" fmla="*/ 618337 h 2080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89130" h="2080844">
                <a:moveTo>
                  <a:pt x="4589130" y="644071"/>
                </a:moveTo>
                <a:lnTo>
                  <a:pt x="709924" y="2080844"/>
                </a:lnTo>
                <a:lnTo>
                  <a:pt x="0" y="164088"/>
                </a:lnTo>
                <a:lnTo>
                  <a:pt x="104369" y="134103"/>
                </a:lnTo>
                <a:cubicBezTo>
                  <a:pt x="968008" y="-74620"/>
                  <a:pt x="2051606" y="-6865"/>
                  <a:pt x="2724217" y="115788"/>
                </a:cubicBezTo>
                <a:cubicBezTo>
                  <a:pt x="3247360" y="211184"/>
                  <a:pt x="3932060" y="347183"/>
                  <a:pt x="4536823" y="61833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31245" y="511554"/>
            <a:ext cx="476865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日常工具介绍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731837" y="4778880"/>
            <a:ext cx="4723360" cy="1311417"/>
          </a:xfrm>
          <a:prstGeom prst="roundRect">
            <a:avLst>
              <a:gd name="adj" fmla="val 919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731837" y="1498975"/>
            <a:ext cx="4723360" cy="1311417"/>
          </a:xfrm>
          <a:prstGeom prst="roundRect">
            <a:avLst>
              <a:gd name="adj" fmla="val 919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731837" y="3138928"/>
            <a:ext cx="4723360" cy="1311417"/>
          </a:xfrm>
          <a:prstGeom prst="roundRect">
            <a:avLst>
              <a:gd name="adj" fmla="val 919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65100" dist="88900" dir="2700000" algn="tl" rotWithShape="0">
              <a:srgbClr val="7854F7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318385" y="1704975"/>
            <a:ext cx="281241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年度新品上市商业判定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366152" y="2178064"/>
            <a:ext cx="2743797" cy="3308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1200" i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居家线</a:t>
            </a:r>
            <a:r>
              <a:rPr lang="en-US" altLang="zh-CN" sz="1200" i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25</a:t>
            </a:r>
            <a:r>
              <a:rPr lang="zh-CN" altLang="en-US" sz="1200" i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年商业判定</a:t>
            </a:r>
            <a:endParaRPr lang="zh-CN" altLang="en-US" sz="1200" i="1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28" name="图形 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3318" y="1750442"/>
            <a:ext cx="808483" cy="808483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2318527" y="3392488"/>
            <a:ext cx="274379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DA73B"/>
                </a:solidFill>
                <a:latin typeface="微软雅黑" charset="0"/>
                <a:ea typeface="微软雅黑" charset="0"/>
              </a:rPr>
              <a:t>月度</a:t>
            </a:r>
            <a:r>
              <a:rPr lang="en-US" altLang="zh-CN" sz="2000" dirty="0">
                <a:solidFill>
                  <a:srgbClr val="FDA73B"/>
                </a:solidFill>
                <a:latin typeface="微软雅黑" charset="0"/>
                <a:ea typeface="微软雅黑" charset="0"/>
              </a:rPr>
              <a:t>Baseline</a:t>
            </a:r>
            <a:r>
              <a:rPr lang="zh-CN" altLang="en-US" sz="2000" dirty="0">
                <a:solidFill>
                  <a:srgbClr val="FDA73B"/>
                </a:solidFill>
                <a:latin typeface="微软雅黑" charset="0"/>
                <a:ea typeface="微软雅黑" charset="0"/>
              </a:rPr>
              <a:t>管控</a:t>
            </a:r>
            <a:endParaRPr lang="zh-CN" altLang="en-US" sz="2000" dirty="0">
              <a:solidFill>
                <a:srgbClr val="FDA73B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387107" y="3865677"/>
            <a:ext cx="2743797" cy="3308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1200" i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欧洲</a:t>
            </a:r>
            <a:r>
              <a:rPr lang="en-US" altLang="zh-CN" sz="1200" i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Baseline</a:t>
            </a:r>
            <a:r>
              <a:rPr lang="zh-CN" altLang="en-US" sz="1200" i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规则文档</a:t>
            </a:r>
            <a:endParaRPr lang="zh-CN" altLang="en-US" sz="1200" i="1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29" name="图形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3318" y="3438055"/>
            <a:ext cx="808483" cy="808483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2318527" y="5019567"/>
            <a:ext cx="274379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DD656"/>
                </a:solidFill>
                <a:latin typeface="微软雅黑" charset="0"/>
                <a:ea typeface="微软雅黑" charset="0"/>
              </a:rPr>
              <a:t>GTM</a:t>
            </a:r>
            <a:r>
              <a:rPr lang="zh-CN" altLang="en-US" sz="2000" dirty="0">
                <a:solidFill>
                  <a:srgbClr val="FDD656"/>
                </a:solidFill>
                <a:latin typeface="微软雅黑" charset="0"/>
                <a:ea typeface="微软雅黑" charset="0"/>
              </a:rPr>
              <a:t>流程泳道</a:t>
            </a:r>
            <a:r>
              <a:rPr lang="zh-CN" altLang="en-US" sz="2000" dirty="0">
                <a:solidFill>
                  <a:srgbClr val="FDD656"/>
                </a:solidFill>
                <a:latin typeface="微软雅黑" charset="0"/>
                <a:ea typeface="微软雅黑" charset="0"/>
              </a:rPr>
              <a:t>图</a:t>
            </a:r>
            <a:endParaRPr lang="zh-CN" altLang="en-US" sz="2000" dirty="0">
              <a:solidFill>
                <a:srgbClr val="FDD65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87107" y="5492756"/>
            <a:ext cx="2743797" cy="3308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1200" i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6020</a:t>
            </a:r>
            <a:r>
              <a:rPr lang="zh-CN" altLang="en-US" sz="1200" i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新品上市</a:t>
            </a:r>
            <a:r>
              <a:rPr lang="en-US" altLang="zh-CN" sz="1200" i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PCT</a:t>
            </a:r>
            <a:r>
              <a:rPr lang="zh-CN" altLang="en-US" sz="1200" i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例会</a:t>
            </a:r>
            <a:endParaRPr lang="zh-CN" altLang="en-US" sz="1200" i="1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27" name="图形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3318" y="5065134"/>
            <a:ext cx="808483" cy="808483"/>
          </a:xfrm>
          <a:prstGeom prst="rect">
            <a:avLst/>
          </a:prstGeom>
        </p:spPr>
      </p:pic>
      <p:pic>
        <p:nvPicPr>
          <p:cNvPr id="12" name="图片 11" descr="govee_blu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182995" y="193040"/>
            <a:ext cx="3679825" cy="27355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4045" y="3013710"/>
            <a:ext cx="6234430" cy="1628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5825" y="4676775"/>
            <a:ext cx="4775835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189272" y="1460964"/>
            <a:ext cx="468505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意义和价值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28" name="任意多边形: 形状 27"/>
          <p:cNvSpPr/>
          <p:nvPr/>
        </p:nvSpPr>
        <p:spPr>
          <a:xfrm rot="762190">
            <a:off x="-223677" y="5278894"/>
            <a:ext cx="2356470" cy="1772048"/>
          </a:xfrm>
          <a:custGeom>
            <a:avLst/>
            <a:gdLst>
              <a:gd name="connsiteX0" fmla="*/ 0 w 2356470"/>
              <a:gd name="connsiteY0" fmla="*/ 0 h 1772048"/>
              <a:gd name="connsiteX1" fmla="*/ 121145 w 2356470"/>
              <a:gd name="connsiteY1" fmla="*/ 27252 h 1772048"/>
              <a:gd name="connsiteX2" fmla="*/ 2276686 w 2356470"/>
              <a:gd name="connsiteY2" fmla="*/ 1199704 h 1772048"/>
              <a:gd name="connsiteX3" fmla="*/ 2356470 w 2356470"/>
              <a:gd name="connsiteY3" fmla="*/ 1330901 h 1772048"/>
              <a:gd name="connsiteX4" fmla="*/ 399451 w 2356470"/>
              <a:gd name="connsiteY4" fmla="*/ 1772048 h 177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6470" h="1772048">
                <a:moveTo>
                  <a:pt x="0" y="0"/>
                </a:moveTo>
                <a:lnTo>
                  <a:pt x="121145" y="27252"/>
                </a:lnTo>
                <a:cubicBezTo>
                  <a:pt x="914771" y="216979"/>
                  <a:pt x="1804374" y="540811"/>
                  <a:pt x="2276686" y="1199704"/>
                </a:cubicBezTo>
                <a:lnTo>
                  <a:pt x="2356470" y="1330901"/>
                </a:lnTo>
                <a:lnTo>
                  <a:pt x="399451" y="1772048"/>
                </a:ln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: 形状 35"/>
          <p:cNvSpPr/>
          <p:nvPr/>
        </p:nvSpPr>
        <p:spPr>
          <a:xfrm rot="7762083">
            <a:off x="3134989" y="-1472905"/>
            <a:ext cx="2546473" cy="3007072"/>
          </a:xfrm>
          <a:custGeom>
            <a:avLst/>
            <a:gdLst>
              <a:gd name="connsiteX0" fmla="*/ 2467229 w 2546473"/>
              <a:gd name="connsiteY0" fmla="*/ 3007072 h 3007072"/>
              <a:gd name="connsiteX1" fmla="*/ 0 w 2546473"/>
              <a:gd name="connsiteY1" fmla="*/ 0 h 3007072"/>
              <a:gd name="connsiteX2" fmla="*/ 53528 w 2546473"/>
              <a:gd name="connsiteY2" fmla="*/ 12041 h 3007072"/>
              <a:gd name="connsiteX3" fmla="*/ 2546473 w 2546473"/>
              <a:gd name="connsiteY3" fmla="*/ 2279216 h 3007072"/>
              <a:gd name="connsiteX4" fmla="*/ 2498786 w 2546473"/>
              <a:gd name="connsiteY4" fmla="*/ 2829360 h 300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6473" h="3007072">
                <a:moveTo>
                  <a:pt x="2467229" y="3007072"/>
                </a:moveTo>
                <a:lnTo>
                  <a:pt x="0" y="0"/>
                </a:lnTo>
                <a:lnTo>
                  <a:pt x="53528" y="12041"/>
                </a:lnTo>
                <a:cubicBezTo>
                  <a:pt x="1199877" y="286091"/>
                  <a:pt x="2546473" y="839939"/>
                  <a:pt x="2546473" y="2279216"/>
                </a:cubicBezTo>
                <a:cubicBezTo>
                  <a:pt x="2546473" y="2445286"/>
                  <a:pt x="2529905" y="2631097"/>
                  <a:pt x="2498786" y="2829360"/>
                </a:cubicBezTo>
                <a:close/>
              </a:path>
            </a:pathLst>
          </a:custGeom>
          <a:solidFill>
            <a:srgbClr val="FDA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97462" y="1306715"/>
            <a:ext cx="468505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03.GTM</a:t>
            </a:r>
            <a:r>
              <a:rPr lang="zh-CN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流程</a:t>
            </a:r>
            <a:endParaRPr lang="zh-CN" altLang="en-US" sz="6000" dirty="0">
              <a:solidFill>
                <a:schemeClr val="tx1">
                  <a:lumMod val="65000"/>
                  <a:lumOff val="3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2" name="图片 11" descr="govee_bl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57505"/>
            <a:ext cx="1800225" cy="11995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1470" y="2321560"/>
            <a:ext cx="110229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一种</a:t>
            </a:r>
            <a:r>
              <a:rPr lang="zh-CN" altLang="en-US" b="1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集成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产品营销销售和服务的业务流程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旨在实现产品的</a:t>
            </a:r>
            <a:r>
              <a:rPr lang="zh-CN" altLang="en-US" b="1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商业成功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。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它以产品的整个生命周期为主线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涵盖了产品策划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计划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开发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验证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上市等各个阶段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。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作为面向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2C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的主干业务流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聚焦产品上市前端与销售相关各环节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围绕单款产品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规范从产品的市场机会点生成到生命周期结束的</a:t>
            </a:r>
            <a:r>
              <a:rPr lang="zh-CN" altLang="en-US" b="1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全流程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市场整体操盘管理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165" y="3397250"/>
            <a:ext cx="8947785" cy="32251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/>
        </p:nvSpPr>
        <p:spPr>
          <a:xfrm rot="12019411">
            <a:off x="8050084" y="-615150"/>
            <a:ext cx="4589130" cy="2080844"/>
          </a:xfrm>
          <a:custGeom>
            <a:avLst/>
            <a:gdLst>
              <a:gd name="connsiteX0" fmla="*/ 4589130 w 4589130"/>
              <a:gd name="connsiteY0" fmla="*/ 644071 h 2080844"/>
              <a:gd name="connsiteX1" fmla="*/ 709924 w 4589130"/>
              <a:gd name="connsiteY1" fmla="*/ 2080844 h 2080844"/>
              <a:gd name="connsiteX2" fmla="*/ 0 w 4589130"/>
              <a:gd name="connsiteY2" fmla="*/ 164088 h 2080844"/>
              <a:gd name="connsiteX3" fmla="*/ 104369 w 4589130"/>
              <a:gd name="connsiteY3" fmla="*/ 134103 h 2080844"/>
              <a:gd name="connsiteX4" fmla="*/ 2724217 w 4589130"/>
              <a:gd name="connsiteY4" fmla="*/ 115788 h 2080844"/>
              <a:gd name="connsiteX5" fmla="*/ 4536823 w 4589130"/>
              <a:gd name="connsiteY5" fmla="*/ 618337 h 2080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89130" h="2080844">
                <a:moveTo>
                  <a:pt x="4589130" y="644071"/>
                </a:moveTo>
                <a:lnTo>
                  <a:pt x="709924" y="2080844"/>
                </a:lnTo>
                <a:lnTo>
                  <a:pt x="0" y="164088"/>
                </a:lnTo>
                <a:lnTo>
                  <a:pt x="104369" y="134103"/>
                </a:lnTo>
                <a:cubicBezTo>
                  <a:pt x="968008" y="-74620"/>
                  <a:pt x="2051606" y="-6865"/>
                  <a:pt x="2724217" y="115788"/>
                </a:cubicBezTo>
                <a:cubicBezTo>
                  <a:pt x="3247360" y="211184"/>
                  <a:pt x="3932060" y="347183"/>
                  <a:pt x="4536823" y="618337"/>
                </a:cubicBez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/>
        </p:nvSpPr>
        <p:spPr>
          <a:xfrm rot="12019411" flipH="1" flipV="1">
            <a:off x="-291182" y="5920697"/>
            <a:ext cx="3035256" cy="1376273"/>
          </a:xfrm>
          <a:custGeom>
            <a:avLst/>
            <a:gdLst>
              <a:gd name="connsiteX0" fmla="*/ 4589130 w 4589130"/>
              <a:gd name="connsiteY0" fmla="*/ 644071 h 2080844"/>
              <a:gd name="connsiteX1" fmla="*/ 709924 w 4589130"/>
              <a:gd name="connsiteY1" fmla="*/ 2080844 h 2080844"/>
              <a:gd name="connsiteX2" fmla="*/ 0 w 4589130"/>
              <a:gd name="connsiteY2" fmla="*/ 164088 h 2080844"/>
              <a:gd name="connsiteX3" fmla="*/ 104369 w 4589130"/>
              <a:gd name="connsiteY3" fmla="*/ 134103 h 2080844"/>
              <a:gd name="connsiteX4" fmla="*/ 2724217 w 4589130"/>
              <a:gd name="connsiteY4" fmla="*/ 115788 h 2080844"/>
              <a:gd name="connsiteX5" fmla="*/ 4536823 w 4589130"/>
              <a:gd name="connsiteY5" fmla="*/ 618337 h 2080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89130" h="2080844">
                <a:moveTo>
                  <a:pt x="4589130" y="644071"/>
                </a:moveTo>
                <a:lnTo>
                  <a:pt x="709924" y="2080844"/>
                </a:lnTo>
                <a:lnTo>
                  <a:pt x="0" y="164088"/>
                </a:lnTo>
                <a:lnTo>
                  <a:pt x="104369" y="134103"/>
                </a:lnTo>
                <a:cubicBezTo>
                  <a:pt x="968008" y="-74620"/>
                  <a:pt x="2051606" y="-6865"/>
                  <a:pt x="2724217" y="115788"/>
                </a:cubicBezTo>
                <a:cubicBezTo>
                  <a:pt x="3247360" y="211184"/>
                  <a:pt x="3932060" y="347183"/>
                  <a:pt x="4536823" y="61833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 descr="govee_bl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1862" y="216999"/>
            <a:ext cx="4685055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PCT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运营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机制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1765" y="1087120"/>
            <a:ext cx="110229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微软雅黑" charset="0"/>
                <a:ea typeface="微软雅黑" charset="0"/>
                <a:cs typeface="微软雅黑" charset="0"/>
              </a:rPr>
              <a:t>PCT（Product Commercial Team）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团队是负责产品商业成功的核心操盘团队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指营销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销售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渠道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交付等部门形成一个统一的作战单元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相互拉通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相互协同，做到</a:t>
            </a:r>
            <a:r>
              <a:rPr lang="zh-CN" altLang="en-US" b="1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四快一慢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上市热度飙升快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销量起量快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策略调整快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产品收尾快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上市准备要慢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），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最终实现商业成功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60" y="2662555"/>
            <a:ext cx="5640070" cy="24282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888615" y="5638165"/>
            <a:ext cx="6798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以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PCT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例会形式解决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：1、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信息同步问题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；2、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共同决策方案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90" y="2745105"/>
            <a:ext cx="6043930" cy="23456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/>
        </p:nvSpPr>
        <p:spPr>
          <a:xfrm rot="12019411">
            <a:off x="8050084" y="-615150"/>
            <a:ext cx="4589130" cy="2080844"/>
          </a:xfrm>
          <a:custGeom>
            <a:avLst/>
            <a:gdLst>
              <a:gd name="connsiteX0" fmla="*/ 4589130 w 4589130"/>
              <a:gd name="connsiteY0" fmla="*/ 644071 h 2080844"/>
              <a:gd name="connsiteX1" fmla="*/ 709924 w 4589130"/>
              <a:gd name="connsiteY1" fmla="*/ 2080844 h 2080844"/>
              <a:gd name="connsiteX2" fmla="*/ 0 w 4589130"/>
              <a:gd name="connsiteY2" fmla="*/ 164088 h 2080844"/>
              <a:gd name="connsiteX3" fmla="*/ 104369 w 4589130"/>
              <a:gd name="connsiteY3" fmla="*/ 134103 h 2080844"/>
              <a:gd name="connsiteX4" fmla="*/ 2724217 w 4589130"/>
              <a:gd name="connsiteY4" fmla="*/ 115788 h 2080844"/>
              <a:gd name="connsiteX5" fmla="*/ 4536823 w 4589130"/>
              <a:gd name="connsiteY5" fmla="*/ 618337 h 2080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89130" h="2080844">
                <a:moveTo>
                  <a:pt x="4589130" y="644071"/>
                </a:moveTo>
                <a:lnTo>
                  <a:pt x="709924" y="2080844"/>
                </a:lnTo>
                <a:lnTo>
                  <a:pt x="0" y="164088"/>
                </a:lnTo>
                <a:lnTo>
                  <a:pt x="104369" y="134103"/>
                </a:lnTo>
                <a:cubicBezTo>
                  <a:pt x="968008" y="-74620"/>
                  <a:pt x="2051606" y="-6865"/>
                  <a:pt x="2724217" y="115788"/>
                </a:cubicBezTo>
                <a:cubicBezTo>
                  <a:pt x="3247360" y="211184"/>
                  <a:pt x="3932060" y="347183"/>
                  <a:pt x="4536823" y="618337"/>
                </a:cubicBez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/>
        </p:nvSpPr>
        <p:spPr>
          <a:xfrm rot="12019411" flipH="1" flipV="1">
            <a:off x="-291182" y="5920697"/>
            <a:ext cx="3035256" cy="1376273"/>
          </a:xfrm>
          <a:custGeom>
            <a:avLst/>
            <a:gdLst>
              <a:gd name="connsiteX0" fmla="*/ 4589130 w 4589130"/>
              <a:gd name="connsiteY0" fmla="*/ 644071 h 2080844"/>
              <a:gd name="connsiteX1" fmla="*/ 709924 w 4589130"/>
              <a:gd name="connsiteY1" fmla="*/ 2080844 h 2080844"/>
              <a:gd name="connsiteX2" fmla="*/ 0 w 4589130"/>
              <a:gd name="connsiteY2" fmla="*/ 164088 h 2080844"/>
              <a:gd name="connsiteX3" fmla="*/ 104369 w 4589130"/>
              <a:gd name="connsiteY3" fmla="*/ 134103 h 2080844"/>
              <a:gd name="connsiteX4" fmla="*/ 2724217 w 4589130"/>
              <a:gd name="connsiteY4" fmla="*/ 115788 h 2080844"/>
              <a:gd name="connsiteX5" fmla="*/ 4536823 w 4589130"/>
              <a:gd name="connsiteY5" fmla="*/ 618337 h 2080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89130" h="2080844">
                <a:moveTo>
                  <a:pt x="4589130" y="644071"/>
                </a:moveTo>
                <a:lnTo>
                  <a:pt x="709924" y="2080844"/>
                </a:lnTo>
                <a:lnTo>
                  <a:pt x="0" y="164088"/>
                </a:lnTo>
                <a:lnTo>
                  <a:pt x="104369" y="134103"/>
                </a:lnTo>
                <a:cubicBezTo>
                  <a:pt x="968008" y="-74620"/>
                  <a:pt x="2051606" y="-6865"/>
                  <a:pt x="2724217" y="115788"/>
                </a:cubicBezTo>
                <a:cubicBezTo>
                  <a:pt x="3247360" y="211184"/>
                  <a:pt x="3932060" y="347183"/>
                  <a:pt x="4536823" y="61833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 descr="govee_bl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1862" y="216999"/>
            <a:ext cx="4685055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GTM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流程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解读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378460" y="763270"/>
            <a:ext cx="10570845" cy="2192655"/>
            <a:chOff x="1273" y="6796"/>
            <a:chExt cx="16647" cy="3453"/>
          </a:xfrm>
        </p:grpSpPr>
        <p:sp>
          <p:nvSpPr>
            <p:cNvPr id="4" name="文本框 3"/>
            <p:cNvSpPr txBox="1"/>
            <p:nvPr/>
          </p:nvSpPr>
          <p:spPr>
            <a:xfrm>
              <a:off x="1273" y="8093"/>
              <a:ext cx="6774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just"/>
              <a:r>
                <a:rPr lang="zh-CN" altLang="en-US" b="0" i="0">
                  <a:solidFill>
                    <a:srgbClr val="666666"/>
                  </a:solidFill>
                  <a:latin typeface="微软雅黑" charset="0"/>
                  <a:ea typeface="微软雅黑" charset="0"/>
                </a:rPr>
                <a:t>假设大白是一个对衣柜有需求的人，小白是一个木工。现在大白想做一个衣柜：</a:t>
              </a:r>
              <a:endParaRPr lang="zh-CN" altLang="en-US" b="0" i="0">
                <a:solidFill>
                  <a:srgbClr val="666666"/>
                </a:solidFill>
                <a:latin typeface="微软雅黑" charset="0"/>
                <a:ea typeface="微软雅黑" charset="0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8300" y="6796"/>
              <a:ext cx="9620" cy="3453"/>
              <a:chOff x="529" y="4062"/>
              <a:chExt cx="12067" cy="4331"/>
            </a:xfrm>
          </p:grpSpPr>
          <p:sp>
            <p:nvSpPr>
              <p:cNvPr id="5" name="矩形: 圆角 15"/>
              <p:cNvSpPr/>
              <p:nvPr/>
            </p:nvSpPr>
            <p:spPr>
              <a:xfrm>
                <a:off x="529" y="4111"/>
                <a:ext cx="1526" cy="657"/>
              </a:xfrm>
              <a:prstGeom prst="roundRect">
                <a:avLst>
                  <a:gd name="adj" fmla="val 12617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88900" dir="2700000" algn="tl" rotWithShape="0">
                  <a:srgbClr val="7854F7">
                    <a:alpha val="12000"/>
                  </a:srgbClr>
                </a:outerShdw>
              </a:effectLst>
            </p:spPr>
            <p:txBody>
              <a:bodyPr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第一步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  <p:sp>
            <p:nvSpPr>
              <p:cNvPr id="13" name="矩形: 圆角 15"/>
              <p:cNvSpPr/>
              <p:nvPr/>
            </p:nvSpPr>
            <p:spPr>
              <a:xfrm>
                <a:off x="529" y="5008"/>
                <a:ext cx="1526" cy="657"/>
              </a:xfrm>
              <a:prstGeom prst="roundRect">
                <a:avLst>
                  <a:gd name="adj" fmla="val 12617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88900" dir="2700000" algn="tl" rotWithShape="0">
                  <a:srgbClr val="7854F7">
                    <a:alpha val="12000"/>
                  </a:srgbClr>
                </a:outerShdw>
              </a:effectLst>
            </p:spPr>
            <p:txBody>
              <a:bodyPr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第二步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  <p:sp>
            <p:nvSpPr>
              <p:cNvPr id="24" name="矩形: 圆角 15"/>
              <p:cNvSpPr/>
              <p:nvPr/>
            </p:nvSpPr>
            <p:spPr>
              <a:xfrm>
                <a:off x="529" y="5904"/>
                <a:ext cx="1526" cy="657"/>
              </a:xfrm>
              <a:prstGeom prst="roundRect">
                <a:avLst>
                  <a:gd name="adj" fmla="val 12617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88900" dir="2700000" algn="tl" rotWithShape="0">
                  <a:srgbClr val="7854F7">
                    <a:alpha val="12000"/>
                  </a:srgbClr>
                </a:outerShdw>
              </a:effectLst>
            </p:spPr>
            <p:txBody>
              <a:bodyPr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第三步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  <p:sp>
            <p:nvSpPr>
              <p:cNvPr id="25" name="矩形: 圆角 15"/>
              <p:cNvSpPr/>
              <p:nvPr/>
            </p:nvSpPr>
            <p:spPr>
              <a:xfrm>
                <a:off x="529" y="6820"/>
                <a:ext cx="1526" cy="657"/>
              </a:xfrm>
              <a:prstGeom prst="roundRect">
                <a:avLst>
                  <a:gd name="adj" fmla="val 12617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88900" dir="2700000" algn="tl" rotWithShape="0">
                  <a:srgbClr val="7854F7">
                    <a:alpha val="12000"/>
                  </a:srgbClr>
                </a:outerShdw>
              </a:effectLst>
            </p:spPr>
            <p:txBody>
              <a:bodyPr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第四步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  <p:sp>
            <p:nvSpPr>
              <p:cNvPr id="27" name="矩形: 圆角 15"/>
              <p:cNvSpPr/>
              <p:nvPr/>
            </p:nvSpPr>
            <p:spPr>
              <a:xfrm>
                <a:off x="529" y="7736"/>
                <a:ext cx="1526" cy="657"/>
              </a:xfrm>
              <a:prstGeom prst="roundRect">
                <a:avLst>
                  <a:gd name="adj" fmla="val 12617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88900" dir="2700000" algn="tl" rotWithShape="0">
                  <a:srgbClr val="7854F7">
                    <a:alpha val="12000"/>
                  </a:srgbClr>
                </a:outerShdw>
              </a:effectLst>
            </p:spPr>
            <p:txBody>
              <a:bodyPr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+mn-cs"/>
                  </a:rPr>
                  <a:t>第五步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2281" y="4093"/>
                <a:ext cx="7378" cy="65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大白决定做衣柜</a:t>
                </a:r>
                <a:r>
                  <a:rPr lang="en-US" altLang="zh-CN" sz="12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，</a:t>
                </a:r>
                <a:r>
                  <a:rPr lang="zh-CN" altLang="en-US" sz="12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他需要投入人和钱</a:t>
                </a:r>
                <a:endParaRPr lang="zh-CN" altLang="en-US" sz="120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2281" y="4990"/>
                <a:ext cx="7378" cy="65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大白找到小白，跟小白商量要做成什么样子</a:t>
                </a:r>
                <a:endParaRPr lang="zh-CN" altLang="en-US" sz="120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281" y="5887"/>
                <a:ext cx="7378" cy="65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大白跟小白商量好交货时间</a:t>
                </a:r>
                <a:endParaRPr lang="zh-CN" altLang="en-US" sz="120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2281" y="6803"/>
                <a:ext cx="7378" cy="65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小白开始做，打样，加工、修改、刷漆</a:t>
                </a:r>
                <a:endParaRPr lang="zh-CN" altLang="en-US" sz="120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2281" y="7719"/>
                <a:ext cx="7378" cy="65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小白向大白按期交货，大白验收，验收通过给钱</a:t>
                </a:r>
                <a:endParaRPr lang="zh-CN" altLang="en-US" sz="120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9885" y="4062"/>
                <a:ext cx="2691" cy="658"/>
              </a:xfrm>
              <a:prstGeom prst="roundRect">
                <a:avLst/>
              </a:prstGeom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决定做</a:t>
                </a:r>
                <a:endParaRPr lang="zh-CN" altLang="en-US" sz="12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  <p:sp>
            <p:nvSpPr>
              <p:cNvPr id="39" name="圆角矩形 38"/>
              <p:cNvSpPr/>
              <p:nvPr/>
            </p:nvSpPr>
            <p:spPr>
              <a:xfrm>
                <a:off x="9885" y="4960"/>
                <a:ext cx="2691" cy="658"/>
              </a:xfrm>
              <a:prstGeom prst="roundRect">
                <a:avLst/>
              </a:prstGeom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决定做成什么样</a:t>
                </a:r>
                <a:endParaRPr lang="zh-CN" altLang="en-US" sz="12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  <p:sp>
            <p:nvSpPr>
              <p:cNvPr id="40" name="圆角矩形 39"/>
              <p:cNvSpPr/>
              <p:nvPr/>
            </p:nvSpPr>
            <p:spPr>
              <a:xfrm>
                <a:off x="9885" y="5858"/>
                <a:ext cx="2691" cy="658"/>
              </a:xfrm>
              <a:prstGeom prst="roundRect">
                <a:avLst/>
              </a:prstGeom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决定何时做完</a:t>
                </a:r>
                <a:endParaRPr lang="zh-CN" altLang="en-US" sz="12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  <p:sp>
            <p:nvSpPr>
              <p:cNvPr id="41" name="圆角矩形 40"/>
              <p:cNvSpPr/>
              <p:nvPr/>
            </p:nvSpPr>
            <p:spPr>
              <a:xfrm>
                <a:off x="9885" y="6762"/>
                <a:ext cx="2691" cy="658"/>
              </a:xfrm>
              <a:prstGeom prst="roundRect">
                <a:avLst/>
              </a:prstGeom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开始做</a:t>
                </a:r>
                <a:endParaRPr lang="zh-CN" altLang="en-US" sz="12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  <p:sp>
            <p:nvSpPr>
              <p:cNvPr id="42" name="圆角矩形 41"/>
              <p:cNvSpPr/>
              <p:nvPr/>
            </p:nvSpPr>
            <p:spPr>
              <a:xfrm>
                <a:off x="9905" y="7702"/>
                <a:ext cx="2691" cy="658"/>
              </a:xfrm>
              <a:prstGeom prst="roundRect">
                <a:avLst/>
              </a:prstGeom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做完验收</a:t>
                </a:r>
                <a:endParaRPr lang="zh-CN" altLang="en-US" sz="12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349885" y="3164840"/>
            <a:ext cx="11262360" cy="3465830"/>
            <a:chOff x="381" y="1053"/>
            <a:chExt cx="17736" cy="5458"/>
          </a:xfrm>
        </p:grpSpPr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" y="1053"/>
              <a:ext cx="13040" cy="5458"/>
            </a:xfrm>
            <a:prstGeom prst="rect">
              <a:avLst/>
            </a:prstGeom>
          </p:spPr>
        </p:pic>
        <p:sp>
          <p:nvSpPr>
            <p:cNvPr id="79" name="文本框 78"/>
            <p:cNvSpPr txBox="1"/>
            <p:nvPr/>
          </p:nvSpPr>
          <p:spPr>
            <a:xfrm>
              <a:off x="13454" y="3749"/>
              <a:ext cx="4663" cy="232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/>
              <a:r>
                <a:rPr lang="en-US" i="0">
                  <a:solidFill>
                    <a:schemeClr val="accent2"/>
                  </a:solidFill>
                  <a:latin typeface="微软雅黑" charset="0"/>
                  <a:ea typeface="微软雅黑" charset="0"/>
                  <a:cs typeface="微软雅黑" charset="0"/>
                </a:rPr>
                <a:t>PD</a:t>
              </a:r>
              <a:r>
                <a:rPr lang="zh-CN" altLang="en-US" i="0">
                  <a:solidFill>
                    <a:schemeClr val="accent2"/>
                  </a:solidFill>
                  <a:latin typeface="微软雅黑" charset="0"/>
                  <a:ea typeface="微软雅黑" charset="0"/>
                  <a:cs typeface="微软雅黑" charset="0"/>
                </a:rPr>
                <a:t>流程输出产品信息给到</a:t>
              </a:r>
              <a:r>
                <a:rPr lang="en-US" altLang="zh-CN" i="0">
                  <a:solidFill>
                    <a:schemeClr val="accent2"/>
                  </a:solidFill>
                  <a:latin typeface="微软雅黑" charset="0"/>
                  <a:ea typeface="微软雅黑" charset="0"/>
                  <a:cs typeface="微软雅黑" charset="0"/>
                </a:rPr>
                <a:t>GTM</a:t>
              </a:r>
              <a:r>
                <a:rPr lang="zh-CN" altLang="en-US" i="0">
                  <a:solidFill>
                    <a:schemeClr val="accent2"/>
                  </a:solidFill>
                  <a:latin typeface="微软雅黑" charset="0"/>
                  <a:ea typeface="微软雅黑" charset="0"/>
                  <a:cs typeface="微软雅黑" charset="0"/>
                </a:rPr>
                <a:t>流程进行市场准备上市工作</a:t>
              </a:r>
              <a:r>
                <a:rPr lang="en-US" altLang="zh-CN" i="0">
                  <a:solidFill>
                    <a:schemeClr val="accent2"/>
                  </a:solidFill>
                  <a:latin typeface="微软雅黑" charset="0"/>
                  <a:ea typeface="微软雅黑" charset="0"/>
                  <a:cs typeface="微软雅黑" charset="0"/>
                </a:rPr>
                <a:t>，GTM</a:t>
              </a:r>
              <a:r>
                <a:rPr lang="zh-CN" altLang="en-US" i="0">
                  <a:solidFill>
                    <a:schemeClr val="accent2"/>
                  </a:solidFill>
                  <a:latin typeface="微软雅黑" charset="0"/>
                  <a:ea typeface="微软雅黑" charset="0"/>
                  <a:cs typeface="微软雅黑" charset="0"/>
                </a:rPr>
                <a:t>输出市场目标及需求给到</a:t>
              </a:r>
              <a:r>
                <a:rPr lang="en-US" altLang="zh-CN" i="0">
                  <a:solidFill>
                    <a:schemeClr val="accent2"/>
                  </a:solidFill>
                  <a:latin typeface="微软雅黑" charset="0"/>
                  <a:ea typeface="微软雅黑" charset="0"/>
                  <a:cs typeface="微软雅黑" charset="0"/>
                </a:rPr>
                <a:t>PD</a:t>
              </a:r>
              <a:r>
                <a:rPr lang="zh-CN" altLang="en-US" i="0">
                  <a:solidFill>
                    <a:schemeClr val="accent2"/>
                  </a:solidFill>
                  <a:latin typeface="微软雅黑" charset="0"/>
                  <a:ea typeface="微软雅黑" charset="0"/>
                  <a:cs typeface="微软雅黑" charset="0"/>
                </a:rPr>
                <a:t>流程进行</a:t>
              </a:r>
              <a:r>
                <a:rPr lang="zh-CN" altLang="en-US" i="0">
                  <a:solidFill>
                    <a:schemeClr val="accent2"/>
                  </a:solidFill>
                  <a:latin typeface="微软雅黑" charset="0"/>
                  <a:ea typeface="微软雅黑" charset="0"/>
                  <a:cs typeface="微软雅黑" charset="0"/>
                </a:rPr>
                <a:t>供应规划</a:t>
              </a:r>
              <a:endParaRPr lang="zh-CN" altLang="en-US" i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</p:grpSp>
      <p:sp>
        <p:nvSpPr>
          <p:cNvPr id="50" name="圆角矩形 49"/>
          <p:cNvSpPr/>
          <p:nvPr/>
        </p:nvSpPr>
        <p:spPr>
          <a:xfrm>
            <a:off x="241775" y="2531745"/>
            <a:ext cx="1362270" cy="333126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决定做</a:t>
            </a:r>
            <a:endParaRPr lang="zh-CN" altLang="en-US" sz="12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51" name="直接箭头连接符 50"/>
          <p:cNvCxnSpPr>
            <a:stCxn id="50" idx="2"/>
          </p:cNvCxnSpPr>
          <p:nvPr/>
        </p:nvCxnSpPr>
        <p:spPr>
          <a:xfrm>
            <a:off x="922655" y="2865120"/>
            <a:ext cx="440055" cy="72834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1402715" y="2917190"/>
            <a:ext cx="0" cy="3862070"/>
          </a:xfrm>
          <a:prstGeom prst="line">
            <a:avLst/>
          </a:prstGeom>
          <a:ln w="6350" cap="flat" cmpd="sng" algn="ctr">
            <a:solidFill>
              <a:schemeClr val="accent5"/>
            </a:solidFill>
            <a:prstDash val="dash"/>
            <a:miter lim="800000"/>
          </a:ln>
        </p:spPr>
        <p:style>
          <a:lnRef idx="0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圆角矩形 52"/>
          <p:cNvSpPr/>
          <p:nvPr/>
        </p:nvSpPr>
        <p:spPr>
          <a:xfrm>
            <a:off x="1765775" y="2531715"/>
            <a:ext cx="1362270" cy="333126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决定做成什么样</a:t>
            </a:r>
            <a:endParaRPr lang="zh-CN" altLang="en-US" sz="12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54" name="直接箭头连接符 53"/>
          <p:cNvCxnSpPr>
            <a:stCxn id="53" idx="2"/>
          </p:cNvCxnSpPr>
          <p:nvPr/>
        </p:nvCxnSpPr>
        <p:spPr>
          <a:xfrm flipH="1">
            <a:off x="2073275" y="2865120"/>
            <a:ext cx="373380" cy="46482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2073275" y="2918460"/>
            <a:ext cx="0" cy="3862070"/>
          </a:xfrm>
          <a:prstGeom prst="line">
            <a:avLst/>
          </a:prstGeom>
          <a:ln w="6350" cap="flat" cmpd="sng" algn="ctr">
            <a:solidFill>
              <a:schemeClr val="accent5"/>
            </a:solidFill>
            <a:prstDash val="dash"/>
            <a:miter lim="800000"/>
          </a:ln>
        </p:spPr>
        <p:style>
          <a:lnRef idx="0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圆角矩形 55"/>
          <p:cNvSpPr/>
          <p:nvPr/>
        </p:nvSpPr>
        <p:spPr>
          <a:xfrm>
            <a:off x="3372325" y="2544386"/>
            <a:ext cx="1362270" cy="333126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决定何时做完</a:t>
            </a:r>
            <a:endParaRPr lang="zh-CN" altLang="en-US" sz="12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flipH="1">
            <a:off x="2852420" y="2912110"/>
            <a:ext cx="1194435" cy="41783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2813050" y="2919095"/>
            <a:ext cx="0" cy="3862070"/>
          </a:xfrm>
          <a:prstGeom prst="line">
            <a:avLst/>
          </a:prstGeom>
          <a:ln w="6350" cap="flat" cmpd="sng" algn="ctr">
            <a:solidFill>
              <a:schemeClr val="accent5"/>
            </a:solidFill>
            <a:prstDash val="dash"/>
            <a:miter lim="800000"/>
          </a:ln>
        </p:spPr>
        <p:style>
          <a:lnRef idx="0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圆角矩形 58"/>
          <p:cNvSpPr/>
          <p:nvPr/>
        </p:nvSpPr>
        <p:spPr>
          <a:xfrm>
            <a:off x="3952080" y="2996339"/>
            <a:ext cx="1362270" cy="333126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开始做</a:t>
            </a:r>
            <a:endParaRPr lang="zh-CN" altLang="en-US" sz="12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6914320" y="3008047"/>
            <a:ext cx="1362270" cy="333126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做完验收</a:t>
            </a:r>
            <a:endParaRPr lang="zh-CN" altLang="en-US" sz="12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61" name="直接箭头连接符 60"/>
          <p:cNvCxnSpPr/>
          <p:nvPr/>
        </p:nvCxnSpPr>
        <p:spPr>
          <a:xfrm flipH="1">
            <a:off x="6163945" y="3078480"/>
            <a:ext cx="821055" cy="24003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114415" y="2955925"/>
            <a:ext cx="0" cy="3862070"/>
          </a:xfrm>
          <a:prstGeom prst="line">
            <a:avLst/>
          </a:prstGeom>
          <a:ln w="6350" cap="flat" cmpd="sng" algn="ctr">
            <a:solidFill>
              <a:schemeClr val="accent5"/>
            </a:solidFill>
            <a:prstDash val="dash"/>
            <a:miter lim="800000"/>
          </a:ln>
        </p:spPr>
        <p:style>
          <a:lnRef idx="0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govee_bl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2025"/>
            <a:ext cx="12192000" cy="5895975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400050" y="1778635"/>
            <a:ext cx="710565" cy="366395"/>
          </a:xfrm>
          <a:prstGeom prst="roundRect">
            <a:avLst/>
          </a:prstGeom>
          <a:solidFill>
            <a:srgbClr val="53585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latin typeface="微软雅黑" charset="0"/>
                <a:ea typeface="微软雅黑" charset="0"/>
              </a:rPr>
              <a:t>GTM</a:t>
            </a:r>
            <a:endParaRPr lang="en-US" altLang="zh-CN" sz="1400">
              <a:latin typeface="微软雅黑" charset="0"/>
              <a:ea typeface="微软雅黑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99720" y="261620"/>
            <a:ext cx="510794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GTM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流程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核心交付件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: 形状 49"/>
          <p:cNvSpPr/>
          <p:nvPr/>
        </p:nvSpPr>
        <p:spPr>
          <a:xfrm rot="12019411">
            <a:off x="8050084" y="-615150"/>
            <a:ext cx="4589130" cy="2080844"/>
          </a:xfrm>
          <a:custGeom>
            <a:avLst/>
            <a:gdLst>
              <a:gd name="connsiteX0" fmla="*/ 4589130 w 4589130"/>
              <a:gd name="connsiteY0" fmla="*/ 644071 h 2080844"/>
              <a:gd name="connsiteX1" fmla="*/ 709924 w 4589130"/>
              <a:gd name="connsiteY1" fmla="*/ 2080844 h 2080844"/>
              <a:gd name="connsiteX2" fmla="*/ 0 w 4589130"/>
              <a:gd name="connsiteY2" fmla="*/ 164088 h 2080844"/>
              <a:gd name="connsiteX3" fmla="*/ 104369 w 4589130"/>
              <a:gd name="connsiteY3" fmla="*/ 134103 h 2080844"/>
              <a:gd name="connsiteX4" fmla="*/ 2724217 w 4589130"/>
              <a:gd name="connsiteY4" fmla="*/ 115788 h 2080844"/>
              <a:gd name="connsiteX5" fmla="*/ 4536823 w 4589130"/>
              <a:gd name="connsiteY5" fmla="*/ 618337 h 2080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89130" h="2080844">
                <a:moveTo>
                  <a:pt x="4589130" y="644071"/>
                </a:moveTo>
                <a:lnTo>
                  <a:pt x="709924" y="2080844"/>
                </a:lnTo>
                <a:lnTo>
                  <a:pt x="0" y="164088"/>
                </a:lnTo>
                <a:lnTo>
                  <a:pt x="104369" y="134103"/>
                </a:lnTo>
                <a:cubicBezTo>
                  <a:pt x="968008" y="-74620"/>
                  <a:pt x="2051606" y="-6865"/>
                  <a:pt x="2724217" y="115788"/>
                </a:cubicBezTo>
                <a:cubicBezTo>
                  <a:pt x="3247360" y="211184"/>
                  <a:pt x="3932060" y="347183"/>
                  <a:pt x="4536823" y="618337"/>
                </a:cubicBez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" y="968375"/>
            <a:ext cx="10206355" cy="57753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9647" y="261449"/>
            <a:ext cx="4685055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GTM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流程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rPr>
              <a:t>泳道图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微软雅黑" charset="0"/>
              <a:ea typeface="微软雅黑" charset="0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/>
        </p:nvSpPr>
        <p:spPr>
          <a:xfrm rot="11810489" flipH="1" flipV="1">
            <a:off x="-109225" y="-313587"/>
            <a:ext cx="1916433" cy="1549763"/>
          </a:xfrm>
          <a:custGeom>
            <a:avLst/>
            <a:gdLst>
              <a:gd name="connsiteX0" fmla="*/ 598390 w 1916433"/>
              <a:gd name="connsiteY0" fmla="*/ 1514523 h 1549763"/>
              <a:gd name="connsiteX1" fmla="*/ 377600 w 1916433"/>
              <a:gd name="connsiteY1" fmla="*/ 1549763 h 1549763"/>
              <a:gd name="connsiteX2" fmla="*/ 294211 w 1916433"/>
              <a:gd name="connsiteY2" fmla="*/ 1543498 h 1549763"/>
              <a:gd name="connsiteX3" fmla="*/ 0 w 1916433"/>
              <a:gd name="connsiteY3" fmla="*/ 571567 h 1549763"/>
              <a:gd name="connsiteX4" fmla="*/ 1888179 w 1916433"/>
              <a:gd name="connsiteY4" fmla="*/ 0 h 1549763"/>
              <a:gd name="connsiteX5" fmla="*/ 1916433 w 1916433"/>
              <a:gd name="connsiteY5" fmla="*/ 12427 h 1549763"/>
              <a:gd name="connsiteX6" fmla="*/ 1725072 w 1916433"/>
              <a:gd name="connsiteY6" fmla="*/ 374771 h 1549763"/>
              <a:gd name="connsiteX7" fmla="*/ 598390 w 1916433"/>
              <a:gd name="connsiteY7" fmla="*/ 1514523 h 1549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6433" h="1549763">
                <a:moveTo>
                  <a:pt x="598390" y="1514523"/>
                </a:moveTo>
                <a:cubicBezTo>
                  <a:pt x="525023" y="1537213"/>
                  <a:pt x="451320" y="1549345"/>
                  <a:pt x="377600" y="1549763"/>
                </a:cubicBezTo>
                <a:lnTo>
                  <a:pt x="294211" y="1543498"/>
                </a:lnTo>
                <a:lnTo>
                  <a:pt x="0" y="571567"/>
                </a:lnTo>
                <a:lnTo>
                  <a:pt x="1888179" y="0"/>
                </a:lnTo>
                <a:lnTo>
                  <a:pt x="1916433" y="12427"/>
                </a:lnTo>
                <a:lnTo>
                  <a:pt x="1725072" y="374771"/>
                </a:lnTo>
                <a:cubicBezTo>
                  <a:pt x="1395245" y="945576"/>
                  <a:pt x="1001909" y="1389727"/>
                  <a:pt x="598390" y="151452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 rot="1302780">
            <a:off x="7241044" y="-554871"/>
            <a:ext cx="6124076" cy="5167428"/>
          </a:xfrm>
          <a:custGeom>
            <a:avLst/>
            <a:gdLst>
              <a:gd name="connsiteX0" fmla="*/ 0 w 6124076"/>
              <a:gd name="connsiteY0" fmla="*/ 1619266 h 5167428"/>
              <a:gd name="connsiteX1" fmla="*/ 4066349 w 6124076"/>
              <a:gd name="connsiteY1" fmla="*/ 0 h 5167428"/>
              <a:gd name="connsiteX2" fmla="*/ 6124076 w 6124076"/>
              <a:gd name="connsiteY2" fmla="*/ 5167428 h 5167428"/>
              <a:gd name="connsiteX3" fmla="*/ 1251725 w 6124076"/>
              <a:gd name="connsiteY3" fmla="*/ 5167428 h 5167428"/>
              <a:gd name="connsiteX4" fmla="*/ 0 w 6124076"/>
              <a:gd name="connsiteY4" fmla="*/ 3915703 h 51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4076" h="5167428">
                <a:moveTo>
                  <a:pt x="0" y="1619266"/>
                </a:moveTo>
                <a:lnTo>
                  <a:pt x="4066349" y="0"/>
                </a:lnTo>
                <a:lnTo>
                  <a:pt x="6124076" y="5167428"/>
                </a:lnTo>
                <a:lnTo>
                  <a:pt x="1251725" y="5167428"/>
                </a:lnTo>
                <a:cubicBezTo>
                  <a:pt x="560417" y="5167428"/>
                  <a:pt x="0" y="4607012"/>
                  <a:pt x="0" y="3915703"/>
                </a:cubicBezTo>
                <a:close/>
              </a:path>
            </a:pathLst>
          </a:custGeom>
          <a:solidFill>
            <a:srgbClr val="EBE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5179695" y="4503420"/>
            <a:ext cx="4648200" cy="2353945"/>
            <a:chOff x="4729" y="5867"/>
            <a:chExt cx="9740" cy="4932"/>
          </a:xfrm>
        </p:grpSpPr>
        <p:sp>
          <p:nvSpPr>
            <p:cNvPr id="27" name="任意多边形: 形状 26"/>
            <p:cNvSpPr/>
            <p:nvPr/>
          </p:nvSpPr>
          <p:spPr>
            <a:xfrm>
              <a:off x="4729" y="5867"/>
              <a:ext cx="9741" cy="4933"/>
            </a:xfrm>
            <a:custGeom>
              <a:avLst/>
              <a:gdLst>
                <a:gd name="connsiteX0" fmla="*/ 3092804 w 6185602"/>
                <a:gd name="connsiteY0" fmla="*/ 0 h 3132644"/>
                <a:gd name="connsiteX1" fmla="*/ 6185602 w 6185602"/>
                <a:gd name="connsiteY1" fmla="*/ 3092804 h 3132644"/>
                <a:gd name="connsiteX2" fmla="*/ 6183586 w 6185602"/>
                <a:gd name="connsiteY2" fmla="*/ 3132644 h 3132644"/>
                <a:gd name="connsiteX3" fmla="*/ 5908913 w 6185602"/>
                <a:gd name="connsiteY3" fmla="*/ 3132644 h 3132644"/>
                <a:gd name="connsiteX4" fmla="*/ 5910930 w 6185602"/>
                <a:gd name="connsiteY4" fmla="*/ 3092804 h 3132644"/>
                <a:gd name="connsiteX5" fmla="*/ 3092804 w 6185602"/>
                <a:gd name="connsiteY5" fmla="*/ 274672 h 3132644"/>
                <a:gd name="connsiteX6" fmla="*/ 274672 w 6185602"/>
                <a:gd name="connsiteY6" fmla="*/ 3092804 h 3132644"/>
                <a:gd name="connsiteX7" fmla="*/ 276688 w 6185602"/>
                <a:gd name="connsiteY7" fmla="*/ 3132644 h 3132644"/>
                <a:gd name="connsiteX8" fmla="*/ 2018 w 6185602"/>
                <a:gd name="connsiteY8" fmla="*/ 3132644 h 3132644"/>
                <a:gd name="connsiteX9" fmla="*/ 0 w 6185602"/>
                <a:gd name="connsiteY9" fmla="*/ 3092804 h 3132644"/>
                <a:gd name="connsiteX10" fmla="*/ 3092804 w 6185602"/>
                <a:gd name="connsiteY10" fmla="*/ 0 h 3132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85602" h="3132644">
                  <a:moveTo>
                    <a:pt x="3092804" y="0"/>
                  </a:moveTo>
                  <a:cubicBezTo>
                    <a:pt x="4795767" y="0"/>
                    <a:pt x="6185602" y="1389841"/>
                    <a:pt x="6185602" y="3092804"/>
                  </a:cubicBezTo>
                  <a:lnTo>
                    <a:pt x="6183586" y="3132644"/>
                  </a:lnTo>
                  <a:lnTo>
                    <a:pt x="5908913" y="3132644"/>
                  </a:lnTo>
                  <a:lnTo>
                    <a:pt x="5910930" y="3092804"/>
                  </a:lnTo>
                  <a:cubicBezTo>
                    <a:pt x="5910930" y="1538160"/>
                    <a:pt x="4652938" y="274672"/>
                    <a:pt x="3092804" y="274672"/>
                  </a:cubicBezTo>
                  <a:cubicBezTo>
                    <a:pt x="1538160" y="274672"/>
                    <a:pt x="274672" y="1538160"/>
                    <a:pt x="274672" y="3092804"/>
                  </a:cubicBezTo>
                  <a:lnTo>
                    <a:pt x="276688" y="3132644"/>
                  </a:lnTo>
                  <a:lnTo>
                    <a:pt x="2018" y="3132644"/>
                  </a:lnTo>
                  <a:lnTo>
                    <a:pt x="0" y="3092804"/>
                  </a:lnTo>
                  <a:cubicBezTo>
                    <a:pt x="0" y="1384344"/>
                    <a:pt x="1389841" y="0"/>
                    <a:pt x="309280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6114" y="7251"/>
              <a:ext cx="6971" cy="3549"/>
            </a:xfrm>
            <a:custGeom>
              <a:avLst/>
              <a:gdLst>
                <a:gd name="connsiteX0" fmla="*/ 2213401 w 4426801"/>
                <a:gd name="connsiteY0" fmla="*/ 0 h 2253337"/>
                <a:gd name="connsiteX1" fmla="*/ 4426801 w 4426801"/>
                <a:gd name="connsiteY1" fmla="*/ 2213400 h 2253337"/>
                <a:gd name="connsiteX2" fmla="*/ 4424785 w 4426801"/>
                <a:gd name="connsiteY2" fmla="*/ 2253337 h 2253337"/>
                <a:gd name="connsiteX3" fmla="*/ 2017 w 4426801"/>
                <a:gd name="connsiteY3" fmla="*/ 2253337 h 2253337"/>
                <a:gd name="connsiteX4" fmla="*/ 0 w 4426801"/>
                <a:gd name="connsiteY4" fmla="*/ 2213400 h 2253337"/>
                <a:gd name="connsiteX5" fmla="*/ 2213401 w 4426801"/>
                <a:gd name="connsiteY5" fmla="*/ 0 h 225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26801" h="2253337">
                  <a:moveTo>
                    <a:pt x="2213401" y="0"/>
                  </a:moveTo>
                  <a:cubicBezTo>
                    <a:pt x="3435828" y="0"/>
                    <a:pt x="4426801" y="990973"/>
                    <a:pt x="4426801" y="2213400"/>
                  </a:cubicBezTo>
                  <a:lnTo>
                    <a:pt x="4424785" y="2253337"/>
                  </a:lnTo>
                  <a:lnTo>
                    <a:pt x="2017" y="2253337"/>
                  </a:lnTo>
                  <a:lnTo>
                    <a:pt x="0" y="2213400"/>
                  </a:lnTo>
                  <a:cubicBezTo>
                    <a:pt x="0" y="990973"/>
                    <a:pt x="990973" y="0"/>
                    <a:pt x="2213401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369119" y="619686"/>
            <a:ext cx="82042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课程</a:t>
            </a:r>
            <a:r>
              <a:rPr kumimoji="0" lang="zh-CN" altLang="en-US" sz="4000" b="0" i="0" u="none" strike="noStrike" kern="1200" cap="none" spc="0" normalizeH="0" baseline="0" noProof="0" dirty="0">
                <a:solidFill>
                  <a:srgbClr val="6360E3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总结</a:t>
            </a:r>
            <a:endParaRPr kumimoji="0" lang="zh-CN" altLang="en-US" sz="4000" b="0" i="0" u="none" strike="noStrike" kern="1200" cap="none" spc="0" normalizeH="0" baseline="0" noProof="0" dirty="0">
              <a:solidFill>
                <a:srgbClr val="6360E3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pic>
        <p:nvPicPr>
          <p:cNvPr id="2" name="图片 1" descr="govee_bl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015" y="186055"/>
            <a:ext cx="1106805" cy="7378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6430" y="1610995"/>
            <a:ext cx="1113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charset="0"/>
                <a:ea typeface="微软雅黑" charset="0"/>
              </a:rPr>
              <a:t>1、GTM</a:t>
            </a:r>
            <a:r>
              <a:rPr lang="zh-CN" altLang="en-US">
                <a:latin typeface="微软雅黑" charset="0"/>
                <a:ea typeface="微软雅黑" charset="0"/>
              </a:rPr>
              <a:t>视角下的全生命周期从时间维度上有多长</a:t>
            </a:r>
            <a:r>
              <a:rPr lang="en-US" altLang="zh-CN">
                <a:latin typeface="微软雅黑" charset="0"/>
                <a:ea typeface="微软雅黑" charset="0"/>
              </a:rPr>
              <a:t>？</a:t>
            </a:r>
            <a:endParaRPr lang="en-US" altLang="zh-CN">
              <a:latin typeface="微软雅黑" charset="0"/>
              <a:ea typeface="微软雅黑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6430" y="2326640"/>
            <a:ext cx="1113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charset="0"/>
                <a:ea typeface="微软雅黑" charset="0"/>
              </a:rPr>
              <a:t>2、</a:t>
            </a:r>
            <a:r>
              <a:rPr lang="zh-CN" altLang="en-US">
                <a:latin typeface="微软雅黑" charset="0"/>
                <a:ea typeface="微软雅黑" charset="0"/>
              </a:rPr>
              <a:t>公司现有组织架构下</a:t>
            </a:r>
            <a:r>
              <a:rPr lang="en-US" altLang="zh-CN">
                <a:latin typeface="微软雅黑" charset="0"/>
                <a:ea typeface="微软雅黑" charset="0"/>
              </a:rPr>
              <a:t>，GTM</a:t>
            </a:r>
            <a:r>
              <a:rPr lang="zh-CN" altLang="en-US">
                <a:latin typeface="微软雅黑" charset="0"/>
                <a:ea typeface="微软雅黑" charset="0"/>
              </a:rPr>
              <a:t>负责的全渠道涵盖哪些渠道</a:t>
            </a:r>
            <a:r>
              <a:rPr lang="en-US" altLang="zh-CN">
                <a:latin typeface="微软雅黑" charset="0"/>
                <a:ea typeface="微软雅黑" charset="0"/>
              </a:rPr>
              <a:t>？</a:t>
            </a:r>
            <a:endParaRPr lang="en-US" altLang="zh-CN">
              <a:latin typeface="微软雅黑" charset="0"/>
              <a:ea typeface="微软雅黑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6430" y="3042285"/>
            <a:ext cx="1113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charset="0"/>
                <a:ea typeface="微软雅黑" charset="0"/>
              </a:rPr>
              <a:t>3、Govee</a:t>
            </a:r>
            <a:r>
              <a:rPr lang="zh-CN" altLang="en-US">
                <a:latin typeface="微软雅黑" charset="0"/>
                <a:ea typeface="微软雅黑" charset="0"/>
              </a:rPr>
              <a:t>体系下</a:t>
            </a:r>
            <a:r>
              <a:rPr lang="zh-CN" altLang="en-US">
                <a:latin typeface="微软雅黑" charset="0"/>
                <a:ea typeface="微软雅黑" charset="0"/>
              </a:rPr>
              <a:t>的产品</a:t>
            </a:r>
            <a:r>
              <a:rPr lang="en-US" altLang="zh-CN">
                <a:latin typeface="微软雅黑" charset="0"/>
                <a:ea typeface="微软雅黑" charset="0"/>
              </a:rPr>
              <a:t>GTM</a:t>
            </a:r>
            <a:r>
              <a:rPr lang="zh-CN" altLang="en-US">
                <a:latin typeface="微软雅黑" charset="0"/>
                <a:ea typeface="微软雅黑" charset="0"/>
              </a:rPr>
              <a:t>与区域</a:t>
            </a:r>
            <a:r>
              <a:rPr lang="en-US" altLang="zh-CN">
                <a:latin typeface="微软雅黑" charset="0"/>
                <a:ea typeface="微软雅黑" charset="0"/>
              </a:rPr>
              <a:t>GTM</a:t>
            </a:r>
            <a:r>
              <a:rPr lang="zh-CN" altLang="en-US">
                <a:latin typeface="微软雅黑" charset="0"/>
                <a:ea typeface="微软雅黑" charset="0"/>
              </a:rPr>
              <a:t>的区别是什么</a:t>
            </a:r>
            <a:r>
              <a:rPr lang="en-US" altLang="zh-CN">
                <a:latin typeface="微软雅黑" charset="0"/>
                <a:ea typeface="微软雅黑" charset="0"/>
              </a:rPr>
              <a:t>？</a:t>
            </a:r>
            <a:endParaRPr lang="en-US" altLang="zh-CN">
              <a:latin typeface="微软雅黑" charset="0"/>
              <a:ea typeface="微软雅黑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46430" y="4502785"/>
            <a:ext cx="1113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charset="0"/>
                <a:ea typeface="微软雅黑" charset="0"/>
              </a:rPr>
              <a:t>5、</a:t>
            </a:r>
            <a:r>
              <a:rPr lang="en-US">
                <a:latin typeface="微软雅黑" charset="0"/>
                <a:ea typeface="微软雅黑" charset="0"/>
              </a:rPr>
              <a:t>PCT</a:t>
            </a:r>
            <a:r>
              <a:rPr lang="zh-CN" altLang="en-US">
                <a:latin typeface="微软雅黑" charset="0"/>
                <a:ea typeface="微软雅黑" charset="0"/>
              </a:rPr>
              <a:t>团队指什么</a:t>
            </a:r>
            <a:r>
              <a:rPr lang="en-US" altLang="zh-CN">
                <a:latin typeface="微软雅黑" charset="0"/>
                <a:ea typeface="微软雅黑" charset="0"/>
              </a:rPr>
              <a:t>？PCT</a:t>
            </a:r>
            <a:r>
              <a:rPr lang="zh-CN" altLang="en-US">
                <a:latin typeface="微软雅黑" charset="0"/>
                <a:ea typeface="微软雅黑" charset="0"/>
              </a:rPr>
              <a:t>例会主要作用是什么</a:t>
            </a:r>
            <a:r>
              <a:rPr lang="en-US" altLang="zh-CN">
                <a:latin typeface="微软雅黑" charset="0"/>
                <a:ea typeface="微软雅黑" charset="0"/>
              </a:rPr>
              <a:t>？</a:t>
            </a:r>
            <a:endParaRPr lang="en-US" altLang="zh-CN">
              <a:latin typeface="微软雅黑" charset="0"/>
              <a:ea typeface="微软雅黑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46430" y="3772535"/>
            <a:ext cx="1113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charset="0"/>
                <a:ea typeface="微软雅黑" charset="0"/>
              </a:rPr>
              <a:t>4、</a:t>
            </a:r>
            <a:r>
              <a:rPr lang="en-US">
                <a:latin typeface="微软雅黑" charset="0"/>
                <a:ea typeface="微软雅黑" charset="0"/>
              </a:rPr>
              <a:t>GTM</a:t>
            </a:r>
            <a:r>
              <a:rPr lang="zh-CN" altLang="en-US">
                <a:latin typeface="微软雅黑" charset="0"/>
                <a:ea typeface="微软雅黑" charset="0"/>
              </a:rPr>
              <a:t>流程需要与什么流程互锁</a:t>
            </a:r>
            <a:r>
              <a:rPr lang="en-US" altLang="zh-CN">
                <a:latin typeface="微软雅黑" charset="0"/>
                <a:ea typeface="微软雅黑" charset="0"/>
              </a:rPr>
              <a:t>？</a:t>
            </a:r>
            <a:r>
              <a:rPr lang="zh-CN" altLang="en-US">
                <a:latin typeface="微软雅黑" charset="0"/>
                <a:ea typeface="微软雅黑" charset="0"/>
              </a:rPr>
              <a:t>是以什么视角出发对</a:t>
            </a:r>
            <a:r>
              <a:rPr lang="zh-CN" altLang="en-US">
                <a:latin typeface="微软雅黑" charset="0"/>
                <a:ea typeface="微软雅黑" charset="0"/>
              </a:rPr>
              <a:t>新品上市产品准备</a:t>
            </a:r>
            <a:r>
              <a:rPr lang="zh-CN" altLang="en-US">
                <a:latin typeface="微软雅黑" charset="0"/>
                <a:ea typeface="微软雅黑" charset="0"/>
              </a:rPr>
              <a:t>度进行审视</a:t>
            </a:r>
            <a:r>
              <a:rPr lang="en-US" altLang="zh-CN">
                <a:latin typeface="微软雅黑" charset="0"/>
                <a:ea typeface="微软雅黑" charset="0"/>
              </a:rPr>
              <a:t>？</a:t>
            </a:r>
            <a:endParaRPr lang="en-US" altLang="zh-CN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>
          <a:xfrm rot="7342752">
            <a:off x="6574991" y="-318982"/>
            <a:ext cx="6393983" cy="6361846"/>
          </a:xfrm>
          <a:custGeom>
            <a:avLst/>
            <a:gdLst>
              <a:gd name="connsiteX0" fmla="*/ 0 w 6393983"/>
              <a:gd name="connsiteY0" fmla="*/ 2342623 h 6361846"/>
              <a:gd name="connsiteX1" fmla="*/ 3694347 w 6393983"/>
              <a:gd name="connsiteY1" fmla="*/ 0 h 6361846"/>
              <a:gd name="connsiteX2" fmla="*/ 4168430 w 6393983"/>
              <a:gd name="connsiteY2" fmla="*/ 114134 h 6361846"/>
              <a:gd name="connsiteX3" fmla="*/ 6393983 w 6393983"/>
              <a:gd name="connsiteY3" fmla="*/ 2312824 h 6361846"/>
              <a:gd name="connsiteX4" fmla="*/ 3186549 w 6393983"/>
              <a:gd name="connsiteY4" fmla="*/ 5520258 h 6361846"/>
              <a:gd name="connsiteX5" fmla="*/ 16784 w 6393983"/>
              <a:gd name="connsiteY5" fmla="*/ 2356470 h 6361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3983" h="6361846">
                <a:moveTo>
                  <a:pt x="0" y="2342623"/>
                </a:moveTo>
                <a:lnTo>
                  <a:pt x="3694347" y="0"/>
                </a:lnTo>
                <a:lnTo>
                  <a:pt x="4168430" y="114134"/>
                </a:lnTo>
                <a:cubicBezTo>
                  <a:pt x="5246587" y="410146"/>
                  <a:pt x="6393983" y="984261"/>
                  <a:pt x="6393983" y="2312824"/>
                </a:cubicBezTo>
                <a:cubicBezTo>
                  <a:pt x="6393983" y="4084241"/>
                  <a:pt x="4508912" y="8101679"/>
                  <a:pt x="3186549" y="5520258"/>
                </a:cubicBezTo>
                <a:cubicBezTo>
                  <a:pt x="2360072" y="3906870"/>
                  <a:pt x="919965" y="3082957"/>
                  <a:pt x="16784" y="2356470"/>
                </a:cubicBezTo>
                <a:close/>
              </a:path>
            </a:pathLst>
          </a:custGeom>
          <a:solidFill>
            <a:srgbClr val="6360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66249" y="1661290"/>
            <a:ext cx="4685055" cy="2122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zh-CN" sz="6600" b="0" i="0" u="none" strike="noStrike" dirty="0">
                <a:solidFill>
                  <a:srgbClr val="000000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Thanks</a:t>
            </a:r>
            <a:endParaRPr lang="en-US" altLang="zh-CN" sz="6600" b="0" i="0" u="none" strike="noStrike" dirty="0">
              <a:solidFill>
                <a:srgbClr val="000000"/>
              </a:solidFill>
              <a:effectLst/>
              <a:latin typeface="微软雅黑" charset="0"/>
              <a:ea typeface="微软雅黑" charset="0"/>
              <a:cs typeface="微软雅黑" charset="0"/>
            </a:endParaRPr>
          </a:p>
          <a:p>
            <a:pPr fontAlgn="ctr"/>
            <a:r>
              <a:rPr lang="zh-CN" altLang="en-US" sz="6600" b="0" i="0" u="none" strike="noStrike" dirty="0">
                <a:solidFill>
                  <a:srgbClr val="6360E3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感谢大家</a:t>
            </a:r>
            <a:endParaRPr lang="zh-CN" altLang="en-US" sz="6600" b="0" i="0" u="none" strike="noStrike" dirty="0">
              <a:solidFill>
                <a:srgbClr val="6360E3"/>
              </a:solidFill>
              <a:effectLst/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0" name="VCG2112729369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6547" y="1701493"/>
            <a:ext cx="6394101" cy="3731649"/>
          </a:xfrm>
          <a:prstGeom prst="rect">
            <a:avLst/>
          </a:prstGeom>
          <a:effectLst/>
        </p:spPr>
      </p:pic>
      <p:sp>
        <p:nvSpPr>
          <p:cNvPr id="28" name="任意多边形: 形状 27"/>
          <p:cNvSpPr/>
          <p:nvPr/>
        </p:nvSpPr>
        <p:spPr>
          <a:xfrm rot="762190">
            <a:off x="-223677" y="5278894"/>
            <a:ext cx="2356470" cy="1772048"/>
          </a:xfrm>
          <a:custGeom>
            <a:avLst/>
            <a:gdLst>
              <a:gd name="connsiteX0" fmla="*/ 0 w 2356470"/>
              <a:gd name="connsiteY0" fmla="*/ 0 h 1772048"/>
              <a:gd name="connsiteX1" fmla="*/ 121145 w 2356470"/>
              <a:gd name="connsiteY1" fmla="*/ 27252 h 1772048"/>
              <a:gd name="connsiteX2" fmla="*/ 2276686 w 2356470"/>
              <a:gd name="connsiteY2" fmla="*/ 1199704 h 1772048"/>
              <a:gd name="connsiteX3" fmla="*/ 2356470 w 2356470"/>
              <a:gd name="connsiteY3" fmla="*/ 1330901 h 1772048"/>
              <a:gd name="connsiteX4" fmla="*/ 399451 w 2356470"/>
              <a:gd name="connsiteY4" fmla="*/ 1772048 h 177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6470" h="1772048">
                <a:moveTo>
                  <a:pt x="0" y="0"/>
                </a:moveTo>
                <a:lnTo>
                  <a:pt x="121145" y="27252"/>
                </a:lnTo>
                <a:cubicBezTo>
                  <a:pt x="914771" y="216979"/>
                  <a:pt x="1804374" y="540811"/>
                  <a:pt x="2276686" y="1199704"/>
                </a:cubicBezTo>
                <a:lnTo>
                  <a:pt x="2356470" y="1330901"/>
                </a:lnTo>
                <a:lnTo>
                  <a:pt x="399451" y="1772048"/>
                </a:lnTo>
                <a:close/>
              </a:path>
            </a:pathLst>
          </a:custGeom>
          <a:solidFill>
            <a:srgbClr val="FDD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/>
        </p:nvSpPr>
        <p:spPr>
          <a:xfrm>
            <a:off x="867910" y="4850309"/>
            <a:ext cx="1945523" cy="466926"/>
          </a:xfrm>
          <a:custGeom>
            <a:avLst/>
            <a:gdLst>
              <a:gd name="connsiteX0" fmla="*/ 0 w 1945531"/>
              <a:gd name="connsiteY0" fmla="*/ 233463 h 466928"/>
              <a:gd name="connsiteX1" fmla="*/ 0 w 1945531"/>
              <a:gd name="connsiteY1" fmla="*/ 233464 h 466928"/>
              <a:gd name="connsiteX2" fmla="*/ 0 w 1945531"/>
              <a:gd name="connsiteY2" fmla="*/ 233464 h 466928"/>
              <a:gd name="connsiteX3" fmla="*/ 233464 w 1945531"/>
              <a:gd name="connsiteY3" fmla="*/ 0 h 466928"/>
              <a:gd name="connsiteX4" fmla="*/ 1044791 w 1945531"/>
              <a:gd name="connsiteY4" fmla="*/ 0 h 466928"/>
              <a:gd name="connsiteX5" fmla="*/ 1124269 w 1945531"/>
              <a:gd name="connsiteY5" fmla="*/ 0 h 466928"/>
              <a:gd name="connsiteX6" fmla="*/ 1945531 w 1945531"/>
              <a:gd name="connsiteY6" fmla="*/ 0 h 466928"/>
              <a:gd name="connsiteX7" fmla="*/ 1945531 w 1945531"/>
              <a:gd name="connsiteY7" fmla="*/ 233464 h 466928"/>
              <a:gd name="connsiteX8" fmla="*/ 1712067 w 1945531"/>
              <a:gd name="connsiteY8" fmla="*/ 466928 h 466928"/>
              <a:gd name="connsiteX9" fmla="*/ 1124275 w 1945531"/>
              <a:gd name="connsiteY9" fmla="*/ 466928 h 466928"/>
              <a:gd name="connsiteX10" fmla="*/ 1124268 w 1945531"/>
              <a:gd name="connsiteY10" fmla="*/ 466928 h 466928"/>
              <a:gd name="connsiteX11" fmla="*/ 233464 w 1945531"/>
              <a:gd name="connsiteY11" fmla="*/ 466927 h 466928"/>
              <a:gd name="connsiteX12" fmla="*/ 18347 w 1945531"/>
              <a:gd name="connsiteY12" fmla="*/ 324338 h 466928"/>
              <a:gd name="connsiteX13" fmla="*/ 0 w 1945531"/>
              <a:gd name="connsiteY13" fmla="*/ 233464 h 466928"/>
              <a:gd name="connsiteX14" fmla="*/ 18347 w 1945531"/>
              <a:gd name="connsiteY14" fmla="*/ 142589 h 466928"/>
              <a:gd name="connsiteX15" fmla="*/ 233464 w 1945531"/>
              <a:gd name="connsiteY15" fmla="*/ 0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45531" h="466928">
                <a:moveTo>
                  <a:pt x="0" y="233463"/>
                </a:moveTo>
                <a:lnTo>
                  <a:pt x="0" y="233464"/>
                </a:lnTo>
                <a:lnTo>
                  <a:pt x="0" y="233464"/>
                </a:lnTo>
                <a:close/>
                <a:moveTo>
                  <a:pt x="233464" y="0"/>
                </a:moveTo>
                <a:lnTo>
                  <a:pt x="1044791" y="0"/>
                </a:lnTo>
                <a:lnTo>
                  <a:pt x="1124269" y="0"/>
                </a:lnTo>
                <a:lnTo>
                  <a:pt x="1945531" y="0"/>
                </a:lnTo>
                <a:lnTo>
                  <a:pt x="1945531" y="233464"/>
                </a:lnTo>
                <a:cubicBezTo>
                  <a:pt x="1945531" y="362403"/>
                  <a:pt x="1841006" y="466928"/>
                  <a:pt x="1712067" y="466928"/>
                </a:cubicBezTo>
                <a:lnTo>
                  <a:pt x="1124275" y="466928"/>
                </a:lnTo>
                <a:lnTo>
                  <a:pt x="1124268" y="466928"/>
                </a:lnTo>
                <a:lnTo>
                  <a:pt x="233464" y="466927"/>
                </a:lnTo>
                <a:cubicBezTo>
                  <a:pt x="136760" y="466927"/>
                  <a:pt x="53788" y="408132"/>
                  <a:pt x="18347" y="324338"/>
                </a:cubicBezTo>
                <a:lnTo>
                  <a:pt x="0" y="233464"/>
                </a:lnTo>
                <a:lnTo>
                  <a:pt x="18347" y="142589"/>
                </a:lnTo>
                <a:cubicBezTo>
                  <a:pt x="53788" y="58796"/>
                  <a:pt x="136760" y="0"/>
                  <a:pt x="233464" y="0"/>
                </a:cubicBezTo>
                <a:close/>
              </a:path>
            </a:pathLst>
          </a:custGeom>
          <a:solidFill>
            <a:srgbClr val="6360E3"/>
          </a:solidFill>
          <a:ln>
            <a:noFill/>
            <a:prstDash val="solid"/>
          </a:ln>
          <a:effectLst>
            <a:outerShdw blurRad="330200" dist="50800" dir="5400000" algn="t" rotWithShape="0">
              <a:srgbClr val="6360E3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132839" y="4912315"/>
            <a:ext cx="1505577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2000" b="0" i="0" u="none" strike="noStrike">
                <a:solidFill>
                  <a:srgbClr val="000000"/>
                </a:solidFill>
                <a:effectLst/>
                <a:latin typeface="+mj-lt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讲师：陈</a:t>
            </a:r>
            <a:r>
              <a:rPr lang="zh-CN" altLang="en-US" sz="16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智渊</a:t>
            </a:r>
            <a:endParaRPr lang="zh-CN" altLang="en-US" sz="160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6" name="任意多边形: 形状 35"/>
          <p:cNvSpPr/>
          <p:nvPr/>
        </p:nvSpPr>
        <p:spPr>
          <a:xfrm rot="7762083">
            <a:off x="3134989" y="-1472905"/>
            <a:ext cx="2546473" cy="3007072"/>
          </a:xfrm>
          <a:custGeom>
            <a:avLst/>
            <a:gdLst>
              <a:gd name="connsiteX0" fmla="*/ 2467229 w 2546473"/>
              <a:gd name="connsiteY0" fmla="*/ 3007072 h 3007072"/>
              <a:gd name="connsiteX1" fmla="*/ 0 w 2546473"/>
              <a:gd name="connsiteY1" fmla="*/ 0 h 3007072"/>
              <a:gd name="connsiteX2" fmla="*/ 53528 w 2546473"/>
              <a:gd name="connsiteY2" fmla="*/ 12041 h 3007072"/>
              <a:gd name="connsiteX3" fmla="*/ 2546473 w 2546473"/>
              <a:gd name="connsiteY3" fmla="*/ 2279216 h 3007072"/>
              <a:gd name="connsiteX4" fmla="*/ 2498786 w 2546473"/>
              <a:gd name="connsiteY4" fmla="*/ 2829360 h 300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6473" h="3007072">
                <a:moveTo>
                  <a:pt x="2467229" y="3007072"/>
                </a:moveTo>
                <a:lnTo>
                  <a:pt x="0" y="0"/>
                </a:lnTo>
                <a:lnTo>
                  <a:pt x="53528" y="12041"/>
                </a:lnTo>
                <a:cubicBezTo>
                  <a:pt x="1199877" y="286091"/>
                  <a:pt x="2546473" y="839939"/>
                  <a:pt x="2546473" y="2279216"/>
                </a:cubicBezTo>
                <a:cubicBezTo>
                  <a:pt x="2546473" y="2445286"/>
                  <a:pt x="2529905" y="2631097"/>
                  <a:pt x="2498786" y="2829360"/>
                </a:cubicBezTo>
                <a:close/>
              </a:path>
            </a:pathLst>
          </a:custGeom>
          <a:solidFill>
            <a:srgbClr val="FDA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任意多边形: 形状 45"/>
          <p:cNvSpPr/>
          <p:nvPr/>
        </p:nvSpPr>
        <p:spPr>
          <a:xfrm>
            <a:off x="10138839" y="5609017"/>
            <a:ext cx="119674" cy="114397"/>
          </a:xfrm>
          <a:custGeom>
            <a:avLst/>
            <a:gdLst>
              <a:gd name="connsiteX0" fmla="*/ 59837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7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7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7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7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7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48" name="任意多边形: 形状 47"/>
          <p:cNvSpPr/>
          <p:nvPr/>
        </p:nvSpPr>
        <p:spPr>
          <a:xfrm>
            <a:off x="9976886" y="5609017"/>
            <a:ext cx="119674" cy="114397"/>
          </a:xfrm>
          <a:custGeom>
            <a:avLst/>
            <a:gdLst>
              <a:gd name="connsiteX0" fmla="*/ 59838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8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8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8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8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8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50" name="任意多边形: 形状 49"/>
          <p:cNvSpPr/>
          <p:nvPr/>
        </p:nvSpPr>
        <p:spPr>
          <a:xfrm>
            <a:off x="10300791" y="5609017"/>
            <a:ext cx="119674" cy="114397"/>
          </a:xfrm>
          <a:custGeom>
            <a:avLst/>
            <a:gdLst>
              <a:gd name="connsiteX0" fmla="*/ 59837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7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7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7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7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7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52" name="任意多边形: 形状 51"/>
          <p:cNvSpPr/>
          <p:nvPr/>
        </p:nvSpPr>
        <p:spPr>
          <a:xfrm>
            <a:off x="10462744" y="5609017"/>
            <a:ext cx="119674" cy="114397"/>
          </a:xfrm>
          <a:custGeom>
            <a:avLst/>
            <a:gdLst>
              <a:gd name="connsiteX0" fmla="*/ 59838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8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8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8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8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8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sp>
        <p:nvSpPr>
          <p:cNvPr id="54" name="任意多边形: 形状 53"/>
          <p:cNvSpPr/>
          <p:nvPr/>
        </p:nvSpPr>
        <p:spPr>
          <a:xfrm>
            <a:off x="10624696" y="5609017"/>
            <a:ext cx="119674" cy="114397"/>
          </a:xfrm>
          <a:custGeom>
            <a:avLst/>
            <a:gdLst>
              <a:gd name="connsiteX0" fmla="*/ 59838 w 119674"/>
              <a:gd name="connsiteY0" fmla="*/ 0 h 114397"/>
              <a:gd name="connsiteX1" fmla="*/ 66686 w 119674"/>
              <a:gd name="connsiteY1" fmla="*/ 4247 h 114397"/>
              <a:gd name="connsiteX2" fmla="*/ 81043 w 119674"/>
              <a:gd name="connsiteY2" fmla="*/ 33300 h 114397"/>
              <a:gd name="connsiteX3" fmla="*/ 113129 w 119674"/>
              <a:gd name="connsiteY3" fmla="*/ 37957 h 114397"/>
              <a:gd name="connsiteX4" fmla="*/ 119302 w 119674"/>
              <a:gd name="connsiteY4" fmla="*/ 43141 h 114397"/>
              <a:gd name="connsiteX5" fmla="*/ 117367 w 119674"/>
              <a:gd name="connsiteY5" fmla="*/ 50960 h 114397"/>
              <a:gd name="connsiteX6" fmla="*/ 94138 w 119674"/>
              <a:gd name="connsiteY6" fmla="*/ 73555 h 114397"/>
              <a:gd name="connsiteX7" fmla="*/ 99623 w 119674"/>
              <a:gd name="connsiteY7" fmla="*/ 105479 h 114397"/>
              <a:gd name="connsiteX8" fmla="*/ 96587 w 119674"/>
              <a:gd name="connsiteY8" fmla="*/ 112932 h 114397"/>
              <a:gd name="connsiteX9" fmla="*/ 92100 w 119674"/>
              <a:gd name="connsiteY9" fmla="*/ 114397 h 114397"/>
              <a:gd name="connsiteX10" fmla="*/ 88551 w 119674"/>
              <a:gd name="connsiteY10" fmla="*/ 113518 h 114397"/>
              <a:gd name="connsiteX11" fmla="*/ 59838 w 119674"/>
              <a:gd name="connsiteY11" fmla="*/ 98450 h 114397"/>
              <a:gd name="connsiteX12" fmla="*/ 31124 w 119674"/>
              <a:gd name="connsiteY12" fmla="*/ 113518 h 114397"/>
              <a:gd name="connsiteX13" fmla="*/ 23088 w 119674"/>
              <a:gd name="connsiteY13" fmla="*/ 112932 h 114397"/>
              <a:gd name="connsiteX14" fmla="*/ 20052 w 119674"/>
              <a:gd name="connsiteY14" fmla="*/ 105479 h 114397"/>
              <a:gd name="connsiteX15" fmla="*/ 25537 w 119674"/>
              <a:gd name="connsiteY15" fmla="*/ 73555 h 114397"/>
              <a:gd name="connsiteX16" fmla="*/ 2308 w 119674"/>
              <a:gd name="connsiteY16" fmla="*/ 50960 h 114397"/>
              <a:gd name="connsiteX17" fmla="*/ 373 w 119674"/>
              <a:gd name="connsiteY17" fmla="*/ 43141 h 114397"/>
              <a:gd name="connsiteX18" fmla="*/ 6546 w 119674"/>
              <a:gd name="connsiteY18" fmla="*/ 37957 h 114397"/>
              <a:gd name="connsiteX19" fmla="*/ 38632 w 119674"/>
              <a:gd name="connsiteY19" fmla="*/ 33300 h 114397"/>
              <a:gd name="connsiteX20" fmla="*/ 52989 w 119674"/>
              <a:gd name="connsiteY20" fmla="*/ 4247 h 114397"/>
              <a:gd name="connsiteX21" fmla="*/ 59838 w 119674"/>
              <a:gd name="connsiteY21" fmla="*/ 0 h 1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9674" h="114397">
                <a:moveTo>
                  <a:pt x="59838" y="0"/>
                </a:moveTo>
                <a:cubicBezTo>
                  <a:pt x="62741" y="0"/>
                  <a:pt x="65395" y="1655"/>
                  <a:pt x="66686" y="4247"/>
                </a:cubicBezTo>
                <a:lnTo>
                  <a:pt x="81043" y="33300"/>
                </a:lnTo>
                <a:lnTo>
                  <a:pt x="113129" y="37957"/>
                </a:lnTo>
                <a:cubicBezTo>
                  <a:pt x="116003" y="38367"/>
                  <a:pt x="118393" y="40388"/>
                  <a:pt x="119302" y="43141"/>
                </a:cubicBezTo>
                <a:cubicBezTo>
                  <a:pt x="120197" y="45894"/>
                  <a:pt x="119449" y="48925"/>
                  <a:pt x="117367" y="50960"/>
                </a:cubicBezTo>
                <a:lnTo>
                  <a:pt x="94138" y="73555"/>
                </a:lnTo>
                <a:lnTo>
                  <a:pt x="99623" y="105479"/>
                </a:lnTo>
                <a:cubicBezTo>
                  <a:pt x="100106" y="108349"/>
                  <a:pt x="98933" y="111234"/>
                  <a:pt x="96587" y="112932"/>
                </a:cubicBezTo>
                <a:cubicBezTo>
                  <a:pt x="95253" y="113899"/>
                  <a:pt x="93683" y="114397"/>
                  <a:pt x="92100" y="114397"/>
                </a:cubicBezTo>
                <a:cubicBezTo>
                  <a:pt x="90882" y="114397"/>
                  <a:pt x="89665" y="114104"/>
                  <a:pt x="88551" y="113518"/>
                </a:cubicBezTo>
                <a:lnTo>
                  <a:pt x="59838" y="98450"/>
                </a:lnTo>
                <a:lnTo>
                  <a:pt x="31124" y="113518"/>
                </a:lnTo>
                <a:cubicBezTo>
                  <a:pt x="28558" y="114865"/>
                  <a:pt x="25434" y="114646"/>
                  <a:pt x="23088" y="112932"/>
                </a:cubicBezTo>
                <a:cubicBezTo>
                  <a:pt x="20742" y="111234"/>
                  <a:pt x="19569" y="108349"/>
                  <a:pt x="20052" y="105479"/>
                </a:cubicBezTo>
                <a:lnTo>
                  <a:pt x="25537" y="73555"/>
                </a:lnTo>
                <a:lnTo>
                  <a:pt x="2308" y="50960"/>
                </a:lnTo>
                <a:cubicBezTo>
                  <a:pt x="226" y="48925"/>
                  <a:pt x="-522" y="45894"/>
                  <a:pt x="373" y="43141"/>
                </a:cubicBezTo>
                <a:cubicBezTo>
                  <a:pt x="1282" y="40388"/>
                  <a:pt x="3672" y="38367"/>
                  <a:pt x="6546" y="37957"/>
                </a:cubicBezTo>
                <a:lnTo>
                  <a:pt x="38632" y="33300"/>
                </a:lnTo>
                <a:lnTo>
                  <a:pt x="52989" y="4247"/>
                </a:lnTo>
                <a:cubicBezTo>
                  <a:pt x="54280" y="1655"/>
                  <a:pt x="56934" y="0"/>
                  <a:pt x="59838" y="0"/>
                </a:cubicBezTo>
                <a:close/>
              </a:path>
            </a:pathLst>
          </a:custGeom>
          <a:solidFill>
            <a:srgbClr val="FDD6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DD656"/>
              </a:solidFill>
              <a:effectLst/>
              <a:uLnTx/>
              <a:uFillTx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</p:txBody>
      </p:sp>
      <p:pic>
        <p:nvPicPr>
          <p:cNvPr id="12" name="图片 11" descr="govee_bl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57505"/>
            <a:ext cx="1800225" cy="11995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5.4685826771654,&quot;left&quot;:105.25,&quot;top&quot;:134.2814173228346,&quot;width&quot;:845.2636220472441}"/>
</p:tagLst>
</file>

<file path=ppt/tags/tag2.xml><?xml version="1.0" encoding="utf-8"?>
<p:tagLst xmlns:p="http://schemas.openxmlformats.org/presentationml/2006/main">
  <p:tag name="KSO_WM_DIAGRAM_VIRTUALLY_FRAME" val="{&quot;height&quot;:345.4685826771654,&quot;left&quot;:105.25,&quot;top&quot;:134.2814173228346,&quot;width&quot;:845.2636220472441}"/>
</p:tagLst>
</file>

<file path=ppt/tags/tag3.xml><?xml version="1.0" encoding="utf-8"?>
<p:tagLst xmlns:p="http://schemas.openxmlformats.org/presentationml/2006/main">
  <p:tag name="KSO_WM_DIAGRAM_VIRTUALLY_FRAME" val="{&quot;height&quot;:345.4685826771654,&quot;left&quot;:105.25,&quot;top&quot;:134.2814173228346,&quot;width&quot;:845.2636220472441}"/>
</p:tagLst>
</file>

<file path=ppt/tags/tag4.xml><?xml version="1.0" encoding="utf-8"?>
<p:tagLst xmlns:p="http://schemas.openxmlformats.org/presentationml/2006/main">
  <p:tag name="KSO_WM_DIAGRAM_VIRTUALLY_FRAME" val="{&quot;height&quot;:345.4685826771654,&quot;left&quot;:105.25,&quot;top&quot;:134.2814173228346,&quot;width&quot;:845.2636220472441}"/>
</p:tagLst>
</file>

<file path=ppt/tags/tag5.xml><?xml version="1.0" encoding="utf-8"?>
<p:tagLst xmlns:p="http://schemas.openxmlformats.org/presentationml/2006/main">
  <p:tag name="KSO_WM_DIAGRAM_VIRTUALLY_FRAME" val="{&quot;height&quot;:345.4685826771654,&quot;left&quot;:105.25,&quot;top&quot;:134.2814173228346,&quot;width&quot;:845.2636220472441}"/>
</p:tagLst>
</file>

<file path=ppt/tags/tag6.xml><?xml version="1.0" encoding="utf-8"?>
<p:tagLst xmlns:p="http://schemas.openxmlformats.org/presentationml/2006/main">
  <p:tag name="KSO_WM_DIAGRAM_VIRTUALLY_FRAME" val="{&quot;height&quot;:345.4685826771654,&quot;left&quot;:105.25,&quot;top&quot;:134.2814173228346,&quot;width&quot;:845.2636220472441}"/>
</p:tagLst>
</file>

<file path=ppt/tags/tag7.xml><?xml version="1.0" encoding="utf-8"?>
<p:tagLst xmlns:p="http://schemas.openxmlformats.org/presentationml/2006/main">
  <p:tag name="TABLE_ENDDRAG_ORIGIN_RECT" val="557*251"/>
  <p:tag name="TABLE_ENDDRAG_RECT" val="138*264*557*251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PP_MARK_KEY" val="13fb761e-e04a-485f-a44c-f514a12e1e45"/>
  <p:tag name="COMMONDATA" val="eyJoZGlkIjoiMjM5MTBlNmI2YTY3ZjIxYzUzNmRhMGQyM2YxMDkyYj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360E3"/>
      </a:accent1>
      <a:accent2>
        <a:srgbClr val="FDA73B"/>
      </a:accent2>
      <a:accent3>
        <a:srgbClr val="FDD656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稻壳儿-黑体常规2">
      <a:majorFont>
        <a:latin typeface="Montserrat ExtraBold"/>
        <a:ea typeface="思源黑体 CN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Light"/>
        <a:ea typeface=""/>
        <a:cs typeface=""/>
        <a:font script="Jpan" typeface="游ゴシック"/>
        <a:font script="Hang" typeface="맑은 고딕"/>
        <a:font script="Hans" typeface="MiSans Light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Light"/>
        <a:ea typeface=""/>
        <a:cs typeface=""/>
        <a:font script="Jpan" typeface="ＭＳ Ｐゴシック"/>
        <a:font script="Hang" typeface="맑은 고딕"/>
        <a:font script="Hans" typeface="MiSans Light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360E3"/>
    </a:accent1>
    <a:accent2>
      <a:srgbClr val="FDA73B"/>
    </a:accent2>
    <a:accent3>
      <a:srgbClr val="FDD656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360E3"/>
    </a:accent1>
    <a:accent2>
      <a:srgbClr val="FDA73B"/>
    </a:accent2>
    <a:accent3>
      <a:srgbClr val="FDD656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360E3"/>
    </a:accent1>
    <a:accent2>
      <a:srgbClr val="FDA73B"/>
    </a:accent2>
    <a:accent3>
      <a:srgbClr val="FDD656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360E3"/>
    </a:accent1>
    <a:accent2>
      <a:srgbClr val="FDA73B"/>
    </a:accent2>
    <a:accent3>
      <a:srgbClr val="FDD656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360E3"/>
    </a:accent1>
    <a:accent2>
      <a:srgbClr val="FDA73B"/>
    </a:accent2>
    <a:accent3>
      <a:srgbClr val="FDD656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360E3"/>
    </a:accent1>
    <a:accent2>
      <a:srgbClr val="FDA73B"/>
    </a:accent2>
    <a:accent3>
      <a:srgbClr val="FDD656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360E3"/>
    </a:accent1>
    <a:accent2>
      <a:srgbClr val="FDA73B"/>
    </a:accent2>
    <a:accent3>
      <a:srgbClr val="FDD656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360E3"/>
    </a:accent1>
    <a:accent2>
      <a:srgbClr val="FDA73B"/>
    </a:accent2>
    <a:accent3>
      <a:srgbClr val="FDD656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360E3"/>
    </a:accent1>
    <a:accent2>
      <a:srgbClr val="FDA73B"/>
    </a:accent2>
    <a:accent3>
      <a:srgbClr val="FDD656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2905</Words>
  <Application>WPS 表格</Application>
  <PresentationFormat>宽屏</PresentationFormat>
  <Paragraphs>343</Paragraphs>
  <Slides>21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宋体</vt:lpstr>
      <vt:lpstr>Wingdings</vt:lpstr>
      <vt:lpstr>MiSans Light</vt:lpstr>
      <vt:lpstr>苹方-简</vt:lpstr>
      <vt:lpstr>微软雅黑</vt:lpstr>
      <vt:lpstr>汉仪旗黑</vt:lpstr>
      <vt:lpstr>微软雅黑</vt:lpstr>
      <vt:lpstr>微软雅黑</vt:lpstr>
      <vt:lpstr>Montserrat</vt:lpstr>
      <vt:lpstr>宋体</vt:lpstr>
      <vt:lpstr>Arial Unicode MS</vt:lpstr>
      <vt:lpstr>思源黑体 CN Heavy</vt:lpstr>
      <vt:lpstr>汉仪中黑KW</vt:lpstr>
      <vt:lpstr>Montserrat ExtraBold</vt:lpstr>
      <vt:lpstr>MiSans Light</vt:lpstr>
      <vt:lpstr>汉仪书宋二KW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abbey</dc:creator>
  <cp:lastModifiedBy>陈智渊</cp:lastModifiedBy>
  <cp:revision>60</cp:revision>
  <dcterms:created xsi:type="dcterms:W3CDTF">2025-03-17T11:11:57Z</dcterms:created>
  <dcterms:modified xsi:type="dcterms:W3CDTF">2025-03-17T11:11:57Z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EAFE63431DDD4306A65E91E1D9BB9BE5_11</vt:lpwstr>
  </property>
  <property fmtid="{D5CDD505-2E9C-101B-9397-08002B2CF9AE}" pid="3" name="KSOProductBuildVer">
    <vt:lpwstr>2052-6.15.1.8935</vt:lpwstr>
  </property>
</Properties>
</file>